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ca2c7e993f4f4c" /><Relationship Type="http://schemas.openxmlformats.org/officeDocument/2006/relationships/extended-properties" Target="/docProps/app.xml" Id="Rb14f54e267604c1e" /><Relationship Type="http://schemas.openxmlformats.org/officeDocument/2006/relationships/officeDocument" Target="/ppt/presentation.xml" Id="R513c88d6f20a49df" /></Relationships>
</file>

<file path=ppt/presentation.xml><?xml version="1.0" encoding="utf-8"?>
<p:presentation xmlns:p="http://schemas.openxmlformats.org/presentationml/2006/main">
  <p:sldMasterIdLst>
    <p:sldMasterId xmlns:r="http://schemas.openxmlformats.org/officeDocument/2006/relationships" id="2147483648" r:id="R65d7fa94c0b94db9"/>
  </p:sldMasterIdLst>
  <p:notesMasterIdLst>
    <p:notesMasterId xmlns:r="http://schemas.openxmlformats.org/officeDocument/2006/relationships" r:id="Rb486b8d9a13a4fc4"/>
  </p:notesMasterIdLst>
  <p:sldIdLst>
    <p:sldId xmlns:r="http://schemas.openxmlformats.org/officeDocument/2006/relationships" id="256" r:id="R9676febe7f5c49b7"/>
    <p:sldId xmlns:r="http://schemas.openxmlformats.org/officeDocument/2006/relationships" id="257" r:id="R47ed4a93c2184b58"/>
    <p:sldId xmlns:r="http://schemas.openxmlformats.org/officeDocument/2006/relationships" id="258" r:id="Rb5a1fa2e555a46c6"/>
    <p:sldId xmlns:r="http://schemas.openxmlformats.org/officeDocument/2006/relationships" id="259" r:id="Rb951155ac7b14c36"/>
    <p:sldId xmlns:r="http://schemas.openxmlformats.org/officeDocument/2006/relationships" id="260" r:id="Rba17b73157404dfe"/>
    <p:sldId xmlns:r="http://schemas.openxmlformats.org/officeDocument/2006/relationships" id="261" r:id="R2c22f485d8ae4307"/>
    <p:sldId xmlns:r="http://schemas.openxmlformats.org/officeDocument/2006/relationships" id="262" r:id="Rb989aeb417f7425b"/>
    <p:sldId xmlns:r="http://schemas.openxmlformats.org/officeDocument/2006/relationships" id="263" r:id="R709e394094fc4845"/>
    <p:sldId xmlns:r="http://schemas.openxmlformats.org/officeDocument/2006/relationships" id="264" r:id="Rc80f3a0fcaa74cbe"/>
    <p:sldId xmlns:r="http://schemas.openxmlformats.org/officeDocument/2006/relationships" id="265" r:id="Rcf651580e83d42d0"/>
    <p:sldId xmlns:r="http://schemas.openxmlformats.org/officeDocument/2006/relationships" id="266" r:id="R460cc156f4b14090"/>
    <p:sldId xmlns:r="http://schemas.openxmlformats.org/officeDocument/2006/relationships" id="267" r:id="R1270121c02f94e29"/>
    <p:sldId xmlns:r="http://schemas.openxmlformats.org/officeDocument/2006/relationships" id="268" r:id="Ra51d4453815d47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9e1849cddd41cf" /><Relationship Type="http://schemas.openxmlformats.org/officeDocument/2006/relationships/slideMaster" Target="/ppt/slideMasters/slideMaster1.xml" Id="R65d7fa94c0b94db9" /><Relationship Type="http://schemas.openxmlformats.org/officeDocument/2006/relationships/notesMaster" Target="/ppt/notesMasters/notesMaster1.xml" Id="Rb486b8d9a13a4fc4" /><Relationship Type="http://schemas.openxmlformats.org/officeDocument/2006/relationships/presProps" Target="/ppt/presProps.xml" Id="Rb7dd11e304d9437a" /><Relationship Type="http://schemas.openxmlformats.org/officeDocument/2006/relationships/tableStyles" Target="/ppt/tableStyles.xml" Id="R52c21c357989475c" /><Relationship Type="http://schemas.openxmlformats.org/officeDocument/2006/relationships/slide" Target="/ppt/slides/slide1.xml" Id="R9676febe7f5c49b7" /><Relationship Type="http://schemas.openxmlformats.org/officeDocument/2006/relationships/slide" Target="/ppt/slides/slide2.xml" Id="R47ed4a93c2184b58" /><Relationship Type="http://schemas.openxmlformats.org/officeDocument/2006/relationships/slide" Target="/ppt/slides/slide3.xml" Id="Rb5a1fa2e555a46c6" /><Relationship Type="http://schemas.openxmlformats.org/officeDocument/2006/relationships/slide" Target="/ppt/slides/slide4.xml" Id="Rb951155ac7b14c36" /><Relationship Type="http://schemas.openxmlformats.org/officeDocument/2006/relationships/slide" Target="/ppt/slides/slide5.xml" Id="Rba17b73157404dfe" /><Relationship Type="http://schemas.openxmlformats.org/officeDocument/2006/relationships/slide" Target="/ppt/slides/slide6.xml" Id="R2c22f485d8ae4307" /><Relationship Type="http://schemas.openxmlformats.org/officeDocument/2006/relationships/slide" Target="/ppt/slides/slide7.xml" Id="Rb989aeb417f7425b" /><Relationship Type="http://schemas.openxmlformats.org/officeDocument/2006/relationships/slide" Target="/ppt/slides/slide8.xml" Id="R709e394094fc4845" /><Relationship Type="http://schemas.openxmlformats.org/officeDocument/2006/relationships/slide" Target="/ppt/slides/slide9.xml" Id="Rc80f3a0fcaa74cbe" /><Relationship Type="http://schemas.openxmlformats.org/officeDocument/2006/relationships/slide" Target="/ppt/slides/slide10.xml" Id="Rcf651580e83d42d0" /><Relationship Type="http://schemas.openxmlformats.org/officeDocument/2006/relationships/slide" Target="/ppt/slides/slide11.xml" Id="R460cc156f4b14090" /><Relationship Type="http://schemas.openxmlformats.org/officeDocument/2006/relationships/slide" Target="/ppt/slides/slide12.xml" Id="R1270121c02f94e29" /><Relationship Type="http://schemas.openxmlformats.org/officeDocument/2006/relationships/slide" Target="/ppt/slides/slide13.xml" Id="Ra51d4453815d47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96c8c7449842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b7ebdb64314d98" /><Relationship Type="http://schemas.openxmlformats.org/officeDocument/2006/relationships/notesMaster" Target="/ppt/notesMasters/notesMaster1.xml" Id="Re270fa4a2d8046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4bb42d70e9406d" /><Relationship Type="http://schemas.openxmlformats.org/officeDocument/2006/relationships/notesMaster" Target="/ppt/notesMasters/notesMaster1.xml" Id="R85c259ef0beb4b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e06b7c76ef431b" /><Relationship Type="http://schemas.openxmlformats.org/officeDocument/2006/relationships/notesMaster" Target="/ppt/notesMasters/notesMaster1.xml" Id="R28c6f84ca46246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031c7387bf42f4" /><Relationship Type="http://schemas.openxmlformats.org/officeDocument/2006/relationships/notesMaster" Target="/ppt/notesMasters/notesMaster1.xml" Id="R2ca53e29f2ce4b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e06b392034458f" /><Relationship Type="http://schemas.openxmlformats.org/officeDocument/2006/relationships/notesMaster" Target="/ppt/notesMasters/notesMaster1.xml" Id="R46dd619a5cc348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61032ba6504ac8" /><Relationship Type="http://schemas.openxmlformats.org/officeDocument/2006/relationships/notesMaster" Target="/ppt/notesMasters/notesMaster1.xml" Id="Rf642ae89497d44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752fb5e4734266" /><Relationship Type="http://schemas.openxmlformats.org/officeDocument/2006/relationships/notesMaster" Target="/ppt/notesMasters/notesMaster1.xml" Id="R8c40de8f278a43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bf07b790ad4f5e" /><Relationship Type="http://schemas.openxmlformats.org/officeDocument/2006/relationships/notesMaster" Target="/ppt/notesMasters/notesMaster1.xml" Id="R7b89d996802842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00fca6523a4156" /><Relationship Type="http://schemas.openxmlformats.org/officeDocument/2006/relationships/notesMaster" Target="/ppt/notesMasters/notesMaster1.xml" Id="Ra89e040f50364c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9a47079cf746ee" /><Relationship Type="http://schemas.openxmlformats.org/officeDocument/2006/relationships/notesMaster" Target="/ppt/notesMasters/notesMaster1.xml" Id="Rab1bfc39a5bf4f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d96b66f20d4589" /><Relationship Type="http://schemas.openxmlformats.org/officeDocument/2006/relationships/notesMaster" Target="/ppt/notesMasters/notesMaster1.xml" Id="Rd7825c4782d540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424975eb264baa" /><Relationship Type="http://schemas.openxmlformats.org/officeDocument/2006/relationships/notesMaster" Target="/ppt/notesMasters/notesMaster1.xml" Id="Rd843f33e163544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c68916c41e43d7" /><Relationship Type="http://schemas.openxmlformats.org/officeDocument/2006/relationships/notesMaster" Target="/ppt/notesMasters/notesMaster1.xml" Id="R42ea66d146bf46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want to ask a simple question: will AI eventually become free? My short answer is almost. The price of using AI may become much less visible, especially when it runs on a device we already own. But the computer, electricity, updates, and responsibility do not disappear. I will explain that idea without going too far into the technical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sure most people in this room have used ChatGPT or Claude before. We open a website or an app, type a question, and get an answer within seconds. That experience feels almost magical because we do not see what happens behind the screen. The important point for this talk is that the answer is being produced on computers somewhere, and someone has to pay for those computers.</a:t>
            </a:r>
          </a:p>
          <a:p xmlns:a="http://schemas.openxmlformats.org/drawingml/2006/main">
            <a:r>
              <a:t/>
            </a:r>
          </a:p>
          <a:p xmlns:a="http://schemas.openxmlformats.org/drawingml/2006/main">
            <a:r>
              <a:t>Sources and image credits:</a:t>
            </a:r>
          </a:p>
          <a:p xmlns:a="http://schemas.openxmlformats.org/drawingml/2006/main">
            <a:r>
              <a:t>- OpenAI design guidelines and logo — https://openai.com/brand/</a:t>
            </a:r>
          </a:p>
          <a:p xmlns:a="http://schemas.openxmlformats.org/drawingml/2006/main">
            <a:r>
              <a:t>- Claude icon — https://github.com/simple-icons/simple-icons/blob/develop/icons/claude.svg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most popular AI services, your question travels through the internet to a data center. Powerful computers there produce the answer and send it back. This is convenient because the company handles the difficult parts for us. But it also means the company pays for every request, and our information leaves our device. That is the system local AI is trying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local AI model moves the main work from a company data center onto a laptop, desktop, phone, or private computer that you control. It does not have to be permanently disconnected from the internet. The simple difference is where the answer is produced. If the model runs on your own device, it can work offline and sensitive files do not automatically need to be sent to an outside company.</a:t>
            </a:r>
          </a:p>
          <a:p xmlns:a="http://schemas.openxmlformats.org/drawingml/2006/main">
            <a:r>
              <a:t/>
            </a:r>
          </a:p>
          <a:p xmlns:a="http://schemas.openxmlformats.org/drawingml/2006/main">
            <a:r>
              <a:t>Sources and image credits:</a:t>
            </a:r>
          </a:p>
          <a:p xmlns:a="http://schemas.openxmlformats.org/drawingml/2006/main">
            <a:r>
              <a:t>- Stock photo: Rahul Mishra, Unsplash — https://unsplash.com/photos/laptop-and-keyboard-on-a-dark-desk-BA2ELfOTqJ4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is not a distant idea. Families such as Qwen and Kimi provide models that people can download. Software such as Ollama makes some of those models much easier to run. You do not need to memorize these names. They simply show that an alternative to renting every answer from a large provider already exists, although the largest models still need expensive hardware.</a:t>
            </a:r>
          </a:p>
          <a:p xmlns:a="http://schemas.openxmlformats.org/drawingml/2006/main">
            <a:r>
              <a:t/>
            </a:r>
          </a:p>
          <a:p xmlns:a="http://schemas.openxmlformats.org/drawingml/2006/main">
            <a:r>
              <a:t>Sources and image credits:</a:t>
            </a:r>
          </a:p>
          <a:p xmlns:a="http://schemas.openxmlformats.org/drawingml/2006/main">
            <a:r>
              <a:t>- Qwen official repository — https://github.com/QwenLM/Qwen</a:t>
            </a:r>
          </a:p>
          <a:p xmlns:a="http://schemas.openxmlformats.org/drawingml/2006/main">
            <a:r>
              <a:t>- Kimi official branding guide — https://github.com/MoonshotAI/Branding-Guide</a:t>
            </a:r>
          </a:p>
          <a:p xmlns:a="http://schemas.openxmlformats.org/drawingml/2006/main">
            <a:r>
              <a:t>- Ollama official repository and logo — https://github.com/ollama/ollama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attraction is easy to understand. First, private notes and files can stay on a machine we control. Second, the model can keep working when the internet is slow or unavailable. Third, after the model and computer are ready, asking one more question usually does not create another visible fee. These advantages matter most for frequent, ordinary tasks rather than the hardest possible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is only an illustration, not real pricing data. Cloud AI is usually cheaper and easier at the beginning because we do not need to buy special hardware. Its cost grows as we use it more. Local AI has a larger starting cost, but each extra request can become very cheap. That is why local AI may feel free to a frequent user even though the machine itself was never free.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free can hide costs. A computer had to be purchased. It consumes electricity. Models and software need updates, and someone spends time fixing problems. At home, we often ignore that work because we do it ourselves. In a company, it becomes staff time and risk. So local AI changes where the cost appears. It does not make the cost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is useful, but cloud services still have major advantages. A company can run much larger systems, connect them to current information, and serve many users at once. Local AI works best for private, repeated, or offline tasks. The cloud works best when we need the strongest model or the newest information. There is no single winner for every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can protect privacy, but the word local is not a guarantee. A connected plugin may send information to another service. A cloud backup may copy files off the device. Saved logs can keep sensitive prompts. The safer question is not simply, ‘Is the model local?’ It is, ‘Where does the information travel from beginning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Wider access has a negative side. If private AI becomes cheap, it also becomes cheaper to create spam, scams, and harmful automation. Employees may run unapproved models on sensitive company information. And when every device can generate more, efficiency may increase total use rather than reduce it. Making AI more available is valuable, but it also spreads responsibility beyond a few large companies.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realistic future is a mixture of local and cloud AI. Everyday questions, private documents, and offline tasks can stay on the device. Difficult questions, current information, and large shared jobs can go to the cloud. To the user, it may still look like one assistant. The important issue is whether we can see and control when our information leaves the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will AI be completely free? It may feel almost free for everyday use. If the model runs on a computer we already own, the visible price after each question can disappear. But somebody still pays for the hardware, electricity, updates, security, and mistakes. The real change is not that intelligence costs nothing. The change is that more people may own the tool and decide where their information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39e9962de14c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ca5f7ae04e4f68" /><Relationship Type="http://schemas.openxmlformats.org/officeDocument/2006/relationships/slideLayout" Target="/ppt/slideLayouts/slideLayout1.xml" Id="Ra8d0cd47598b40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d0cd47598b40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71282aca934501" /><Relationship Type="http://schemas.openxmlformats.org/officeDocument/2006/relationships/notesSlide" Target="/ppt/notesSlides/notesSlide1.xml" Id="R9101ed3f729b45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99c9da7a77467a" /><Relationship Type="http://schemas.openxmlformats.org/officeDocument/2006/relationships/image" Target="/ppt/media/image.png" Id="R692507843c514b5d" /><Relationship Type="http://schemas.openxmlformats.org/officeDocument/2006/relationships/image" Target="/ppt/media/image2.png" Id="R487da248440948a7" /><Relationship Type="http://schemas.openxmlformats.org/officeDocument/2006/relationships/notesSlide" Target="/ppt/notesSlides/notesSlide2.xml" Id="Rcf7f254a78574e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3aa83cedb949dc" /><Relationship Type="http://schemas.openxmlformats.org/officeDocument/2006/relationships/notesSlide" Target="/ppt/notesSlides/notesSlide3.xml" Id="Rb3551860219f48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fc4a0be79354d49" /><Relationship Type="http://schemas.openxmlformats.org/officeDocument/2006/relationships/image" Target="/ppt/media/image.jpeg" Id="R22385db4bf2b46dd" /><Relationship Type="http://schemas.openxmlformats.org/officeDocument/2006/relationships/notesSlide" Target="/ppt/notesSlides/notesSlide4.xml" Id="R5d46a99e71a449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f3eea0c5b24d3b" /><Relationship Type="http://schemas.openxmlformats.org/officeDocument/2006/relationships/image" Target="/ppt/media/image3.png" Id="R97c20747f1fa4896" /><Relationship Type="http://schemas.openxmlformats.org/officeDocument/2006/relationships/image" Target="/ppt/media/image4.png" Id="R6fb9aa900c014c94" /><Relationship Type="http://schemas.openxmlformats.org/officeDocument/2006/relationships/image" Target="/ppt/media/image5.png" Id="Rf07f2ad823434063" /><Relationship Type="http://schemas.openxmlformats.org/officeDocument/2006/relationships/notesSlide" Target="/ppt/notesSlides/notesSlide5.xml" Id="R24a0d251a8c042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9d7942f3de4b53" /><Relationship Type="http://schemas.openxmlformats.org/officeDocument/2006/relationships/notesSlide" Target="/ppt/notesSlides/notesSlide6.xml" Id="R645d18c23f9c41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68ee67a9d54033" /><Relationship Type="http://schemas.openxmlformats.org/officeDocument/2006/relationships/chart" Target="/ppt/slides/charts/chart1.xml" Id="Rded0c55564ec4b69" /><Relationship Type="http://schemas.openxmlformats.org/officeDocument/2006/relationships/notesSlide" Target="/ppt/notesSlides/notesSlide7.xml" Id="R06ead6c93b0249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e2800c597c4cfb" /><Relationship Type="http://schemas.openxmlformats.org/officeDocument/2006/relationships/notesSlide" Target="/ppt/notesSlides/notesSlide8.xml" Id="Rdba336bd4cfb43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1bfbdfbdda4eaa" /><Relationship Type="http://schemas.openxmlformats.org/officeDocument/2006/relationships/notesSlide" Target="/ppt/notesSlides/notesSlide9.xml" Id="R7b24ab568a0041c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1de4bf170f4e25" /><Relationship Type="http://schemas.openxmlformats.org/officeDocument/2006/relationships/notesSlide" Target="/ppt/notesSlides/notesSlide10.xml" Id="Ra8139afab96849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cdb2b9aece4e97" /><Relationship Type="http://schemas.openxmlformats.org/officeDocument/2006/relationships/notesSlide" Target="/ppt/notesSlides/notesSlide11.xml" Id="R863338cc37a24c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5eccfc1d3a4b2b" /><Relationship Type="http://schemas.openxmlformats.org/officeDocument/2006/relationships/notesSlide" Target="/ppt/notesSlides/notesSlide12.xml" Id="Re18d250d468941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7ce786fd1c487d" /><Relationship Type="http://schemas.openxmlformats.org/officeDocument/2006/relationships/notesSlide" Target="/ppt/notesSlides/notesSlide13.xml" Id="R7daf3b8a98fa474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Cloud</c:v>
          </c:tx>
          <c:spPr>
            <a:ln xmlns:a="http://schemas.openxmlformats.org/drawingml/2006/main" w="38100">
              <a:solidFill>
                <a:srgbClr val="4078FF"/>
              </a:solidFill>
              <a:prstDash val="solid"/>
            </a:ln>
          </c:spPr>
          <c:marker>
            <c:symbol val="circle"/>
            <c:size val="8"/>
            <c:spPr>
              <a:solidFill xmlns:a="http://schemas.openxmlformats.org/drawingml/2006/main">
                <a:srgbClr val="4078FF"/>
              </a:solidFill>
            </c:spPr>
          </c:marker>
          <c:cat>
            <c:strRef>
              <c:f>'Chart Data'!$A$2:$A$4</c:f>
              <c:strCache>
                <c:ptCount val="3"/>
                <c:pt idx="0">
                  <c:v>Light use</c:v>
                </c:pt>
                <c:pt idx="1">
                  <c:v>Regular use</c:v>
                </c:pt>
                <c:pt idx="2">
                  <c:v>Heavy use</c:v>
                </c:pt>
              </c:strCache>
            </c:strRef>
          </c:cat>
          <c:val>
            <c:numRef>
              <c:f>'Chart Data'!$B$2:$B$4</c:f>
              <c:numCache>
                <c:formatCode>General</c:formatCode>
                <c:ptCount val="3"/>
                <c:pt idx="0">
                  <c:v>18</c:v>
                </c:pt>
                <c:pt idx="1">
                  <c:v>55</c:v>
                </c:pt>
                <c:pt idx="2">
                  <c:v>105</c:v>
                </c:pt>
              </c:numCache>
            </c:numRef>
          </c:val>
          <c:smooth val="0"/>
        </c:ser>
        <c:ser>
          <c:idx val="1"/>
          <c:order val="1"/>
          <c:tx>
            <c:v>Local</c:v>
          </c:tx>
          <c:spPr>
            <a:ln xmlns:a="http://schemas.openxmlformats.org/drawingml/2006/main" w="38100">
              <a:solidFill>
                <a:srgbClr val="C96E42"/>
              </a:solidFill>
              <a:prstDash val="solid"/>
            </a:ln>
          </c:spPr>
          <c:marker>
            <c:symbol val="circle"/>
            <c:size val="8"/>
            <c:spPr>
              <a:solidFill xmlns:a="http://schemas.openxmlformats.org/drawingml/2006/main">
                <a:srgbClr val="C96E42"/>
              </a:solidFill>
            </c:spPr>
          </c:marker>
          <c:cat>
            <c:strRef>
              <c:f>'Chart Data'!$C$2:$C$4</c:f>
              <c:strCache>
                <c:ptCount val="3"/>
                <c:pt idx="0">
                  <c:v>Light use</c:v>
                </c:pt>
                <c:pt idx="1">
                  <c:v>Regular use</c:v>
                </c:pt>
                <c:pt idx="2">
                  <c:v>Heavy use</c:v>
                </c:pt>
              </c:strCache>
            </c:strRef>
          </c:cat>
          <c:val>
            <c:numRef>
              <c:f>'Chart Data'!$D$2:$D$4</c:f>
              <c:numCache>
                <c:formatCode>General</c:formatCode>
                <c:ptCount val="3"/>
                <c:pt idx="0">
                  <c:v>72</c:v>
                </c:pt>
                <c:pt idx="1">
                  <c:v>78</c:v>
                </c:pt>
                <c:pt idx="2">
                  <c:v>88</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5565F"/>
            </a:solidFill>
            <a:prstDash val="solid"/>
          </a:ln>
        </c:spPr>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crossAx val="48672768"/>
      </c:catAx>
      <c:valAx>
        <c:axId val="48672768"/>
        <c:scaling>
          <c:orientation val="minMax"/>
          <c:max val="120"/>
          <c:min val="0"/>
        </c:scaling>
        <c:delete val="0"/>
        <c:axPos val="l"/>
        <c:numFmt formatCode="General"/>
        <c:majorTickMark val="none"/>
        <c:minorTickMark val="none"/>
        <c:tickLblPos val="none"/>
        <c:spPr>
          <a:ln xmlns:a="http://schemas.openxmlformats.org/drawingml/2006/main" w="0">
            <a:solidFill>
              <a:srgbClr val="10111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01114"/>
        </a:solidFill>
        <a:ln xmlns:a="http://schemas.openxmlformats.org/drawingml/2006/main" w="0">
          <a:solidFill>
            <a:srgbClr val="101114"/>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legend>
    <c:plotVisOnly val="1"/>
  </c:chart>
  <c:spPr>
    <a:solidFill xmlns:a="http://schemas.openxmlformats.org/drawingml/2006/main">
      <a:srgbClr val="101114"/>
    </a:solidFill>
    <a:ln xmlns:a="http://schemas.openxmlformats.org/drawingml/2006/main" w="0">
      <a:solidFill>
        <a:srgbClr val="101114"/>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655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878E09-7943-44A2-B7A2-7833A7B5DCBB}"/>
              </a:ext>
            </a:extLst>
          </p:cNvPr>
          <p:cNvSpPr>
            <a:spLocks xmlns:a="http://schemas.openxmlformats.org/drawingml/2006/main" noGrp="1"/>
          </p:cNvSpPr>
          <p:nvPr/>
        </p:nvSpPr>
        <p:spPr>
          <a:xfrm xmlns:a="http://schemas.openxmlformats.org/drawingml/2006/main">
            <a:off x="628650" y="876300"/>
            <a:ext cx="857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WILL AI BE</a:t>
            </a:r>
          </a:p>
          <a:p xmlns:a="http://schemas.openxmlformats.org/drawingml/2006/main">
            <a:pPr algn="l">
              <a:lnSpc>
                <a:spcPct val="92000"/>
              </a:lnSpc>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COMPLETELY FREE?</a:t>
            </a:r>
          </a:p>
        </p:txBody>
      </p:sp>
      <p:sp>
        <p:nvSpPr>
          <p:cNvPr id="2" name="">
            <a:extLst xmlns:a="http://schemas.openxmlformats.org/drawingml/2006/main">
              <a:ext uri="{FF2B5EF4-FFF2-40B4-BE49-F238E27FC236}">
                <a16:creationId xmlns:a16="http://schemas.microsoft.com/office/drawing/2014/main" id="{09FE5DDE-B992-4CA8-B6C8-248A8A650319}"/>
              </a:ext>
            </a:extLst>
          </p:cNvPr>
          <p:cNvSpPr>
            <a:spLocks xmlns:a="http://schemas.openxmlformats.org/drawingml/2006/main" noGrp="1"/>
          </p:cNvSpPr>
          <p:nvPr/>
        </p:nvSpPr>
        <p:spPr>
          <a:xfrm xmlns:a="http://schemas.openxmlformats.org/drawingml/2006/main">
            <a:off x="628650" y="30670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750" b="1">
                <a:solidFill>
                  <a:srgbClr val="BEB8FF"/>
                </a:solidFill>
                <a:latin typeface="Helvetica Neue"/>
                <a:ea typeface="Helvetica Neue"/>
                <a:cs typeface="Helvetica Neue"/>
              </a:defRPr>
            </a:pPr>
            <a:r>
              <a:rPr sz="3750" b="1">
                <a:solidFill>
                  <a:srgbClr val="BEB8FF"/>
                </a:solidFill>
                <a:latin typeface="Helvetica Neue"/>
                <a:ea typeface="Helvetica Neue"/>
                <a:cs typeface="Helvetica Neue"/>
              </a:rPr>
              <a:t>(SOON)</a:t>
            </a:r>
          </a:p>
        </p:txBody>
      </p:sp>
      <p:sp>
        <p:nvSpPr>
          <p:cNvPr id="3" name="">
            <a:extLst xmlns:a="http://schemas.openxmlformats.org/drawingml/2006/main">
              <a:ext uri="{FF2B5EF4-FFF2-40B4-BE49-F238E27FC236}">
                <a16:creationId xmlns:a16="http://schemas.microsoft.com/office/drawing/2014/main" id="{22D7785A-9DD0-4AC0-BFF8-64D23D92A236}"/>
              </a:ext>
            </a:extLst>
          </p:cNvPr>
          <p:cNvSpPr>
            <a:spLocks xmlns:a="http://schemas.openxmlformats.org/drawingml/2006/main" noGrp="1"/>
          </p:cNvSpPr>
          <p:nvPr/>
        </p:nvSpPr>
        <p:spPr>
          <a:xfrm xmlns:a="http://schemas.openxmlformats.org/drawingml/2006/main">
            <a:off x="647700" y="4514850"/>
            <a:ext cx="2381250" cy="0"/>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4" name="">
            <a:extLst xmlns:a="http://schemas.openxmlformats.org/drawingml/2006/main">
              <a:ext uri="{FF2B5EF4-FFF2-40B4-BE49-F238E27FC236}">
                <a16:creationId xmlns:a16="http://schemas.microsoft.com/office/drawing/2014/main" id="{9587F1D0-104C-48EB-8283-77087B551979}"/>
              </a:ext>
            </a:extLst>
          </p:cNvPr>
          <p:cNvSpPr>
            <a:spLocks xmlns:a="http://schemas.openxmlformats.org/drawingml/2006/main" noGrp="1"/>
          </p:cNvSpPr>
          <p:nvPr/>
        </p:nvSpPr>
        <p:spPr>
          <a:xfrm xmlns:a="http://schemas.openxmlformats.org/drawingml/2006/main">
            <a:off x="628650" y="4810125"/>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What local AI changes, and what it does not</a:t>
            </a:r>
          </a:p>
        </p:txBody>
      </p:sp>
      <p:sp>
        <p:nvSpPr>
          <p:cNvPr id="5" name="">
            <a:extLst xmlns:a="http://schemas.openxmlformats.org/drawingml/2006/main">
              <a:ext uri="{FF2B5EF4-FFF2-40B4-BE49-F238E27FC236}">
                <a16:creationId xmlns:a16="http://schemas.microsoft.com/office/drawing/2014/main" id="{B0A218BB-3935-4B5B-854A-5E3812C8B92E}"/>
              </a:ext>
            </a:extLst>
          </p:cNvPr>
          <p:cNvSpPr>
            <a:spLocks xmlns:a="http://schemas.openxmlformats.org/drawingml/2006/main" noGrp="1"/>
          </p:cNvSpPr>
          <p:nvPr/>
        </p:nvSpPr>
        <p:spPr>
          <a:xfrm xmlns:a="http://schemas.openxmlformats.org/drawingml/2006/main">
            <a:off x="628650" y="6057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 10-minute introduction</a:t>
            </a:r>
          </a:p>
        </p:txBody>
      </p:sp>
    </p:spTree>
    <p:extLst>
      <p:ext uri="{BB962C8B-B14F-4D97-AF65-F5344CB8AC3E}">
        <p14:creationId xmlns:p14="http://schemas.microsoft.com/office/powerpoint/2010/main" val="153282307"/>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4FDF6F-81AD-4C12-BE9D-B89B41289ACE}"/>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You have probably used AI already</a:t>
            </a:r>
          </a:p>
        </p:txBody>
      </p:sp>
      <p:sp>
        <p:nvSpPr>
          <p:cNvPr id="2" name="">
            <a:extLst xmlns:a="http://schemas.openxmlformats.org/drawingml/2006/main">
              <a:ext uri="{FF2B5EF4-FFF2-40B4-BE49-F238E27FC236}">
                <a16:creationId xmlns:a16="http://schemas.microsoft.com/office/drawing/2014/main" id="{24DFE2A1-95B0-4C12-A7A8-18EE31EEFB04}"/>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2507843c514b5d"/>
          <a:stretch xmlns:a="http://schemas.openxmlformats.org/drawingml/2006/main"/>
        </p:blipFill>
        <p:spPr>
          <a:xfrm xmlns:a="http://schemas.openxmlformats.org/drawingml/2006/main">
            <a:off x="1752600" y="1695450"/>
            <a:ext cx="2381250" cy="2381250"/>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87da248440948a7"/>
          <a:stretch xmlns:a="http://schemas.openxmlformats.org/drawingml/2006/main"/>
        </p:blipFill>
        <p:spPr>
          <a:xfrm xmlns:a="http://schemas.openxmlformats.org/drawingml/2006/main">
            <a:off x="8058150" y="1695450"/>
            <a:ext cx="2381250" cy="2381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28CD49-C5E3-4626-9B84-FEDC0349E89A}"/>
              </a:ext>
            </a:extLst>
          </p:cNvPr>
          <p:cNvSpPr>
            <a:spLocks xmlns:a="http://schemas.openxmlformats.org/drawingml/2006/main" noGrp="1"/>
          </p:cNvSpPr>
          <p:nvPr/>
        </p:nvSpPr>
        <p:spPr>
          <a:xfrm xmlns:a="http://schemas.openxmlformats.org/drawingml/2006/main">
            <a:off x="1476375" y="43148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ChatGPT</a:t>
            </a:r>
          </a:p>
        </p:txBody>
      </p:sp>
      <p:sp>
        <p:nvSpPr>
          <p:cNvPr id="6" name="">
            <a:extLst xmlns:a="http://schemas.openxmlformats.org/drawingml/2006/main">
              <a:ext uri="{FF2B5EF4-FFF2-40B4-BE49-F238E27FC236}">
                <a16:creationId xmlns:a16="http://schemas.microsoft.com/office/drawing/2014/main" id="{04D4EC26-937F-4A03-ACF7-2DE220E75052}"/>
              </a:ext>
            </a:extLst>
          </p:cNvPr>
          <p:cNvSpPr>
            <a:spLocks xmlns:a="http://schemas.openxmlformats.org/drawingml/2006/main" noGrp="1"/>
          </p:cNvSpPr>
          <p:nvPr/>
        </p:nvSpPr>
        <p:spPr>
          <a:xfrm xmlns:a="http://schemas.openxmlformats.org/drawingml/2006/main">
            <a:off x="7781925" y="43148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Claude</a:t>
            </a:r>
          </a:p>
        </p:txBody>
      </p:sp>
      <p:sp>
        <p:nvSpPr>
          <p:cNvPr id="7" name="">
            <a:extLst xmlns:a="http://schemas.openxmlformats.org/drawingml/2006/main">
              <a:ext uri="{FF2B5EF4-FFF2-40B4-BE49-F238E27FC236}">
                <a16:creationId xmlns:a16="http://schemas.microsoft.com/office/drawing/2014/main" id="{2B28B390-6481-4D6D-A1BD-F3886F143CC4}"/>
              </a:ext>
            </a:extLst>
          </p:cNvPr>
          <p:cNvSpPr>
            <a:spLocks xmlns:a="http://schemas.openxmlformats.org/drawingml/2006/main" noGrp="1"/>
          </p:cNvSpPr>
          <p:nvPr/>
        </p:nvSpPr>
        <p:spPr>
          <a:xfrm xmlns:a="http://schemas.openxmlformats.org/drawingml/2006/main">
            <a:off x="2381250" y="5600700"/>
            <a:ext cx="742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74716C"/>
                </a:solidFill>
                <a:latin typeface="Helvetica Neue"/>
                <a:ea typeface="Helvetica Neue"/>
                <a:cs typeface="Helvetica Neue"/>
              </a:defRPr>
            </a:pPr>
            <a:r>
              <a:rPr sz="1875" b="0">
                <a:solidFill>
                  <a:srgbClr val="74716C"/>
                </a:solidFill>
                <a:latin typeface="Helvetica Neue"/>
                <a:ea typeface="Helvetica Neue"/>
                <a:cs typeface="Helvetica Neue"/>
              </a:rPr>
              <a:t>A question goes in. An answer comes back.</a:t>
            </a:r>
          </a:p>
        </p:txBody>
      </p:sp>
    </p:spTree>
    <p:extLst>
      <p:ext uri="{BB962C8B-B14F-4D97-AF65-F5344CB8AC3E}">
        <p14:creationId xmlns:p14="http://schemas.microsoft.com/office/powerpoint/2010/main" val="1884348143"/>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6086C4-A321-41A6-A11B-03D9EDCC97BE}"/>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Every answer runs somewhere</a:t>
            </a:r>
          </a:p>
        </p:txBody>
      </p:sp>
      <p:sp>
        <p:nvSpPr>
          <p:cNvPr id="2" name="">
            <a:extLst xmlns:a="http://schemas.openxmlformats.org/drawingml/2006/main">
              <a:ext uri="{FF2B5EF4-FFF2-40B4-BE49-F238E27FC236}">
                <a16:creationId xmlns:a16="http://schemas.microsoft.com/office/drawing/2014/main" id="{1957EC34-77EB-4CF4-9DB4-31991D19C714}"/>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4B807B34-90F7-4689-B807-1D4FA7271F08}"/>
              </a:ext>
            </a:extLst>
          </p:cNvPr>
          <p:cNvSpPr>
            <a:spLocks xmlns:a="http://schemas.openxmlformats.org/drawingml/2006/main" noGrp="1"/>
          </p:cNvSpPr>
          <p:nvPr/>
        </p:nvSpPr>
        <p:spPr>
          <a:xfrm xmlns:a="http://schemas.openxmlformats.org/drawingml/2006/main">
            <a:off x="819150" y="23812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600" b="1">
                <a:solidFill>
                  <a:srgbClr val="6558F5"/>
                </a:solidFill>
                <a:latin typeface="Helvetica Neue"/>
                <a:ea typeface="Helvetica Neue"/>
                <a:cs typeface="Helvetica Neue"/>
              </a:defRPr>
            </a:pPr>
            <a:r>
              <a:rPr sz="3600" b="1">
                <a:solidFill>
                  <a:srgbClr val="6558F5"/>
                </a:solidFill>
                <a:latin typeface="Helvetica Neue"/>
                <a:ea typeface="Helvetica Neue"/>
                <a:cs typeface="Helvetica Neue"/>
              </a:rPr>
              <a:t>YOU</a:t>
            </a:r>
          </a:p>
        </p:txBody>
      </p:sp>
      <p:sp>
        <p:nvSpPr>
          <p:cNvPr id="4" name="">
            <a:extLst xmlns:a="http://schemas.openxmlformats.org/drawingml/2006/main">
              <a:ext uri="{FF2B5EF4-FFF2-40B4-BE49-F238E27FC236}">
                <a16:creationId xmlns:a16="http://schemas.microsoft.com/office/drawing/2014/main" id="{02C06C12-00FD-41C1-A305-8A63FE974D9A}"/>
              </a:ext>
            </a:extLst>
          </p:cNvPr>
          <p:cNvSpPr>
            <a:spLocks xmlns:a="http://schemas.openxmlformats.org/drawingml/2006/main" noGrp="1"/>
          </p:cNvSpPr>
          <p:nvPr/>
        </p:nvSpPr>
        <p:spPr>
          <a:xfrm xmlns:a="http://schemas.openxmlformats.org/drawingml/2006/main">
            <a:off x="4953000" y="23812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THE INTERNET</a:t>
            </a:r>
          </a:p>
        </p:txBody>
      </p:sp>
      <p:sp>
        <p:nvSpPr>
          <p:cNvPr id="5" name="">
            <a:extLst xmlns:a="http://schemas.openxmlformats.org/drawingml/2006/main">
              <a:ext uri="{FF2B5EF4-FFF2-40B4-BE49-F238E27FC236}">
                <a16:creationId xmlns:a16="http://schemas.microsoft.com/office/drawing/2014/main" id="{6E0FF8FA-BFD1-40E5-8CB8-FF9BAE9BED38}"/>
              </a:ext>
            </a:extLst>
          </p:cNvPr>
          <p:cNvSpPr>
            <a:spLocks xmlns:a="http://schemas.openxmlformats.org/drawingml/2006/main" noGrp="1"/>
          </p:cNvSpPr>
          <p:nvPr/>
        </p:nvSpPr>
        <p:spPr>
          <a:xfrm xmlns:a="http://schemas.openxmlformats.org/drawingml/2006/main">
            <a:off x="8782050" y="2381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C96E42"/>
                </a:solidFill>
                <a:latin typeface="Helvetica Neue"/>
                <a:ea typeface="Helvetica Neue"/>
                <a:cs typeface="Helvetica Neue"/>
              </a:defRPr>
            </a:pPr>
            <a:r>
              <a:rPr sz="2325" b="1">
                <a:solidFill>
                  <a:srgbClr val="C96E42"/>
                </a:solidFill>
                <a:latin typeface="Helvetica Neue"/>
                <a:ea typeface="Helvetica Neue"/>
                <a:cs typeface="Helvetica Neue"/>
              </a:rPr>
              <a:t>A DATA CENTER</a:t>
            </a:r>
          </a:p>
        </p:txBody>
      </p:sp>
      <p:sp>
        <p:nvSpPr>
          <p:cNvPr id="6" name="">
            <a:extLst xmlns:a="http://schemas.openxmlformats.org/drawingml/2006/main">
              <a:ext uri="{FF2B5EF4-FFF2-40B4-BE49-F238E27FC236}">
                <a16:creationId xmlns:a16="http://schemas.microsoft.com/office/drawing/2014/main" id="{F0C45D60-83D4-4697-B37D-3B8814545B2A}"/>
              </a:ext>
            </a:extLst>
          </p:cNvPr>
          <p:cNvSpPr>
            <a:spLocks xmlns:a="http://schemas.openxmlformats.org/drawingml/2006/main" noGrp="1"/>
          </p:cNvSpPr>
          <p:nvPr/>
        </p:nvSpPr>
        <p:spPr>
          <a:xfrm xmlns:a="http://schemas.openxmlformats.org/drawingml/2006/main">
            <a:off x="2952750" y="2714625"/>
            <a:ext cx="19812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7" name="">
            <a:extLst xmlns:a="http://schemas.openxmlformats.org/drawingml/2006/main">
              <a:ext uri="{FF2B5EF4-FFF2-40B4-BE49-F238E27FC236}">
                <a16:creationId xmlns:a16="http://schemas.microsoft.com/office/drawing/2014/main" id="{7C827043-64B2-47B4-909D-FCA4DEE58D52}"/>
              </a:ext>
            </a:extLst>
          </p:cNvPr>
          <p:cNvSpPr>
            <a:spLocks xmlns:a="http://schemas.openxmlformats.org/drawingml/2006/main" noGrp="1"/>
          </p:cNvSpPr>
          <p:nvPr/>
        </p:nvSpPr>
        <p:spPr>
          <a:xfrm xmlns:a="http://schemas.openxmlformats.org/drawingml/2006/main">
            <a:off x="7239000" y="2714625"/>
            <a:ext cx="1524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8" name="">
            <a:extLst xmlns:a="http://schemas.openxmlformats.org/drawingml/2006/main">
              <a:ext uri="{FF2B5EF4-FFF2-40B4-BE49-F238E27FC236}">
                <a16:creationId xmlns:a16="http://schemas.microsoft.com/office/drawing/2014/main" id="{02BA36CE-4BE3-45D3-B2D5-AF66E1441633}"/>
              </a:ext>
            </a:extLst>
          </p:cNvPr>
          <p:cNvSpPr>
            <a:spLocks xmlns:a="http://schemas.openxmlformats.org/drawingml/2006/main" noGrp="1"/>
          </p:cNvSpPr>
          <p:nvPr/>
        </p:nvSpPr>
        <p:spPr>
          <a:xfrm xmlns:a="http://schemas.openxmlformats.org/drawingml/2006/main">
            <a:off x="1619250" y="4191000"/>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75" b="0">
                <a:solidFill>
                  <a:srgbClr val="101114"/>
                </a:solidFill>
                <a:latin typeface="Helvetica Neue"/>
                <a:ea typeface="Helvetica Neue"/>
                <a:cs typeface="Helvetica Neue"/>
              </a:defRPr>
            </a:pPr>
            <a:r>
              <a:rPr sz="2175" b="0">
                <a:solidFill>
                  <a:srgbClr val="101114"/>
                </a:solidFill>
                <a:latin typeface="Helvetica Neue"/>
                <a:ea typeface="Helvetica Neue"/>
                <a:cs typeface="Helvetica Neue"/>
              </a:rPr>
              <a:t>Your question normally leaves your device before the AI can answer it.</a:t>
            </a:r>
          </a:p>
        </p:txBody>
      </p:sp>
      <p:sp>
        <p:nvSpPr>
          <p:cNvPr id="9" name="">
            <a:extLst xmlns:a="http://schemas.openxmlformats.org/drawingml/2006/main">
              <a:ext uri="{FF2B5EF4-FFF2-40B4-BE49-F238E27FC236}">
                <a16:creationId xmlns:a16="http://schemas.microsoft.com/office/drawing/2014/main" id="{A5D0BFAD-4783-49C4-9900-D5E75877FDF7}"/>
              </a:ext>
            </a:extLst>
          </p:cNvPr>
          <p:cNvSpPr>
            <a:spLocks xmlns:a="http://schemas.openxmlformats.org/drawingml/2006/main" noGrp="1"/>
          </p:cNvSpPr>
          <p:nvPr/>
        </p:nvSpPr>
        <p:spPr>
          <a:xfrm xmlns:a="http://schemas.openxmlformats.org/drawingml/2006/main">
            <a:off x="2381250" y="50482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a:solidFill>
                  <a:srgbClr val="74716C"/>
                </a:solidFill>
                <a:latin typeface="Helvetica Neue"/>
                <a:ea typeface="Helvetica Neue"/>
                <a:cs typeface="Helvetica Neue"/>
              </a:defRPr>
            </a:pPr>
            <a:r>
              <a:rPr sz="1575" b="0">
                <a:solidFill>
                  <a:srgbClr val="74716C"/>
                </a:solidFill>
                <a:latin typeface="Helvetica Neue"/>
                <a:ea typeface="Helvetica Neue"/>
                <a:cs typeface="Helvetica Neue"/>
              </a:rPr>
              <a:t>That is convenient, but it creates a bill and a privacy decision.</a:t>
            </a:r>
          </a:p>
        </p:txBody>
      </p:sp>
    </p:spTree>
    <p:extLst>
      <p:ext uri="{BB962C8B-B14F-4D97-AF65-F5344CB8AC3E}">
        <p14:creationId xmlns:p14="http://schemas.microsoft.com/office/powerpoint/2010/main" val="1976159512"/>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3F841F-8D6F-4828-BD4C-8EFB1E9A473A}"/>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What if the AI lived on your laptop?</a:t>
            </a:r>
          </a:p>
        </p:txBody>
      </p:sp>
      <p:sp>
        <p:nvSpPr>
          <p:cNvPr id="2" name="">
            <a:extLst xmlns:a="http://schemas.openxmlformats.org/drawingml/2006/main">
              <a:ext uri="{FF2B5EF4-FFF2-40B4-BE49-F238E27FC236}">
                <a16:creationId xmlns:a16="http://schemas.microsoft.com/office/drawing/2014/main" id="{454CB3BF-A64F-40A3-9CD3-1BAFE155211C}"/>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439D53B4-AD8A-4922-8AD7-56A5B38DE4D6}"/>
              </a:ext>
            </a:extLst>
          </p:cNvPr>
          <p:cNvSpPr>
            <a:spLocks xmlns:a="http://schemas.openxmlformats.org/drawingml/2006/main" noGrp="1"/>
          </p:cNvSpPr>
          <p:nvPr/>
        </p:nvSpPr>
        <p:spPr>
          <a:xfrm xmlns:a="http://schemas.openxmlformats.org/drawingml/2006/main">
            <a:off x="666750" y="1809750"/>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a:solidFill>
                  <a:srgbClr val="101114"/>
                </a:solidFill>
                <a:latin typeface="Helvetica Neue"/>
                <a:ea typeface="Helvetica Neue"/>
                <a:cs typeface="Helvetica Neue"/>
              </a:defRPr>
            </a:pPr>
            <a:r>
              <a:rPr sz="2850" b="1">
                <a:solidFill>
                  <a:srgbClr val="101114"/>
                </a:solidFill>
                <a:latin typeface="Helvetica Neue"/>
                <a:ea typeface="Helvetica Neue"/>
                <a:cs typeface="Helvetica Neue"/>
              </a:rPr>
              <a:t>A local model runs on a device you control.</a:t>
            </a:r>
          </a:p>
        </p:txBody>
      </p:sp>
      <p:sp>
        <p:nvSpPr>
          <p:cNvPr id="4" name="">
            <a:extLst xmlns:a="http://schemas.openxmlformats.org/drawingml/2006/main">
              <a:ext uri="{FF2B5EF4-FFF2-40B4-BE49-F238E27FC236}">
                <a16:creationId xmlns:a16="http://schemas.microsoft.com/office/drawing/2014/main" id="{4104F1CA-91BC-4BD3-9863-96C931BE4C44}"/>
              </a:ext>
            </a:extLst>
          </p:cNvPr>
          <p:cNvSpPr>
            <a:spLocks xmlns:a="http://schemas.openxmlformats.org/drawingml/2006/main" noGrp="1"/>
          </p:cNvSpPr>
          <p:nvPr/>
        </p:nvSpPr>
        <p:spPr>
          <a:xfrm xmlns:a="http://schemas.openxmlformats.org/drawingml/2006/main">
            <a:off x="666750" y="3333750"/>
            <a:ext cx="4381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75" b="0">
                <a:solidFill>
                  <a:srgbClr val="74716C"/>
                </a:solidFill>
                <a:latin typeface="Helvetica Neue"/>
                <a:ea typeface="Helvetica Neue"/>
                <a:cs typeface="Helvetica Neue"/>
              </a:defRPr>
            </a:pPr>
            <a:r>
              <a:rPr sz="1875" b="0">
                <a:solidFill>
                  <a:srgbClr val="74716C"/>
                </a:solidFill>
                <a:latin typeface="Helvetica Neue"/>
                <a:ea typeface="Helvetica Neue"/>
                <a:cs typeface="Helvetica Neue"/>
              </a:rPr>
              <a:t>It can keep working without Wi-Fi, and your files can stay closer to you.</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2385db4bf2b46dd"/>
          <a:srcRect xmlns:a="http://schemas.openxmlformats.org/drawingml/2006/main" l="10357" t="0" r="10357" b="0"/>
          <a:stretch xmlns:a="http://schemas.openxmlformats.org/drawingml/2006/main">
            <a:fillRect l="0" t="0" r="0" b="0"/>
          </a:stretch>
        </p:blipFill>
        <p:spPr>
          <a:xfrm xmlns:a="http://schemas.openxmlformats.org/drawingml/2006/main">
            <a:off x="6076950" y="1276350"/>
            <a:ext cx="5505450" cy="4629150"/>
          </a:xfrm>
          <a:prstGeom xmlns:a="http://schemas.openxmlformats.org/drawingml/2006/main" prst="rect">
            <a:avLst/>
          </a:prstGeom>
        </p:spPr>
      </p:pic>
    </p:spTree>
    <p:extLst>
      <p:ext uri="{BB962C8B-B14F-4D97-AF65-F5344CB8AC3E}">
        <p14:creationId xmlns:p14="http://schemas.microsoft.com/office/powerpoint/2010/main" val="1760943578"/>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FF6E89D-3C12-484A-B4ED-054C34D9DA14}"/>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This is already possible</a:t>
            </a:r>
          </a:p>
        </p:txBody>
      </p:sp>
      <p:sp>
        <p:nvSpPr>
          <p:cNvPr id="2" name="">
            <a:extLst xmlns:a="http://schemas.openxmlformats.org/drawingml/2006/main">
              <a:ext uri="{FF2B5EF4-FFF2-40B4-BE49-F238E27FC236}">
                <a16:creationId xmlns:a16="http://schemas.microsoft.com/office/drawing/2014/main" id="{EB641EEF-A0B8-4B41-89FC-3E1775D5A3D6}"/>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c20747f1fa4896"/>
          <a:stretch xmlns:a="http://schemas.openxmlformats.org/drawingml/2006/main"/>
        </p:blipFill>
        <p:spPr>
          <a:xfrm xmlns:a="http://schemas.openxmlformats.org/drawingml/2006/main">
            <a:off x="1290638" y="1733550"/>
            <a:ext cx="1952625" cy="195262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fb9aa900c014c94"/>
          <a:stretch xmlns:a="http://schemas.openxmlformats.org/drawingml/2006/main"/>
        </p:blipFill>
        <p:spPr>
          <a:xfrm xmlns:a="http://schemas.openxmlformats.org/drawingml/2006/main">
            <a:off x="4648200" y="2208950"/>
            <a:ext cx="2952750" cy="1001826"/>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07f2ad823434063"/>
          <a:stretch xmlns:a="http://schemas.openxmlformats.org/drawingml/2006/main"/>
        </p:blipFill>
        <p:spPr>
          <a:xfrm xmlns:a="http://schemas.openxmlformats.org/drawingml/2006/main">
            <a:off x="8572500" y="1638300"/>
            <a:ext cx="2095500" cy="209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D37439-77A7-4D3D-8031-49FE79424962}"/>
              </a:ext>
            </a:extLst>
          </p:cNvPr>
          <p:cNvSpPr>
            <a:spLocks xmlns:a="http://schemas.openxmlformats.org/drawingml/2006/main" noGrp="1"/>
          </p:cNvSpPr>
          <p:nvPr/>
        </p:nvSpPr>
        <p:spPr>
          <a:xfrm xmlns:a="http://schemas.openxmlformats.org/drawingml/2006/main">
            <a:off x="1009650" y="4000500"/>
            <a:ext cx="251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Qwen</a:t>
            </a:r>
          </a:p>
        </p:txBody>
      </p:sp>
      <p:sp>
        <p:nvSpPr>
          <p:cNvPr id="7" name="">
            <a:extLst xmlns:a="http://schemas.openxmlformats.org/drawingml/2006/main">
              <a:ext uri="{FF2B5EF4-FFF2-40B4-BE49-F238E27FC236}">
                <a16:creationId xmlns:a16="http://schemas.microsoft.com/office/drawing/2014/main" id="{AD4BA17D-8426-48AB-9FEC-4D60CC470940}"/>
              </a:ext>
            </a:extLst>
          </p:cNvPr>
          <p:cNvSpPr>
            <a:spLocks xmlns:a="http://schemas.openxmlformats.org/drawingml/2006/main" noGrp="1"/>
          </p:cNvSpPr>
          <p:nvPr/>
        </p:nvSpPr>
        <p:spPr>
          <a:xfrm xmlns:a="http://schemas.openxmlformats.org/drawingml/2006/main">
            <a:off x="4810125" y="40005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Kimi</a:t>
            </a:r>
          </a:p>
        </p:txBody>
      </p:sp>
      <p:sp>
        <p:nvSpPr>
          <p:cNvPr id="8" name="">
            <a:extLst xmlns:a="http://schemas.openxmlformats.org/drawingml/2006/main">
              <a:ext uri="{FF2B5EF4-FFF2-40B4-BE49-F238E27FC236}">
                <a16:creationId xmlns:a16="http://schemas.microsoft.com/office/drawing/2014/main" id="{D6D931FA-116C-4960-8BA6-7A7D49296970}"/>
              </a:ext>
            </a:extLst>
          </p:cNvPr>
          <p:cNvSpPr>
            <a:spLocks xmlns:a="http://schemas.openxmlformats.org/drawingml/2006/main" noGrp="1"/>
          </p:cNvSpPr>
          <p:nvPr/>
        </p:nvSpPr>
        <p:spPr>
          <a:xfrm xmlns:a="http://schemas.openxmlformats.org/drawingml/2006/main">
            <a:off x="8353425" y="400050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Ollama</a:t>
            </a:r>
          </a:p>
        </p:txBody>
      </p:sp>
      <p:sp>
        <p:nvSpPr>
          <p:cNvPr id="9" name="">
            <a:extLst xmlns:a="http://schemas.openxmlformats.org/drawingml/2006/main">
              <a:ext uri="{FF2B5EF4-FFF2-40B4-BE49-F238E27FC236}">
                <a16:creationId xmlns:a16="http://schemas.microsoft.com/office/drawing/2014/main" id="{2B275804-AC68-4186-953B-CC345E364E5F}"/>
              </a:ext>
            </a:extLst>
          </p:cNvPr>
          <p:cNvSpPr>
            <a:spLocks xmlns:a="http://schemas.openxmlformats.org/drawingml/2006/main" noGrp="1"/>
          </p:cNvSpPr>
          <p:nvPr/>
        </p:nvSpPr>
        <p:spPr>
          <a:xfrm xmlns:a="http://schemas.openxmlformats.org/drawingml/2006/main">
            <a:off x="990600" y="4524375"/>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74716C"/>
                </a:solidFill>
                <a:latin typeface="Helvetica Neue"/>
                <a:ea typeface="Helvetica Neue"/>
                <a:cs typeface="Helvetica Neue"/>
              </a:defRPr>
            </a:pPr>
            <a:r>
              <a:rPr sz="1350" b="0">
                <a:solidFill>
                  <a:srgbClr val="74716C"/>
                </a:solidFill>
                <a:latin typeface="Helvetica Neue"/>
                <a:ea typeface="Helvetica Neue"/>
                <a:cs typeface="Helvetica Neue"/>
              </a:rPr>
              <a:t>Downloadable models</a:t>
            </a:r>
          </a:p>
        </p:txBody>
      </p:sp>
      <p:sp>
        <p:nvSpPr>
          <p:cNvPr id="10" name="">
            <a:extLst xmlns:a="http://schemas.openxmlformats.org/drawingml/2006/main">
              <a:ext uri="{FF2B5EF4-FFF2-40B4-BE49-F238E27FC236}">
                <a16:creationId xmlns:a16="http://schemas.microsoft.com/office/drawing/2014/main" id="{E1F6C53A-B609-49D2-AAC1-A236047C3CA9}"/>
              </a:ext>
            </a:extLst>
          </p:cNvPr>
          <p:cNvSpPr>
            <a:spLocks xmlns:a="http://schemas.openxmlformats.org/drawingml/2006/main" noGrp="1"/>
          </p:cNvSpPr>
          <p:nvPr/>
        </p:nvSpPr>
        <p:spPr>
          <a:xfrm xmlns:a="http://schemas.openxmlformats.org/drawingml/2006/main">
            <a:off x="8048625" y="45243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74716C"/>
                </a:solidFill>
                <a:latin typeface="Helvetica Neue"/>
                <a:ea typeface="Helvetica Neue"/>
                <a:cs typeface="Helvetica Neue"/>
              </a:defRPr>
            </a:pPr>
            <a:r>
              <a:rPr sz="1350" b="0">
                <a:solidFill>
                  <a:srgbClr val="74716C"/>
                </a:solidFill>
                <a:latin typeface="Helvetica Neue"/>
                <a:ea typeface="Helvetica Neue"/>
                <a:cs typeface="Helvetica Neue"/>
              </a:rPr>
              <a:t>An easy way to run them</a:t>
            </a:r>
          </a:p>
        </p:txBody>
      </p:sp>
      <p:sp>
        <p:nvSpPr>
          <p:cNvPr id="11" name="">
            <a:extLst xmlns:a="http://schemas.openxmlformats.org/drawingml/2006/main">
              <a:ext uri="{FF2B5EF4-FFF2-40B4-BE49-F238E27FC236}">
                <a16:creationId xmlns:a16="http://schemas.microsoft.com/office/drawing/2014/main" id="{DBFAFE34-4934-4A35-A6BF-DC689FD86394}"/>
              </a:ext>
            </a:extLst>
          </p:cNvPr>
          <p:cNvSpPr>
            <a:spLocks xmlns:a="http://schemas.openxmlformats.org/drawingml/2006/main" noGrp="1"/>
          </p:cNvSpPr>
          <p:nvPr/>
        </p:nvSpPr>
        <p:spPr>
          <a:xfrm xmlns:a="http://schemas.openxmlformats.org/drawingml/2006/main">
            <a:off x="1619250" y="5572125"/>
            <a:ext cx="895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0">
                <a:solidFill>
                  <a:srgbClr val="101114"/>
                </a:solidFill>
                <a:latin typeface="Helvetica Neue"/>
                <a:ea typeface="Helvetica Neue"/>
                <a:cs typeface="Helvetica Neue"/>
              </a:defRPr>
            </a:pPr>
            <a:r>
              <a:rPr sz="1725" b="0">
                <a:solidFill>
                  <a:srgbClr val="101114"/>
                </a:solidFill>
                <a:latin typeface="Helvetica Neue"/>
                <a:ea typeface="Helvetica Neue"/>
                <a:cs typeface="Helvetica Neue"/>
              </a:rPr>
              <a:t>You no longer need to build an AI company to try a model on your own computer.</a:t>
            </a:r>
          </a:p>
        </p:txBody>
      </p:sp>
    </p:spTree>
    <p:extLst>
      <p:ext uri="{BB962C8B-B14F-4D97-AF65-F5344CB8AC3E}">
        <p14:creationId xmlns:p14="http://schemas.microsoft.com/office/powerpoint/2010/main" val="1175818421"/>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23D76F-EEF9-4DC5-B2BB-755209C75D01}"/>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Why people want local AI</a:t>
            </a:r>
          </a:p>
        </p:txBody>
      </p:sp>
      <p:sp>
        <p:nvSpPr>
          <p:cNvPr id="2" name="">
            <a:extLst xmlns:a="http://schemas.openxmlformats.org/drawingml/2006/main">
              <a:ext uri="{FF2B5EF4-FFF2-40B4-BE49-F238E27FC236}">
                <a16:creationId xmlns:a16="http://schemas.microsoft.com/office/drawing/2014/main" id="{75686389-DDE1-46C6-8327-087B5E171A6B}"/>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05B322C-3F76-4A2C-9227-E5D2CDBB56FA}"/>
              </a:ext>
            </a:extLst>
          </p:cNvPr>
          <p:cNvSpPr>
            <a:spLocks xmlns:a="http://schemas.openxmlformats.org/drawingml/2006/main" noGrp="1"/>
          </p:cNvSpPr>
          <p:nvPr/>
        </p:nvSpPr>
        <p:spPr>
          <a:xfrm xmlns:a="http://schemas.openxmlformats.org/drawingml/2006/main">
            <a:off x="762000" y="16954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a:solidFill>
                  <a:srgbClr val="6558F5"/>
                </a:solidFill>
                <a:latin typeface="Helvetica Neue"/>
                <a:ea typeface="Helvetica Neue"/>
                <a:cs typeface="Helvetica Neue"/>
              </a:defRPr>
            </a:pPr>
            <a:r>
              <a:rPr sz="3450" b="1">
                <a:solidFill>
                  <a:srgbClr val="6558F5"/>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1C6F0BB2-4E63-4225-8E84-5101DEB9E08D}"/>
              </a:ext>
            </a:extLst>
          </p:cNvPr>
          <p:cNvSpPr>
            <a:spLocks xmlns:a="http://schemas.openxmlformats.org/drawingml/2006/main" noGrp="1"/>
          </p:cNvSpPr>
          <p:nvPr/>
        </p:nvSpPr>
        <p:spPr>
          <a:xfrm xmlns:a="http://schemas.openxmlformats.org/drawingml/2006/main">
            <a:off x="1962150" y="1743075"/>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Private files can stay closer to you</a:t>
            </a:r>
          </a:p>
        </p:txBody>
      </p:sp>
      <p:sp>
        <p:nvSpPr>
          <p:cNvPr id="5" name="">
            <a:extLst xmlns:a="http://schemas.openxmlformats.org/drawingml/2006/main">
              <a:ext uri="{FF2B5EF4-FFF2-40B4-BE49-F238E27FC236}">
                <a16:creationId xmlns:a16="http://schemas.microsoft.com/office/drawing/2014/main" id="{48254D8F-84E6-4F69-A933-C1E411ACEA16}"/>
              </a:ext>
            </a:extLst>
          </p:cNvPr>
          <p:cNvSpPr>
            <a:spLocks xmlns:a="http://schemas.openxmlformats.org/drawingml/2006/main" noGrp="1"/>
          </p:cNvSpPr>
          <p:nvPr/>
        </p:nvSpPr>
        <p:spPr>
          <a:xfrm xmlns:a="http://schemas.openxmlformats.org/drawingml/2006/main">
            <a:off x="762000" y="2571750"/>
            <a:ext cx="10191750" cy="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6" name="">
            <a:extLst xmlns:a="http://schemas.openxmlformats.org/drawingml/2006/main">
              <a:ext uri="{FF2B5EF4-FFF2-40B4-BE49-F238E27FC236}">
                <a16:creationId xmlns:a16="http://schemas.microsoft.com/office/drawing/2014/main" id="{F02BB199-7533-4740-B8C3-97239158C0EE}"/>
              </a:ext>
            </a:extLst>
          </p:cNvPr>
          <p:cNvSpPr>
            <a:spLocks xmlns:a="http://schemas.openxmlformats.org/drawingml/2006/main" noGrp="1"/>
          </p:cNvSpPr>
          <p:nvPr/>
        </p:nvSpPr>
        <p:spPr>
          <a:xfrm xmlns:a="http://schemas.openxmlformats.org/drawingml/2006/main">
            <a:off x="762000" y="3000375"/>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a:solidFill>
                  <a:srgbClr val="C96E42"/>
                </a:solidFill>
                <a:latin typeface="Helvetica Neue"/>
                <a:ea typeface="Helvetica Neue"/>
                <a:cs typeface="Helvetica Neue"/>
              </a:defRPr>
            </a:pPr>
            <a:r>
              <a:rPr sz="3450" b="1">
                <a:solidFill>
                  <a:srgbClr val="C96E4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A81B0A67-AB84-4B2C-842F-05307C654E94}"/>
              </a:ext>
            </a:extLst>
          </p:cNvPr>
          <p:cNvSpPr>
            <a:spLocks xmlns:a="http://schemas.openxmlformats.org/drawingml/2006/main" noGrp="1"/>
          </p:cNvSpPr>
          <p:nvPr/>
        </p:nvSpPr>
        <p:spPr>
          <a:xfrm xmlns:a="http://schemas.openxmlformats.org/drawingml/2006/main">
            <a:off x="1962150" y="3048000"/>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It can work without an internet connection</a:t>
            </a:r>
          </a:p>
        </p:txBody>
      </p:sp>
      <p:sp>
        <p:nvSpPr>
          <p:cNvPr id="8" name="">
            <a:extLst xmlns:a="http://schemas.openxmlformats.org/drawingml/2006/main">
              <a:ext uri="{FF2B5EF4-FFF2-40B4-BE49-F238E27FC236}">
                <a16:creationId xmlns:a16="http://schemas.microsoft.com/office/drawing/2014/main" id="{F283D4A7-D2E0-4013-9C2C-C54A3FA4DAEB}"/>
              </a:ext>
            </a:extLst>
          </p:cNvPr>
          <p:cNvSpPr>
            <a:spLocks xmlns:a="http://schemas.openxmlformats.org/drawingml/2006/main" noGrp="1"/>
          </p:cNvSpPr>
          <p:nvPr/>
        </p:nvSpPr>
        <p:spPr>
          <a:xfrm xmlns:a="http://schemas.openxmlformats.org/drawingml/2006/main">
            <a:off x="762000" y="3876675"/>
            <a:ext cx="10191750" cy="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9" name="">
            <a:extLst xmlns:a="http://schemas.openxmlformats.org/drawingml/2006/main">
              <a:ext uri="{FF2B5EF4-FFF2-40B4-BE49-F238E27FC236}">
                <a16:creationId xmlns:a16="http://schemas.microsoft.com/office/drawing/2014/main" id="{DBC53993-C067-4415-AD69-5F1814B27554}"/>
              </a:ext>
            </a:extLst>
          </p:cNvPr>
          <p:cNvSpPr>
            <a:spLocks xmlns:a="http://schemas.openxmlformats.org/drawingml/2006/main" noGrp="1"/>
          </p:cNvSpPr>
          <p:nvPr/>
        </p:nvSpPr>
        <p:spPr>
          <a:xfrm xmlns:a="http://schemas.openxmlformats.org/drawingml/2006/main">
            <a:off x="762000" y="430530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a:solidFill>
                  <a:srgbClr val="248D73"/>
                </a:solidFill>
                <a:latin typeface="Helvetica Neue"/>
                <a:ea typeface="Helvetica Neue"/>
                <a:cs typeface="Helvetica Neue"/>
              </a:defRPr>
            </a:pPr>
            <a:r>
              <a:rPr sz="3450" b="1">
                <a:solidFill>
                  <a:srgbClr val="248D73"/>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5CF2E104-9A4B-47FE-8B22-A0B75D95A596}"/>
              </a:ext>
            </a:extLst>
          </p:cNvPr>
          <p:cNvSpPr>
            <a:spLocks xmlns:a="http://schemas.openxmlformats.org/drawingml/2006/main" noGrp="1"/>
          </p:cNvSpPr>
          <p:nvPr/>
        </p:nvSpPr>
        <p:spPr>
          <a:xfrm xmlns:a="http://schemas.openxmlformats.org/drawingml/2006/main">
            <a:off x="1962150" y="4352925"/>
            <a:ext cx="857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There is no new bill after every question</a:t>
            </a:r>
          </a:p>
        </p:txBody>
      </p:sp>
    </p:spTree>
    <p:extLst>
      <p:ext uri="{BB962C8B-B14F-4D97-AF65-F5344CB8AC3E}">
        <p14:creationId xmlns:p14="http://schemas.microsoft.com/office/powerpoint/2010/main" val="244369728"/>
      </p:ext>
    </p:extLst>
  </p:cSld>
</p:sld>
</file>

<file path=ppt/slides/slide7.xml><?xml version="1.0" encoding="utf-8"?>
<p:sld xmlns:p="http://schemas.openxmlformats.org/presentationml/2006/main">
  <p:cSld>
    <p:bg>
      <p:bgPr>
        <a:solidFill xmlns:a="http://schemas.openxmlformats.org/drawingml/2006/main">
          <a:srgbClr val="1011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D0AFA4-4ACB-402C-AB7B-106E3B570CA3}"/>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Could it feel free?</a:t>
            </a:r>
          </a:p>
        </p:txBody>
      </p:sp>
      <p:sp>
        <p:nvSpPr>
          <p:cNvPr id="2" name="">
            <a:extLst xmlns:a="http://schemas.openxmlformats.org/drawingml/2006/main">
              <a:ext uri="{FF2B5EF4-FFF2-40B4-BE49-F238E27FC236}">
                <a16:creationId xmlns:a16="http://schemas.microsoft.com/office/drawing/2014/main" id="{43EC784B-8303-4818-A28E-F7DD7FF1F15A}"/>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7AFCF43-525A-4676-B622-01DA7DAC088C}"/>
              </a:ext>
            </a:extLst>
          </p:cNvPr>
          <p:cNvSpPr>
            <a:spLocks xmlns:a="http://schemas.openxmlformats.org/drawingml/2006/main" noGrp="1"/>
          </p:cNvSpPr>
          <p:nvPr/>
        </p:nvSpPr>
        <p:spPr>
          <a:xfrm xmlns:a="http://schemas.openxmlformats.org/drawingml/2006/main">
            <a:off x="666750" y="125730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ILLUSTRATIVE</a:t>
            </a:r>
          </a:p>
        </p:txBody>
      </p:sp>
      <p:graphicFrame>
        <p:nvGraphicFramePr>
          <p:cNvPr id="10" name="Chart"/>
          <p:cNvGraphicFramePr/>
          <p:nvPr/>
        </p:nvGraphicFramePr>
        <p:xfrm>
          <a:off xmlns:a="http://schemas.openxmlformats.org/drawingml/2006/main" x="723900" y="1666875"/>
          <a:ext xmlns:a="http://schemas.openxmlformats.org/drawingml/2006/main" cx="7524750" cy="3810000"/>
        </p:xfrm>
        <a:graphic xmlns:a="http://schemas.openxmlformats.org/drawingml/2006/main">
          <a:graphicData uri="http://schemas.openxmlformats.org/drawingml/2006/chart">
            <c:chart xmlns:r="http://schemas.openxmlformats.org/officeDocument/2006/relationships" xmlns:c="http://schemas.openxmlformats.org/drawingml/2006/chart" r:id="Rded0c55564ec4b69"/>
          </a:graphicData>
        </a:graphic>
      </p:graphicFrame>
      <p:sp>
        <p:nvSpPr>
          <p:cNvPr id="5" name="">
            <a:extLst xmlns:a="http://schemas.openxmlformats.org/drawingml/2006/main">
              <a:ext uri="{FF2B5EF4-FFF2-40B4-BE49-F238E27FC236}">
                <a16:creationId xmlns:a16="http://schemas.microsoft.com/office/drawing/2014/main" id="{27C5EB46-89FF-4DD7-90D3-07EDC736D8FC}"/>
              </a:ext>
            </a:extLst>
          </p:cNvPr>
          <p:cNvSpPr>
            <a:spLocks xmlns:a="http://schemas.openxmlformats.org/drawingml/2006/main" noGrp="1"/>
          </p:cNvSpPr>
          <p:nvPr/>
        </p:nvSpPr>
        <p:spPr>
          <a:xfrm xmlns:a="http://schemas.openxmlformats.org/drawingml/2006/main">
            <a:off x="8648700" y="2209800"/>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737"/>
          </a:bodyPr>
          <a:lstStyle xmlns:a="http://schemas.openxmlformats.org/drawingml/2006/main"/>
          <a:p xmlns:a="http://schemas.openxmlformats.org/drawingml/2006/main">
            <a:pPr algn="l">
              <a:lnSpc>
                <a:spcPct val="108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Cloud is cheap to start.</a:t>
            </a:r>
          </a:p>
          <a:p xmlns:a="http://schemas.openxmlformats.org/drawingml/2006/main">
            <a:pPr algn="l">
              <a:lnSpc>
                <a:spcPct val="108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Local can become cheaper when you use it often.</a:t>
            </a:r>
          </a:p>
        </p:txBody>
      </p:sp>
      <p:sp>
        <p:nvSpPr>
          <p:cNvPr id="6" name="">
            <a:extLst xmlns:a="http://schemas.openxmlformats.org/drawingml/2006/main">
              <a:ext uri="{FF2B5EF4-FFF2-40B4-BE49-F238E27FC236}">
                <a16:creationId xmlns:a16="http://schemas.microsoft.com/office/drawing/2014/main" id="{04BCA05A-BB2B-4A5F-BECA-BC6280ACE44B}"/>
              </a:ext>
            </a:extLst>
          </p:cNvPr>
          <p:cNvSpPr>
            <a:spLocks xmlns:a="http://schemas.openxmlformats.org/drawingml/2006/main" noGrp="1"/>
          </p:cNvSpPr>
          <p:nvPr/>
        </p:nvSpPr>
        <p:spPr>
          <a:xfrm xmlns:a="http://schemas.openxmlformats.org/drawingml/2006/main">
            <a:off x="8648700" y="44577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BEB8FF"/>
                </a:solidFill>
                <a:latin typeface="Helvetica Neue"/>
                <a:ea typeface="Helvetica Neue"/>
                <a:cs typeface="Helvetica Neue"/>
              </a:defRPr>
            </a:pPr>
            <a:r>
              <a:rPr sz="1125" b="0">
                <a:solidFill>
                  <a:srgbClr val="BEB8FF"/>
                </a:solidFill>
                <a:latin typeface="Helvetica Neue"/>
                <a:ea typeface="Helvetica Neue"/>
                <a:cs typeface="Helvetica Neue"/>
              </a:rPr>
              <a:t>Relative cost, not real prices</a:t>
            </a:r>
          </a:p>
        </p:txBody>
      </p:sp>
    </p:spTree>
    <p:extLst>
      <p:ext uri="{BB962C8B-B14F-4D97-AF65-F5344CB8AC3E}">
        <p14:creationId xmlns:p14="http://schemas.microsoft.com/office/powerpoint/2010/main" val="742593737"/>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44BA3E-B561-4659-88C1-57742DEC6CAE}"/>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Free to use is not free to own</a:t>
            </a:r>
          </a:p>
        </p:txBody>
      </p:sp>
      <p:sp>
        <p:nvSpPr>
          <p:cNvPr id="2" name="">
            <a:extLst xmlns:a="http://schemas.openxmlformats.org/drawingml/2006/main">
              <a:ext uri="{FF2B5EF4-FFF2-40B4-BE49-F238E27FC236}">
                <a16:creationId xmlns:a16="http://schemas.microsoft.com/office/drawing/2014/main" id="{F5352B48-1BA8-4840-A6F0-E3BEC356F9B6}"/>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725B6EBD-E82C-4E9B-97D5-F725C5DE23C2}"/>
              </a:ext>
            </a:extLst>
          </p:cNvPr>
          <p:cNvSpPr>
            <a:spLocks xmlns:a="http://schemas.openxmlformats.org/drawingml/2006/main" noGrp="1"/>
          </p:cNvSpPr>
          <p:nvPr/>
        </p:nvSpPr>
        <p:spPr>
          <a:xfrm xmlns:a="http://schemas.openxmlformats.org/drawingml/2006/main">
            <a:off x="762000" y="16954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6558F5"/>
                </a:solidFill>
                <a:latin typeface="Helvetica Neue"/>
                <a:ea typeface="Helvetica Neue"/>
                <a:cs typeface="Helvetica Neue"/>
              </a:defRPr>
            </a:pPr>
            <a:r>
              <a:rPr sz="2250" b="1">
                <a:solidFill>
                  <a:srgbClr val="6558F5"/>
                </a:solidFill>
                <a:latin typeface="Helvetica Neue"/>
                <a:ea typeface="Helvetica Neue"/>
                <a:cs typeface="Helvetica Neue"/>
              </a:rPr>
              <a:t>THE COMPUTER</a:t>
            </a:r>
          </a:p>
        </p:txBody>
      </p:sp>
      <p:sp>
        <p:nvSpPr>
          <p:cNvPr id="4" name="">
            <a:extLst xmlns:a="http://schemas.openxmlformats.org/drawingml/2006/main">
              <a:ext uri="{FF2B5EF4-FFF2-40B4-BE49-F238E27FC236}">
                <a16:creationId xmlns:a16="http://schemas.microsoft.com/office/drawing/2014/main" id="{A71501C8-7D54-48D2-8D9F-89DF8B244102}"/>
              </a:ext>
            </a:extLst>
          </p:cNvPr>
          <p:cNvSpPr>
            <a:spLocks xmlns:a="http://schemas.openxmlformats.org/drawingml/2006/main" noGrp="1"/>
          </p:cNvSpPr>
          <p:nvPr/>
        </p:nvSpPr>
        <p:spPr>
          <a:xfrm xmlns:a="http://schemas.openxmlformats.org/drawingml/2006/main">
            <a:off x="762000" y="21812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716C"/>
                </a:solidFill>
                <a:latin typeface="Helvetica Neue"/>
                <a:ea typeface="Helvetica Neue"/>
                <a:cs typeface="Helvetica Neue"/>
              </a:defRPr>
            </a:pPr>
            <a:r>
              <a:rPr sz="1500" b="0">
                <a:solidFill>
                  <a:srgbClr val="74716C"/>
                </a:solidFill>
                <a:latin typeface="Helvetica Neue"/>
                <a:ea typeface="Helvetica Neue"/>
                <a:cs typeface="Helvetica Neue"/>
              </a:rPr>
              <a:t>Someone bought it</a:t>
            </a:r>
          </a:p>
        </p:txBody>
      </p:sp>
      <p:sp>
        <p:nvSpPr>
          <p:cNvPr id="5" name="">
            <a:extLst xmlns:a="http://schemas.openxmlformats.org/drawingml/2006/main">
              <a:ext uri="{FF2B5EF4-FFF2-40B4-BE49-F238E27FC236}">
                <a16:creationId xmlns:a16="http://schemas.microsoft.com/office/drawing/2014/main" id="{CA1285E6-398E-4A75-957F-0567DA2B10D3}"/>
              </a:ext>
            </a:extLst>
          </p:cNvPr>
          <p:cNvSpPr>
            <a:spLocks xmlns:a="http://schemas.openxmlformats.org/drawingml/2006/main" noGrp="1"/>
          </p:cNvSpPr>
          <p:nvPr/>
        </p:nvSpPr>
        <p:spPr>
          <a:xfrm xmlns:a="http://schemas.openxmlformats.org/drawingml/2006/main">
            <a:off x="762000" y="29718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C96E42"/>
                </a:solidFill>
                <a:latin typeface="Helvetica Neue"/>
                <a:ea typeface="Helvetica Neue"/>
                <a:cs typeface="Helvetica Neue"/>
              </a:defRPr>
            </a:pPr>
            <a:r>
              <a:rPr sz="2250" b="1">
                <a:solidFill>
                  <a:srgbClr val="C96E42"/>
                </a:solidFill>
                <a:latin typeface="Helvetica Neue"/>
                <a:ea typeface="Helvetica Neue"/>
                <a:cs typeface="Helvetica Neue"/>
              </a:rPr>
              <a:t>ELECTRICITY</a:t>
            </a:r>
          </a:p>
        </p:txBody>
      </p:sp>
      <p:sp>
        <p:nvSpPr>
          <p:cNvPr id="6" name="">
            <a:extLst xmlns:a="http://schemas.openxmlformats.org/drawingml/2006/main">
              <a:ext uri="{FF2B5EF4-FFF2-40B4-BE49-F238E27FC236}">
                <a16:creationId xmlns:a16="http://schemas.microsoft.com/office/drawing/2014/main" id="{87908B72-AE70-45B8-8511-8AF1A5B5EF1D}"/>
              </a:ext>
            </a:extLst>
          </p:cNvPr>
          <p:cNvSpPr>
            <a:spLocks xmlns:a="http://schemas.openxmlformats.org/drawingml/2006/main" noGrp="1"/>
          </p:cNvSpPr>
          <p:nvPr/>
        </p:nvSpPr>
        <p:spPr>
          <a:xfrm xmlns:a="http://schemas.openxmlformats.org/drawingml/2006/main">
            <a:off x="762000" y="345757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716C"/>
                </a:solidFill>
                <a:latin typeface="Helvetica Neue"/>
                <a:ea typeface="Helvetica Neue"/>
                <a:cs typeface="Helvetica Neue"/>
              </a:defRPr>
            </a:pPr>
            <a:r>
              <a:rPr sz="1500" b="0">
                <a:solidFill>
                  <a:srgbClr val="74716C"/>
                </a:solidFill>
                <a:latin typeface="Helvetica Neue"/>
                <a:ea typeface="Helvetica Neue"/>
                <a:cs typeface="Helvetica Neue"/>
              </a:rPr>
              <a:t>Every answer still uses power</a:t>
            </a:r>
          </a:p>
        </p:txBody>
      </p:sp>
      <p:sp>
        <p:nvSpPr>
          <p:cNvPr id="7" name="">
            <a:extLst xmlns:a="http://schemas.openxmlformats.org/drawingml/2006/main">
              <a:ext uri="{FF2B5EF4-FFF2-40B4-BE49-F238E27FC236}">
                <a16:creationId xmlns:a16="http://schemas.microsoft.com/office/drawing/2014/main" id="{8E817EDA-9B15-4A50-A965-F458DB7A2B8D}"/>
              </a:ext>
            </a:extLst>
          </p:cNvPr>
          <p:cNvSpPr>
            <a:spLocks xmlns:a="http://schemas.openxmlformats.org/drawingml/2006/main" noGrp="1"/>
          </p:cNvSpPr>
          <p:nvPr/>
        </p:nvSpPr>
        <p:spPr>
          <a:xfrm xmlns:a="http://schemas.openxmlformats.org/drawingml/2006/main">
            <a:off x="762000" y="424815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248D73"/>
                </a:solidFill>
                <a:latin typeface="Helvetica Neue"/>
                <a:ea typeface="Helvetica Neue"/>
                <a:cs typeface="Helvetica Neue"/>
              </a:defRPr>
            </a:pPr>
            <a:r>
              <a:rPr sz="2250" b="1">
                <a:solidFill>
                  <a:srgbClr val="248D73"/>
                </a:solidFill>
                <a:latin typeface="Helvetica Neue"/>
                <a:ea typeface="Helvetica Neue"/>
                <a:cs typeface="Helvetica Neue"/>
              </a:rPr>
              <a:t>UPDATES AND TIME</a:t>
            </a:r>
          </a:p>
        </p:txBody>
      </p:sp>
      <p:sp>
        <p:nvSpPr>
          <p:cNvPr id="8" name="">
            <a:extLst xmlns:a="http://schemas.openxmlformats.org/drawingml/2006/main">
              <a:ext uri="{FF2B5EF4-FFF2-40B4-BE49-F238E27FC236}">
                <a16:creationId xmlns:a16="http://schemas.microsoft.com/office/drawing/2014/main" id="{EF69D4A4-9EE0-4B50-B01B-646D8845AC9B}"/>
              </a:ext>
            </a:extLst>
          </p:cNvPr>
          <p:cNvSpPr>
            <a:spLocks xmlns:a="http://schemas.openxmlformats.org/drawingml/2006/main" noGrp="1"/>
          </p:cNvSpPr>
          <p:nvPr/>
        </p:nvSpPr>
        <p:spPr>
          <a:xfrm xmlns:a="http://schemas.openxmlformats.org/drawingml/2006/main">
            <a:off x="762000" y="47339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716C"/>
                </a:solidFill>
                <a:latin typeface="Helvetica Neue"/>
                <a:ea typeface="Helvetica Neue"/>
                <a:cs typeface="Helvetica Neue"/>
              </a:defRPr>
            </a:pPr>
            <a:r>
              <a:rPr sz="1500" b="0">
                <a:solidFill>
                  <a:srgbClr val="74716C"/>
                </a:solidFill>
                <a:latin typeface="Helvetica Neue"/>
                <a:ea typeface="Helvetica Neue"/>
                <a:cs typeface="Helvetica Neue"/>
              </a:rPr>
              <a:t>Someone keeps it working</a:t>
            </a:r>
          </a:p>
        </p:txBody>
      </p:sp>
      <p:sp>
        <p:nvSpPr>
          <p:cNvPr id="9" name="">
            <a:extLst xmlns:a="http://schemas.openxmlformats.org/drawingml/2006/main">
              <a:ext uri="{FF2B5EF4-FFF2-40B4-BE49-F238E27FC236}">
                <a16:creationId xmlns:a16="http://schemas.microsoft.com/office/drawing/2014/main" id="{78B41B49-B52E-4E67-8317-BA05A069B8F3}"/>
              </a:ext>
            </a:extLst>
          </p:cNvPr>
          <p:cNvSpPr>
            <a:spLocks xmlns:a="http://schemas.openxmlformats.org/drawingml/2006/main" noGrp="1"/>
          </p:cNvSpPr>
          <p:nvPr/>
        </p:nvSpPr>
        <p:spPr>
          <a:xfrm xmlns:a="http://schemas.openxmlformats.org/drawingml/2006/main">
            <a:off x="5924550" y="1571625"/>
            <a:ext cx="0" cy="3762375"/>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10" name="">
            <a:extLst xmlns:a="http://schemas.openxmlformats.org/drawingml/2006/main">
              <a:ext uri="{FF2B5EF4-FFF2-40B4-BE49-F238E27FC236}">
                <a16:creationId xmlns:a16="http://schemas.microsoft.com/office/drawing/2014/main" id="{1A6E4C0A-66D4-4C8C-97E6-D735B28185D5}"/>
              </a:ext>
            </a:extLst>
          </p:cNvPr>
          <p:cNvSpPr>
            <a:spLocks xmlns:a="http://schemas.openxmlformats.org/drawingml/2006/main" noGrp="1"/>
          </p:cNvSpPr>
          <p:nvPr/>
        </p:nvSpPr>
        <p:spPr>
          <a:xfrm xmlns:a="http://schemas.openxmlformats.org/drawingml/2006/main">
            <a:off x="6667500" y="2333625"/>
            <a:ext cx="4095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600" b="1">
                <a:solidFill>
                  <a:srgbClr val="101114"/>
                </a:solidFill>
                <a:latin typeface="Helvetica Neue"/>
                <a:ea typeface="Helvetica Neue"/>
                <a:cs typeface="Helvetica Neue"/>
              </a:defRPr>
            </a:pPr>
            <a:r>
              <a:rPr sz="3600" b="1">
                <a:solidFill>
                  <a:srgbClr val="101114"/>
                </a:solidFill>
                <a:latin typeface="Helvetica Neue"/>
                <a:ea typeface="Helvetica Neue"/>
                <a:cs typeface="Helvetica Neue"/>
              </a:rPr>
              <a:t>The price moves.</a:t>
            </a:r>
          </a:p>
          <a:p xmlns:a="http://schemas.openxmlformats.org/drawingml/2006/main">
            <a:pPr algn="l">
              <a:lnSpc>
                <a:spcPct val="102000"/>
              </a:lnSpc>
              <a:buNone/>
              <a:defRPr sz="3600" b="1">
                <a:solidFill>
                  <a:srgbClr val="101114"/>
                </a:solidFill>
                <a:latin typeface="Helvetica Neue"/>
                <a:ea typeface="Helvetica Neue"/>
                <a:cs typeface="Helvetica Neue"/>
              </a:defRPr>
            </a:pPr>
            <a:r>
              <a:rPr sz="3600" b="1">
                <a:solidFill>
                  <a:srgbClr val="101114"/>
                </a:solidFill>
                <a:latin typeface="Helvetica Neue"/>
                <a:ea typeface="Helvetica Neue"/>
                <a:cs typeface="Helvetica Neue"/>
              </a:rPr>
              <a:t>It does not vanish.</a:t>
            </a:r>
          </a:p>
        </p:txBody>
      </p:sp>
    </p:spTree>
    <p:extLst>
      <p:ext uri="{BB962C8B-B14F-4D97-AF65-F5344CB8AC3E}">
        <p14:creationId xmlns:p14="http://schemas.microsoft.com/office/powerpoint/2010/main" val="1897778854"/>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D0636A-C0A3-486D-905C-090C2DF14ED5}"/>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Local is not always better</a:t>
            </a:r>
          </a:p>
        </p:txBody>
      </p:sp>
      <p:sp>
        <p:nvSpPr>
          <p:cNvPr id="2" name="">
            <a:extLst xmlns:a="http://schemas.openxmlformats.org/drawingml/2006/main">
              <a:ext uri="{FF2B5EF4-FFF2-40B4-BE49-F238E27FC236}">
                <a16:creationId xmlns:a16="http://schemas.microsoft.com/office/drawing/2014/main" id="{36E72FF8-0509-4173-8B58-B2AB6909F340}"/>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353E480-FCD7-45FB-A6EE-0D6BEAF366A6}"/>
              </a:ext>
            </a:extLst>
          </p:cNvPr>
          <p:cNvSpPr>
            <a:spLocks xmlns:a="http://schemas.openxmlformats.org/drawingml/2006/main" noGrp="1"/>
          </p:cNvSpPr>
          <p:nvPr/>
        </p:nvSpPr>
        <p:spPr>
          <a:xfrm xmlns:a="http://schemas.openxmlformats.org/drawingml/2006/main">
            <a:off x="857250" y="161925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a:solidFill>
                  <a:srgbClr val="6558F5"/>
                </a:solidFill>
                <a:latin typeface="Helvetica Neue"/>
                <a:ea typeface="Helvetica Neue"/>
                <a:cs typeface="Helvetica Neue"/>
              </a:defRPr>
            </a:pPr>
            <a:r>
              <a:rPr sz="3225" b="1">
                <a:solidFill>
                  <a:srgbClr val="6558F5"/>
                </a:solidFill>
                <a:latin typeface="Helvetica Neue"/>
                <a:ea typeface="Helvetica Neue"/>
                <a:cs typeface="Helvetica Neue"/>
              </a:rPr>
              <a:t>LOCAL</a:t>
            </a:r>
          </a:p>
        </p:txBody>
      </p:sp>
      <p:sp>
        <p:nvSpPr>
          <p:cNvPr id="4" name="">
            <a:extLst xmlns:a="http://schemas.openxmlformats.org/drawingml/2006/main">
              <a:ext uri="{FF2B5EF4-FFF2-40B4-BE49-F238E27FC236}">
                <a16:creationId xmlns:a16="http://schemas.microsoft.com/office/drawing/2014/main" id="{9E9DA3E5-E273-42E5-B0C4-43D265F688BE}"/>
              </a:ext>
            </a:extLst>
          </p:cNvPr>
          <p:cNvSpPr>
            <a:spLocks xmlns:a="http://schemas.openxmlformats.org/drawingml/2006/main" noGrp="1"/>
          </p:cNvSpPr>
          <p:nvPr/>
        </p:nvSpPr>
        <p:spPr>
          <a:xfrm xmlns:a="http://schemas.openxmlformats.org/drawingml/2006/main">
            <a:off x="857250" y="247650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Better for private files</a:t>
            </a:r>
          </a:p>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Useful without Wi-Fi</a:t>
            </a:r>
          </a:p>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Good for repeated everyday work</a:t>
            </a:r>
          </a:p>
        </p:txBody>
      </p:sp>
      <p:sp>
        <p:nvSpPr>
          <p:cNvPr id="5" name="">
            <a:extLst xmlns:a="http://schemas.openxmlformats.org/drawingml/2006/main">
              <a:ext uri="{FF2B5EF4-FFF2-40B4-BE49-F238E27FC236}">
                <a16:creationId xmlns:a16="http://schemas.microsoft.com/office/drawing/2014/main" id="{56E50D5E-1733-4F77-9964-FB6DB34232FA}"/>
              </a:ext>
            </a:extLst>
          </p:cNvPr>
          <p:cNvSpPr>
            <a:spLocks xmlns:a="http://schemas.openxmlformats.org/drawingml/2006/main" noGrp="1"/>
          </p:cNvSpPr>
          <p:nvPr/>
        </p:nvSpPr>
        <p:spPr>
          <a:xfrm xmlns:a="http://schemas.openxmlformats.org/drawingml/2006/main">
            <a:off x="6048375" y="1524000"/>
            <a:ext cx="0" cy="371475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6" name="">
            <a:extLst xmlns:a="http://schemas.openxmlformats.org/drawingml/2006/main">
              <a:ext uri="{FF2B5EF4-FFF2-40B4-BE49-F238E27FC236}">
                <a16:creationId xmlns:a16="http://schemas.microsoft.com/office/drawing/2014/main" id="{7F6FC7FC-CB05-48F5-93B3-CC82A40C0C8D}"/>
              </a:ext>
            </a:extLst>
          </p:cNvPr>
          <p:cNvSpPr>
            <a:spLocks xmlns:a="http://schemas.openxmlformats.org/drawingml/2006/main" noGrp="1"/>
          </p:cNvSpPr>
          <p:nvPr/>
        </p:nvSpPr>
        <p:spPr>
          <a:xfrm xmlns:a="http://schemas.openxmlformats.org/drawingml/2006/main">
            <a:off x="6858000" y="161925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a:solidFill>
                  <a:srgbClr val="C96E42"/>
                </a:solidFill>
                <a:latin typeface="Helvetica Neue"/>
                <a:ea typeface="Helvetica Neue"/>
                <a:cs typeface="Helvetica Neue"/>
              </a:defRPr>
            </a:pPr>
            <a:r>
              <a:rPr sz="3225" b="1">
                <a:solidFill>
                  <a:srgbClr val="C96E42"/>
                </a:solidFill>
                <a:latin typeface="Helvetica Neue"/>
                <a:ea typeface="Helvetica Neue"/>
                <a:cs typeface="Helvetica Neue"/>
              </a:rPr>
              <a:t>CLOUD</a:t>
            </a:r>
          </a:p>
        </p:txBody>
      </p:sp>
      <p:sp>
        <p:nvSpPr>
          <p:cNvPr id="7" name="">
            <a:extLst xmlns:a="http://schemas.openxmlformats.org/drawingml/2006/main">
              <a:ext uri="{FF2B5EF4-FFF2-40B4-BE49-F238E27FC236}">
                <a16:creationId xmlns:a16="http://schemas.microsoft.com/office/drawing/2014/main" id="{0C330C24-88D5-4037-BC71-41D33E7F3458}"/>
              </a:ext>
            </a:extLst>
          </p:cNvPr>
          <p:cNvSpPr>
            <a:spLocks xmlns:a="http://schemas.openxmlformats.org/drawingml/2006/main" noGrp="1"/>
          </p:cNvSpPr>
          <p:nvPr/>
        </p:nvSpPr>
        <p:spPr>
          <a:xfrm xmlns:a="http://schemas.openxmlformats.org/drawingml/2006/main">
            <a:off x="6858000" y="2476500"/>
            <a:ext cx="4286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Stronger on difficult questions</a:t>
            </a:r>
          </a:p>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Easier to keep up to date</a:t>
            </a:r>
          </a:p>
          <a:p xmlns:a="http://schemas.openxmlformats.org/drawingml/2006/main">
            <a:pPr algn="l">
              <a:lnSpc>
                <a:spcPct val="128000"/>
              </a:lnSpc>
              <a:buNone/>
              <a:defRPr sz="1950" b="0">
                <a:solidFill>
                  <a:srgbClr val="101114"/>
                </a:solidFill>
                <a:latin typeface="Helvetica Neue"/>
                <a:ea typeface="Helvetica Neue"/>
                <a:cs typeface="Helvetica Neue"/>
              </a:defRPr>
            </a:pPr>
            <a:r>
              <a:rPr sz="1950" b="0">
                <a:solidFill>
                  <a:srgbClr val="101114"/>
                </a:solidFill>
                <a:latin typeface="Helvetica Neue"/>
                <a:ea typeface="Helvetica Neue"/>
                <a:cs typeface="Helvetica Neue"/>
              </a:rPr>
              <a:t>Ready for many users at once</a:t>
            </a:r>
          </a:p>
        </p:txBody>
      </p:sp>
      <p:sp>
        <p:nvSpPr>
          <p:cNvPr id="8" name="">
            <a:extLst xmlns:a="http://schemas.openxmlformats.org/drawingml/2006/main">
              <a:ext uri="{FF2B5EF4-FFF2-40B4-BE49-F238E27FC236}">
                <a16:creationId xmlns:a16="http://schemas.microsoft.com/office/drawing/2014/main" id="{394632DF-2346-4697-A789-9F9A05FB4615}"/>
              </a:ext>
            </a:extLst>
          </p:cNvPr>
          <p:cNvSpPr>
            <a:spLocks xmlns:a="http://schemas.openxmlformats.org/drawingml/2006/main" noGrp="1"/>
          </p:cNvSpPr>
          <p:nvPr/>
        </p:nvSpPr>
        <p:spPr>
          <a:xfrm xmlns:a="http://schemas.openxmlformats.org/drawingml/2006/main">
            <a:off x="2476500" y="56388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101114"/>
                </a:solidFill>
                <a:latin typeface="Helvetica Neue"/>
                <a:ea typeface="Helvetica Neue"/>
                <a:cs typeface="Helvetica Neue"/>
              </a:defRPr>
            </a:pPr>
            <a:r>
              <a:rPr sz="1875" b="1">
                <a:solidFill>
                  <a:srgbClr val="101114"/>
                </a:solidFill>
                <a:latin typeface="Helvetica Neue"/>
                <a:ea typeface="Helvetica Neue"/>
                <a:cs typeface="Helvetica Neue"/>
              </a:rPr>
              <a:t>The right choice depends on the job.</a:t>
            </a:r>
          </a:p>
        </p:txBody>
      </p:sp>
    </p:spTree>
    <p:extLst>
      <p:ext uri="{BB962C8B-B14F-4D97-AF65-F5344CB8AC3E}">
        <p14:creationId xmlns:p14="http://schemas.microsoft.com/office/powerpoint/2010/main" val="1696141679"/>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A6281A-409E-4152-B384-5B7D557B85C1}"/>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Privacy has an asterisk</a:t>
            </a:r>
          </a:p>
        </p:txBody>
      </p:sp>
      <p:sp>
        <p:nvSpPr>
          <p:cNvPr id="2" name="">
            <a:extLst xmlns:a="http://schemas.openxmlformats.org/drawingml/2006/main">
              <a:ext uri="{FF2B5EF4-FFF2-40B4-BE49-F238E27FC236}">
                <a16:creationId xmlns:a16="http://schemas.microsoft.com/office/drawing/2014/main" id="{3DC60443-1B1D-4EFF-B115-595FA2457A98}"/>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6A96A625-5F9F-44A7-A29A-F991A64EE696}"/>
              </a:ext>
            </a:extLst>
          </p:cNvPr>
          <p:cNvSpPr>
            <a:spLocks xmlns:a="http://schemas.openxmlformats.org/drawingml/2006/main" noGrp="1"/>
          </p:cNvSpPr>
          <p:nvPr/>
        </p:nvSpPr>
        <p:spPr>
          <a:xfrm xmlns:a="http://schemas.openxmlformats.org/drawingml/2006/main">
            <a:off x="742950" y="1447800"/>
            <a:ext cx="285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0" b="1">
                <a:solidFill>
                  <a:srgbClr val="6558F5"/>
                </a:solidFill>
                <a:latin typeface="Helvetica Neue"/>
                <a:ea typeface="Helvetica Neue"/>
                <a:cs typeface="Helvetica Neue"/>
              </a:defRPr>
            </a:pPr>
            <a:r>
              <a:rPr sz="18750" b="1">
                <a:solidFill>
                  <a:srgbClr val="6558F5"/>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84104337-5ABE-4982-AF9B-2F93FC416B93}"/>
              </a:ext>
            </a:extLst>
          </p:cNvPr>
          <p:cNvSpPr>
            <a:spLocks xmlns:a="http://schemas.openxmlformats.org/drawingml/2006/main" noGrp="1"/>
          </p:cNvSpPr>
          <p:nvPr/>
        </p:nvSpPr>
        <p:spPr>
          <a:xfrm xmlns:a="http://schemas.openxmlformats.org/drawingml/2006/main">
            <a:off x="3905250" y="16954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86"/>
          </a:bodyPr>
          <a:lstStyle xmlns:a="http://schemas.openxmlformats.org/drawingml/2006/main"/>
          <a:p xmlns:a="http://schemas.openxmlformats.org/drawingml/2006/main">
            <a:pPr algn="l">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A local model can still send information out through:</a:t>
            </a:r>
          </a:p>
        </p:txBody>
      </p:sp>
      <p:sp>
        <p:nvSpPr>
          <p:cNvPr id="5" name="">
            <a:extLst xmlns:a="http://schemas.openxmlformats.org/drawingml/2006/main">
              <a:ext uri="{FF2B5EF4-FFF2-40B4-BE49-F238E27FC236}">
                <a16:creationId xmlns:a16="http://schemas.microsoft.com/office/drawing/2014/main" id="{27523094-0E45-4A40-A747-D677E8CA0459}"/>
              </a:ext>
            </a:extLst>
          </p:cNvPr>
          <p:cNvSpPr>
            <a:spLocks xmlns:a="http://schemas.openxmlformats.org/drawingml/2006/main" noGrp="1"/>
          </p:cNvSpPr>
          <p:nvPr/>
        </p:nvSpPr>
        <p:spPr>
          <a:xfrm xmlns:a="http://schemas.openxmlformats.org/drawingml/2006/main">
            <a:off x="3905250" y="29527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0">
                <a:solidFill>
                  <a:srgbClr val="101114"/>
                </a:solidFill>
                <a:latin typeface="Helvetica Neue"/>
                <a:ea typeface="Helvetica Neue"/>
                <a:cs typeface="Helvetica Neue"/>
              </a:defRPr>
            </a:pPr>
            <a:r>
              <a:rPr sz="2175" b="0">
                <a:solidFill>
                  <a:srgbClr val="101114"/>
                </a:solidFill>
                <a:latin typeface="Helvetica Neue"/>
                <a:ea typeface="Helvetica Neue"/>
                <a:cs typeface="Helvetica Neue"/>
              </a:rPr>
              <a:t>Plugins and connected tools</a:t>
            </a:r>
          </a:p>
        </p:txBody>
      </p:sp>
      <p:sp>
        <p:nvSpPr>
          <p:cNvPr id="6" name="">
            <a:extLst xmlns:a="http://schemas.openxmlformats.org/drawingml/2006/main">
              <a:ext uri="{FF2B5EF4-FFF2-40B4-BE49-F238E27FC236}">
                <a16:creationId xmlns:a16="http://schemas.microsoft.com/office/drawing/2014/main" id="{BD4959FE-4993-449A-A734-66D025E76145}"/>
              </a:ext>
            </a:extLst>
          </p:cNvPr>
          <p:cNvSpPr>
            <a:spLocks xmlns:a="http://schemas.openxmlformats.org/drawingml/2006/main" noGrp="1"/>
          </p:cNvSpPr>
          <p:nvPr/>
        </p:nvSpPr>
        <p:spPr>
          <a:xfrm xmlns:a="http://schemas.openxmlformats.org/drawingml/2006/main">
            <a:off x="3905250" y="3505200"/>
            <a:ext cx="5905500" cy="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7" name="">
            <a:extLst xmlns:a="http://schemas.openxmlformats.org/drawingml/2006/main">
              <a:ext uri="{FF2B5EF4-FFF2-40B4-BE49-F238E27FC236}">
                <a16:creationId xmlns:a16="http://schemas.microsoft.com/office/drawing/2014/main" id="{27A2E5B0-4192-448A-83CD-A6FD683A8E5C}"/>
              </a:ext>
            </a:extLst>
          </p:cNvPr>
          <p:cNvSpPr>
            <a:spLocks xmlns:a="http://schemas.openxmlformats.org/drawingml/2006/main" noGrp="1"/>
          </p:cNvSpPr>
          <p:nvPr/>
        </p:nvSpPr>
        <p:spPr>
          <a:xfrm xmlns:a="http://schemas.openxmlformats.org/drawingml/2006/main">
            <a:off x="3905250" y="3762375"/>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0">
                <a:solidFill>
                  <a:srgbClr val="101114"/>
                </a:solidFill>
                <a:latin typeface="Helvetica Neue"/>
                <a:ea typeface="Helvetica Neue"/>
                <a:cs typeface="Helvetica Neue"/>
              </a:defRPr>
            </a:pPr>
            <a:r>
              <a:rPr sz="2175" b="0">
                <a:solidFill>
                  <a:srgbClr val="101114"/>
                </a:solidFill>
                <a:latin typeface="Helvetica Neue"/>
                <a:ea typeface="Helvetica Neue"/>
                <a:cs typeface="Helvetica Neue"/>
              </a:rPr>
              <a:t>Cloud backups</a:t>
            </a:r>
          </a:p>
        </p:txBody>
      </p:sp>
      <p:sp>
        <p:nvSpPr>
          <p:cNvPr id="8" name="">
            <a:extLst xmlns:a="http://schemas.openxmlformats.org/drawingml/2006/main">
              <a:ext uri="{FF2B5EF4-FFF2-40B4-BE49-F238E27FC236}">
                <a16:creationId xmlns:a16="http://schemas.microsoft.com/office/drawing/2014/main" id="{0010A385-0377-4CF8-AEB4-A61112BD9CFE}"/>
              </a:ext>
            </a:extLst>
          </p:cNvPr>
          <p:cNvSpPr>
            <a:spLocks xmlns:a="http://schemas.openxmlformats.org/drawingml/2006/main" noGrp="1"/>
          </p:cNvSpPr>
          <p:nvPr/>
        </p:nvSpPr>
        <p:spPr>
          <a:xfrm xmlns:a="http://schemas.openxmlformats.org/drawingml/2006/main">
            <a:off x="3905250" y="4314825"/>
            <a:ext cx="5905500" cy="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9" name="">
            <a:extLst xmlns:a="http://schemas.openxmlformats.org/drawingml/2006/main">
              <a:ext uri="{FF2B5EF4-FFF2-40B4-BE49-F238E27FC236}">
                <a16:creationId xmlns:a16="http://schemas.microsoft.com/office/drawing/2014/main" id="{A0D00B36-E10A-4E53-AFEE-305BA89A783B}"/>
              </a:ext>
            </a:extLst>
          </p:cNvPr>
          <p:cNvSpPr>
            <a:spLocks xmlns:a="http://schemas.openxmlformats.org/drawingml/2006/main" noGrp="1"/>
          </p:cNvSpPr>
          <p:nvPr/>
        </p:nvSpPr>
        <p:spPr>
          <a:xfrm xmlns:a="http://schemas.openxmlformats.org/drawingml/2006/main">
            <a:off x="3905250" y="45720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0">
                <a:solidFill>
                  <a:srgbClr val="101114"/>
                </a:solidFill>
                <a:latin typeface="Helvetica Neue"/>
                <a:ea typeface="Helvetica Neue"/>
                <a:cs typeface="Helvetica Neue"/>
              </a:defRPr>
            </a:pPr>
            <a:r>
              <a:rPr sz="2175" b="0">
                <a:solidFill>
                  <a:srgbClr val="101114"/>
                </a:solidFill>
                <a:latin typeface="Helvetica Neue"/>
                <a:ea typeface="Helvetica Neue"/>
                <a:cs typeface="Helvetica Neue"/>
              </a:rPr>
              <a:t>Saved logs and history</a:t>
            </a:r>
          </a:p>
        </p:txBody>
      </p:sp>
      <p:sp>
        <p:nvSpPr>
          <p:cNvPr id="10" name="">
            <a:extLst xmlns:a="http://schemas.openxmlformats.org/drawingml/2006/main">
              <a:ext uri="{FF2B5EF4-FFF2-40B4-BE49-F238E27FC236}">
                <a16:creationId xmlns:a16="http://schemas.microsoft.com/office/drawing/2014/main" id="{EDD111EF-7BF3-4A0A-98CD-DCBE0A1ED640}"/>
              </a:ext>
            </a:extLst>
          </p:cNvPr>
          <p:cNvSpPr>
            <a:spLocks xmlns:a="http://schemas.openxmlformats.org/drawingml/2006/main" noGrp="1"/>
          </p:cNvSpPr>
          <p:nvPr/>
        </p:nvSpPr>
        <p:spPr>
          <a:xfrm xmlns:a="http://schemas.openxmlformats.org/drawingml/2006/main">
            <a:off x="2305050" y="57912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a:solidFill>
                  <a:srgbClr val="74716C"/>
                </a:solidFill>
                <a:latin typeface="Helvetica Neue"/>
                <a:ea typeface="Helvetica Neue"/>
                <a:cs typeface="Helvetica Neue"/>
              </a:defRPr>
            </a:pPr>
            <a:r>
              <a:rPr sz="1575" b="0">
                <a:solidFill>
                  <a:srgbClr val="74716C"/>
                </a:solidFill>
                <a:latin typeface="Helvetica Neue"/>
                <a:ea typeface="Helvetica Neue"/>
                <a:cs typeface="Helvetica Neue"/>
              </a:rPr>
              <a:t>Local helps privacy, but settings and habits still matter.</a:t>
            </a:r>
          </a:p>
        </p:txBody>
      </p:sp>
    </p:spTree>
    <p:extLst>
      <p:ext uri="{BB962C8B-B14F-4D97-AF65-F5344CB8AC3E}">
        <p14:creationId xmlns:p14="http://schemas.microsoft.com/office/powerpoint/2010/main" val="304907020"/>
      </p:ext>
    </p:extLst>
  </p:cSld>
</p:sld>
</file>

<file path=ppt/slides/slide11.xml><?xml version="1.0" encoding="utf-8"?>
<p:sld xmlns:p="http://schemas.openxmlformats.org/presentationml/2006/main">
  <p:cSld>
    <p:bg>
      <p:bgPr>
        <a:solidFill xmlns:a="http://schemas.openxmlformats.org/drawingml/2006/main">
          <a:srgbClr val="1011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05969EF-D3FC-4E93-A067-72AAB49ABC1A}"/>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The bad side</a:t>
            </a:r>
          </a:p>
        </p:txBody>
      </p:sp>
      <p:sp>
        <p:nvSpPr>
          <p:cNvPr id="2" name="">
            <a:extLst xmlns:a="http://schemas.openxmlformats.org/drawingml/2006/main">
              <a:ext uri="{FF2B5EF4-FFF2-40B4-BE49-F238E27FC236}">
                <a16:creationId xmlns:a16="http://schemas.microsoft.com/office/drawing/2014/main" id="{D640DCD0-C3B6-4750-8B60-1E6BEE255590}"/>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C19BC898-E93E-4D66-A785-1B1114B34BA3}"/>
              </a:ext>
            </a:extLst>
          </p:cNvPr>
          <p:cNvSpPr>
            <a:spLocks xmlns:a="http://schemas.openxmlformats.org/drawingml/2006/main" noGrp="1"/>
          </p:cNvSpPr>
          <p:nvPr/>
        </p:nvSpPr>
        <p:spPr>
          <a:xfrm xmlns:a="http://schemas.openxmlformats.org/drawingml/2006/main">
            <a:off x="742950" y="1619250"/>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D65757"/>
                </a:solidFill>
                <a:latin typeface="Helvetica Neue"/>
                <a:ea typeface="Helvetica Neue"/>
                <a:cs typeface="Helvetica Neue"/>
              </a:defRPr>
            </a:pPr>
            <a:r>
              <a:rPr sz="2850" b="1">
                <a:solidFill>
                  <a:srgbClr val="D65757"/>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C2C7137-B11B-42B5-AC63-C01F7E7FA352}"/>
              </a:ext>
            </a:extLst>
          </p:cNvPr>
          <p:cNvSpPr>
            <a:spLocks xmlns:a="http://schemas.openxmlformats.org/drawingml/2006/main" noGrp="1"/>
          </p:cNvSpPr>
          <p:nvPr/>
        </p:nvSpPr>
        <p:spPr>
          <a:xfrm xmlns:a="http://schemas.openxmlformats.org/drawingml/2006/main">
            <a:off x="1771650" y="16383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Spam and scams become cheaper to produce</a:t>
            </a:r>
          </a:p>
        </p:txBody>
      </p:sp>
      <p:sp>
        <p:nvSpPr>
          <p:cNvPr id="5" name="">
            <a:extLst xmlns:a="http://schemas.openxmlformats.org/drawingml/2006/main">
              <a:ext uri="{FF2B5EF4-FFF2-40B4-BE49-F238E27FC236}">
                <a16:creationId xmlns:a16="http://schemas.microsoft.com/office/drawing/2014/main" id="{88C46256-5EAC-49C2-BB18-13E5EBD4CF5A}"/>
              </a:ext>
            </a:extLst>
          </p:cNvPr>
          <p:cNvSpPr>
            <a:spLocks xmlns:a="http://schemas.openxmlformats.org/drawingml/2006/main" noGrp="1"/>
          </p:cNvSpPr>
          <p:nvPr/>
        </p:nvSpPr>
        <p:spPr>
          <a:xfrm xmlns:a="http://schemas.openxmlformats.org/drawingml/2006/main">
            <a:off x="742950" y="2476500"/>
            <a:ext cx="10096500" cy="0"/>
          </a:xfrm>
          <a:prstGeom xmlns:a="http://schemas.openxmlformats.org/drawingml/2006/main" prst="line">
            <a:avLst/>
          </a:prstGeom>
          <a:noFill xmlns:a="http://schemas.openxmlformats.org/drawingml/2006/main"/>
          <a:ln xmlns:a="http://schemas.openxmlformats.org/drawingml/2006/main" w="19050">
            <a:solidFill>
              <a:srgbClr val="393A42"/>
            </a:solidFill>
            <a:prstDash val="solid"/>
          </a:ln>
        </p:spPr>
      </p:sp>
      <p:sp>
        <p:nvSpPr>
          <p:cNvPr id="6" name="">
            <a:extLst xmlns:a="http://schemas.openxmlformats.org/drawingml/2006/main">
              <a:ext uri="{FF2B5EF4-FFF2-40B4-BE49-F238E27FC236}">
                <a16:creationId xmlns:a16="http://schemas.microsoft.com/office/drawing/2014/main" id="{B2AECAFC-7580-45C7-ABE3-9BB6612310D6}"/>
              </a:ext>
            </a:extLst>
          </p:cNvPr>
          <p:cNvSpPr>
            <a:spLocks xmlns:a="http://schemas.openxmlformats.org/drawingml/2006/main" noGrp="1"/>
          </p:cNvSpPr>
          <p:nvPr/>
        </p:nvSpPr>
        <p:spPr>
          <a:xfrm xmlns:a="http://schemas.openxmlformats.org/drawingml/2006/main">
            <a:off x="742950" y="2924175"/>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C96E42"/>
                </a:solidFill>
                <a:latin typeface="Helvetica Neue"/>
                <a:ea typeface="Helvetica Neue"/>
                <a:cs typeface="Helvetica Neue"/>
              </a:defRPr>
            </a:pPr>
            <a:r>
              <a:rPr sz="2850" b="1">
                <a:solidFill>
                  <a:srgbClr val="C96E4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1D5751D9-D6DD-42EB-87AE-95E0D75CE229}"/>
              </a:ext>
            </a:extLst>
          </p:cNvPr>
          <p:cNvSpPr>
            <a:spLocks xmlns:a="http://schemas.openxmlformats.org/drawingml/2006/main" noGrp="1"/>
          </p:cNvSpPr>
          <p:nvPr/>
        </p:nvSpPr>
        <p:spPr>
          <a:xfrm xmlns:a="http://schemas.openxmlformats.org/drawingml/2006/main">
            <a:off x="1771650" y="2943225"/>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People may use unapproved AI on private work</a:t>
            </a:r>
          </a:p>
        </p:txBody>
      </p:sp>
      <p:sp>
        <p:nvSpPr>
          <p:cNvPr id="8" name="">
            <a:extLst xmlns:a="http://schemas.openxmlformats.org/drawingml/2006/main">
              <a:ext uri="{FF2B5EF4-FFF2-40B4-BE49-F238E27FC236}">
                <a16:creationId xmlns:a16="http://schemas.microsoft.com/office/drawing/2014/main" id="{7093DCD6-BFF3-4189-84AA-22E22C68767E}"/>
              </a:ext>
            </a:extLst>
          </p:cNvPr>
          <p:cNvSpPr>
            <a:spLocks xmlns:a="http://schemas.openxmlformats.org/drawingml/2006/main" noGrp="1"/>
          </p:cNvSpPr>
          <p:nvPr/>
        </p:nvSpPr>
        <p:spPr>
          <a:xfrm xmlns:a="http://schemas.openxmlformats.org/drawingml/2006/main">
            <a:off x="742950" y="3781425"/>
            <a:ext cx="10096500" cy="0"/>
          </a:xfrm>
          <a:prstGeom xmlns:a="http://schemas.openxmlformats.org/drawingml/2006/main" prst="line">
            <a:avLst/>
          </a:prstGeom>
          <a:noFill xmlns:a="http://schemas.openxmlformats.org/drawingml/2006/main"/>
          <a:ln xmlns:a="http://schemas.openxmlformats.org/drawingml/2006/main" w="19050">
            <a:solidFill>
              <a:srgbClr val="393A42"/>
            </a:solidFill>
            <a:prstDash val="solid"/>
          </a:ln>
        </p:spPr>
      </p:sp>
      <p:sp>
        <p:nvSpPr>
          <p:cNvPr id="9" name="">
            <a:extLst xmlns:a="http://schemas.openxmlformats.org/drawingml/2006/main">
              <a:ext uri="{FF2B5EF4-FFF2-40B4-BE49-F238E27FC236}">
                <a16:creationId xmlns:a16="http://schemas.microsoft.com/office/drawing/2014/main" id="{B3B18CF5-CABC-4BEF-8929-D96DB836CFC8}"/>
              </a:ext>
            </a:extLst>
          </p:cNvPr>
          <p:cNvSpPr>
            <a:spLocks xmlns:a="http://schemas.openxmlformats.org/drawingml/2006/main" noGrp="1"/>
          </p:cNvSpPr>
          <p:nvPr/>
        </p:nvSpPr>
        <p:spPr>
          <a:xfrm xmlns:a="http://schemas.openxmlformats.org/drawingml/2006/main">
            <a:off x="742950" y="4229100"/>
            <a:ext cx="742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BEB8FF"/>
                </a:solidFill>
                <a:latin typeface="Helvetica Neue"/>
                <a:ea typeface="Helvetica Neue"/>
                <a:cs typeface="Helvetica Neue"/>
              </a:defRPr>
            </a:pPr>
            <a:r>
              <a:rPr sz="2850" b="1">
                <a:solidFill>
                  <a:srgbClr val="BEB8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2498A38B-B921-4ACA-BD15-DF929DF31893}"/>
              </a:ext>
            </a:extLst>
          </p:cNvPr>
          <p:cNvSpPr>
            <a:spLocks xmlns:a="http://schemas.openxmlformats.org/drawingml/2006/main" noGrp="1"/>
          </p:cNvSpPr>
          <p:nvPr/>
        </p:nvSpPr>
        <p:spPr>
          <a:xfrm xmlns:a="http://schemas.openxmlformats.org/drawingml/2006/main">
            <a:off x="1771650" y="424815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Cheaper AI can mean more total energy use</a:t>
            </a:r>
          </a:p>
        </p:txBody>
      </p:sp>
      <p:sp>
        <p:nvSpPr>
          <p:cNvPr id="11" name="">
            <a:extLst xmlns:a="http://schemas.openxmlformats.org/drawingml/2006/main">
              <a:ext uri="{FF2B5EF4-FFF2-40B4-BE49-F238E27FC236}">
                <a16:creationId xmlns:a16="http://schemas.microsoft.com/office/drawing/2014/main" id="{81A928CD-6DDD-43C5-952B-ACD02FE58FF0}"/>
              </a:ext>
            </a:extLst>
          </p:cNvPr>
          <p:cNvSpPr>
            <a:spLocks xmlns:a="http://schemas.openxmlformats.org/drawingml/2006/main" noGrp="1"/>
          </p:cNvSpPr>
          <p:nvPr/>
        </p:nvSpPr>
        <p:spPr>
          <a:xfrm xmlns:a="http://schemas.openxmlformats.org/drawingml/2006/main">
            <a:off x="2324100" y="5772150"/>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a:solidFill>
                  <a:srgbClr val="BEB8FF"/>
                </a:solidFill>
                <a:latin typeface="Helvetica Neue"/>
                <a:ea typeface="Helvetica Neue"/>
                <a:cs typeface="Helvetica Neue"/>
              </a:defRPr>
            </a:pPr>
            <a:r>
              <a:rPr sz="1650" b="0">
                <a:solidFill>
                  <a:srgbClr val="BEB8FF"/>
                </a:solidFill>
                <a:latin typeface="Helvetica Neue"/>
                <a:ea typeface="Helvetica Neue"/>
                <a:cs typeface="Helvetica Neue"/>
              </a:rPr>
              <a:t>More access also spreads more responsibility.</a:t>
            </a:r>
          </a:p>
        </p:txBody>
      </p:sp>
    </p:spTree>
    <p:extLst>
      <p:ext uri="{BB962C8B-B14F-4D97-AF65-F5344CB8AC3E}">
        <p14:creationId xmlns:p14="http://schemas.microsoft.com/office/powerpoint/2010/main" val="1346433614"/>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E83726-FD73-405F-8285-89124F8417DE}"/>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The likely future</a:t>
            </a:r>
          </a:p>
        </p:txBody>
      </p:sp>
      <p:sp>
        <p:nvSpPr>
          <p:cNvPr id="2" name="">
            <a:extLst xmlns:a="http://schemas.openxmlformats.org/drawingml/2006/main">
              <a:ext uri="{FF2B5EF4-FFF2-40B4-BE49-F238E27FC236}">
                <a16:creationId xmlns:a16="http://schemas.microsoft.com/office/drawing/2014/main" id="{75CB7D9B-DFEA-47A1-AEA0-1CE69AB5A3DA}"/>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F6782B92-43B7-4856-9F16-4934710D8EF4}"/>
              </a:ext>
            </a:extLst>
          </p:cNvPr>
          <p:cNvSpPr>
            <a:spLocks xmlns:a="http://schemas.openxmlformats.org/drawingml/2006/main" noGrp="1"/>
          </p:cNvSpPr>
          <p:nvPr/>
        </p:nvSpPr>
        <p:spPr>
          <a:xfrm xmlns:a="http://schemas.openxmlformats.org/drawingml/2006/main">
            <a:off x="762000" y="17145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6558F5"/>
                </a:solidFill>
                <a:latin typeface="Helvetica Neue"/>
                <a:ea typeface="Helvetica Neue"/>
                <a:cs typeface="Helvetica Neue"/>
              </a:defRPr>
            </a:pPr>
            <a:r>
              <a:rPr sz="1875" b="1">
                <a:solidFill>
                  <a:srgbClr val="6558F5"/>
                </a:solidFill>
                <a:latin typeface="Helvetica Neue"/>
                <a:ea typeface="Helvetica Neue"/>
                <a:cs typeface="Helvetica Neue"/>
              </a:rPr>
              <a:t>ON YOUR DEVICE</a:t>
            </a:r>
          </a:p>
        </p:txBody>
      </p:sp>
      <p:sp>
        <p:nvSpPr>
          <p:cNvPr id="4" name="">
            <a:extLst xmlns:a="http://schemas.openxmlformats.org/drawingml/2006/main">
              <a:ext uri="{FF2B5EF4-FFF2-40B4-BE49-F238E27FC236}">
                <a16:creationId xmlns:a16="http://schemas.microsoft.com/office/drawing/2014/main" id="{1C0874E0-6CC9-42A5-8859-86F9861ECAC4}"/>
              </a:ext>
            </a:extLst>
          </p:cNvPr>
          <p:cNvSpPr>
            <a:spLocks xmlns:a="http://schemas.openxmlformats.org/drawingml/2006/main" noGrp="1"/>
          </p:cNvSpPr>
          <p:nvPr/>
        </p:nvSpPr>
        <p:spPr>
          <a:xfrm xmlns:a="http://schemas.openxmlformats.org/drawingml/2006/main">
            <a:off x="762000" y="2428875"/>
            <a:ext cx="295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Everyday questions</a:t>
            </a:r>
          </a:p>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Private work</a:t>
            </a:r>
          </a:p>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Offline use</a:t>
            </a:r>
          </a:p>
        </p:txBody>
      </p:sp>
      <p:sp>
        <p:nvSpPr>
          <p:cNvPr id="5" name="">
            <a:extLst xmlns:a="http://schemas.openxmlformats.org/drawingml/2006/main">
              <a:ext uri="{FF2B5EF4-FFF2-40B4-BE49-F238E27FC236}">
                <a16:creationId xmlns:a16="http://schemas.microsoft.com/office/drawing/2014/main" id="{5FFCDD69-A037-4982-A4CA-970884426C49}"/>
              </a:ext>
            </a:extLst>
          </p:cNvPr>
          <p:cNvSpPr>
            <a:spLocks xmlns:a="http://schemas.openxmlformats.org/drawingml/2006/main" noGrp="1"/>
          </p:cNvSpPr>
          <p:nvPr/>
        </p:nvSpPr>
        <p:spPr>
          <a:xfrm xmlns:a="http://schemas.openxmlformats.org/drawingml/2006/main">
            <a:off x="3905250" y="3143250"/>
            <a:ext cx="1143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6" name="">
            <a:extLst xmlns:a="http://schemas.openxmlformats.org/drawingml/2006/main">
              <a:ext uri="{FF2B5EF4-FFF2-40B4-BE49-F238E27FC236}">
                <a16:creationId xmlns:a16="http://schemas.microsoft.com/office/drawing/2014/main" id="{6869DE77-5E2A-4182-A325-0D044E0ABD5A}"/>
              </a:ext>
            </a:extLst>
          </p:cNvPr>
          <p:cNvSpPr>
            <a:spLocks xmlns:a="http://schemas.openxmlformats.org/drawingml/2006/main" noGrp="1"/>
          </p:cNvSpPr>
          <p:nvPr/>
        </p:nvSpPr>
        <p:spPr>
          <a:xfrm xmlns:a="http://schemas.openxmlformats.org/drawingml/2006/main">
            <a:off x="4953000" y="2381250"/>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101114"/>
                </a:solidFill>
                <a:latin typeface="Helvetica Neue"/>
                <a:ea typeface="Helvetica Neue"/>
                <a:cs typeface="Helvetica Neue"/>
              </a:defRPr>
            </a:pPr>
            <a:r>
              <a:rPr sz="3000" b="1">
                <a:solidFill>
                  <a:srgbClr val="101114"/>
                </a:solidFill>
                <a:latin typeface="Helvetica Neue"/>
                <a:ea typeface="Helvetica Neue"/>
                <a:cs typeface="Helvetica Neue"/>
              </a:rPr>
              <a:t>ONE</a:t>
            </a:r>
          </a:p>
          <a:p xmlns:a="http://schemas.openxmlformats.org/drawingml/2006/main">
            <a:pPr algn="ctr">
              <a:lnSpc>
                <a:spcPct val="100000"/>
              </a:lnSpc>
              <a:buNone/>
              <a:defRPr sz="3000" b="1">
                <a:solidFill>
                  <a:srgbClr val="101114"/>
                </a:solidFill>
                <a:latin typeface="Helvetica Neue"/>
                <a:ea typeface="Helvetica Neue"/>
                <a:cs typeface="Helvetica Neue"/>
              </a:defRPr>
            </a:pPr>
            <a:r>
              <a:rPr sz="3000" b="1">
                <a:solidFill>
                  <a:srgbClr val="101114"/>
                </a:solidFill>
                <a:latin typeface="Helvetica Neue"/>
                <a:ea typeface="Helvetica Neue"/>
                <a:cs typeface="Helvetica Neue"/>
              </a:rPr>
              <a:t>ASSISTANT</a:t>
            </a:r>
          </a:p>
        </p:txBody>
      </p:sp>
      <p:sp>
        <p:nvSpPr>
          <p:cNvPr id="7" name="">
            <a:extLst xmlns:a="http://schemas.openxmlformats.org/drawingml/2006/main">
              <a:ext uri="{FF2B5EF4-FFF2-40B4-BE49-F238E27FC236}">
                <a16:creationId xmlns:a16="http://schemas.microsoft.com/office/drawing/2014/main" id="{0BC747C1-FF52-49FB-BC6D-4745E2AF653F}"/>
              </a:ext>
            </a:extLst>
          </p:cNvPr>
          <p:cNvSpPr>
            <a:spLocks xmlns:a="http://schemas.openxmlformats.org/drawingml/2006/main" noGrp="1"/>
          </p:cNvSpPr>
          <p:nvPr/>
        </p:nvSpPr>
        <p:spPr>
          <a:xfrm xmlns:a="http://schemas.openxmlformats.org/drawingml/2006/main">
            <a:off x="7239000" y="3143250"/>
            <a:ext cx="1143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8" name="">
            <a:extLst xmlns:a="http://schemas.openxmlformats.org/drawingml/2006/main">
              <a:ext uri="{FF2B5EF4-FFF2-40B4-BE49-F238E27FC236}">
                <a16:creationId xmlns:a16="http://schemas.microsoft.com/office/drawing/2014/main" id="{59800777-F563-4067-90E5-5B3DF1E68067}"/>
              </a:ext>
            </a:extLst>
          </p:cNvPr>
          <p:cNvSpPr>
            <a:spLocks xmlns:a="http://schemas.openxmlformats.org/drawingml/2006/main" noGrp="1"/>
          </p:cNvSpPr>
          <p:nvPr/>
        </p:nvSpPr>
        <p:spPr>
          <a:xfrm xmlns:a="http://schemas.openxmlformats.org/drawingml/2006/main">
            <a:off x="8477250" y="17145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C96E42"/>
                </a:solidFill>
                <a:latin typeface="Helvetica Neue"/>
                <a:ea typeface="Helvetica Neue"/>
                <a:cs typeface="Helvetica Neue"/>
              </a:defRPr>
            </a:pPr>
            <a:r>
              <a:rPr sz="1875" b="1">
                <a:solidFill>
                  <a:srgbClr val="C96E42"/>
                </a:solidFill>
                <a:latin typeface="Helvetica Neue"/>
                <a:ea typeface="Helvetica Neue"/>
                <a:cs typeface="Helvetica Neue"/>
              </a:rPr>
              <a:t>IN THE CLOUD</a:t>
            </a:r>
          </a:p>
        </p:txBody>
      </p:sp>
      <p:sp>
        <p:nvSpPr>
          <p:cNvPr id="9" name="">
            <a:extLst xmlns:a="http://schemas.openxmlformats.org/drawingml/2006/main">
              <a:ext uri="{FF2B5EF4-FFF2-40B4-BE49-F238E27FC236}">
                <a16:creationId xmlns:a16="http://schemas.microsoft.com/office/drawing/2014/main" id="{7A980736-1818-4C8B-967B-2A6AD14C1A75}"/>
              </a:ext>
            </a:extLst>
          </p:cNvPr>
          <p:cNvSpPr>
            <a:spLocks xmlns:a="http://schemas.openxmlformats.org/drawingml/2006/main" noGrp="1"/>
          </p:cNvSpPr>
          <p:nvPr/>
        </p:nvSpPr>
        <p:spPr>
          <a:xfrm xmlns:a="http://schemas.openxmlformats.org/drawingml/2006/main">
            <a:off x="8477250" y="2428875"/>
            <a:ext cx="295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Hard questions</a:t>
            </a:r>
          </a:p>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Current information</a:t>
            </a:r>
          </a:p>
          <a:p xmlns:a="http://schemas.openxmlformats.org/drawingml/2006/main">
            <a:pPr algn="ctr">
              <a:lnSpc>
                <a:spcPct val="128000"/>
              </a:lnSpc>
              <a:buNone/>
              <a:defRPr sz="1875" b="0">
                <a:solidFill>
                  <a:srgbClr val="101114"/>
                </a:solidFill>
                <a:latin typeface="Helvetica Neue"/>
                <a:ea typeface="Helvetica Neue"/>
                <a:cs typeface="Helvetica Neue"/>
              </a:defRPr>
            </a:pPr>
            <a:r>
              <a:rPr sz="1875" b="0">
                <a:solidFill>
                  <a:srgbClr val="101114"/>
                </a:solidFill>
                <a:latin typeface="Helvetica Neue"/>
                <a:ea typeface="Helvetica Neue"/>
                <a:cs typeface="Helvetica Neue"/>
              </a:rPr>
              <a:t>Large shared tasks</a:t>
            </a:r>
          </a:p>
        </p:txBody>
      </p:sp>
      <p:sp>
        <p:nvSpPr>
          <p:cNvPr id="10" name="">
            <a:extLst xmlns:a="http://schemas.openxmlformats.org/drawingml/2006/main">
              <a:ext uri="{FF2B5EF4-FFF2-40B4-BE49-F238E27FC236}">
                <a16:creationId xmlns:a16="http://schemas.microsoft.com/office/drawing/2014/main" id="{A603276D-4C0C-4942-923A-D255620D29BD}"/>
              </a:ext>
            </a:extLst>
          </p:cNvPr>
          <p:cNvSpPr>
            <a:spLocks xmlns:a="http://schemas.openxmlformats.org/drawingml/2006/main" noGrp="1"/>
          </p:cNvSpPr>
          <p:nvPr/>
        </p:nvSpPr>
        <p:spPr>
          <a:xfrm xmlns:a="http://schemas.openxmlformats.org/drawingml/2006/main">
            <a:off x="2381250" y="53816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101114"/>
                </a:solidFill>
                <a:latin typeface="Helvetica Neue"/>
                <a:ea typeface="Helvetica Neue"/>
                <a:cs typeface="Helvetica Neue"/>
              </a:defRPr>
            </a:pPr>
            <a:r>
              <a:rPr sz="1875" b="1">
                <a:solidFill>
                  <a:srgbClr val="101114"/>
                </a:solidFill>
                <a:latin typeface="Helvetica Neue"/>
                <a:ea typeface="Helvetica Neue"/>
                <a:cs typeface="Helvetica Neue"/>
              </a:rPr>
              <a:t>The app chooses where each request should run.</a:t>
            </a:r>
          </a:p>
        </p:txBody>
      </p:sp>
    </p:spTree>
    <p:extLst>
      <p:ext uri="{BB962C8B-B14F-4D97-AF65-F5344CB8AC3E}">
        <p14:creationId xmlns:p14="http://schemas.microsoft.com/office/powerpoint/2010/main" val="1887689572"/>
      </p:ext>
    </p:extLst>
  </p:cSld>
</p:sld>
</file>

<file path=ppt/slides/slide13.xml><?xml version="1.0" encoding="utf-8"?>
<p:sld xmlns:p="http://schemas.openxmlformats.org/presentationml/2006/main">
  <p:cSld>
    <p:bg>
      <p:bgPr>
        <a:solidFill xmlns:a="http://schemas.openxmlformats.org/drawingml/2006/main">
          <a:srgbClr val="655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C1B6F6-6BCB-4B48-8156-0C0FD8AE49F9}"/>
              </a:ext>
            </a:extLst>
          </p:cNvPr>
          <p:cNvSpPr>
            <a:spLocks xmlns:a="http://schemas.openxmlformats.org/drawingml/2006/main" noGrp="1"/>
          </p:cNvSpPr>
          <p:nvPr/>
        </p:nvSpPr>
        <p:spPr>
          <a:xfrm xmlns:a="http://schemas.openxmlformats.org/drawingml/2006/main">
            <a:off x="609600" y="742950"/>
            <a:ext cx="809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SO, WILL AI BE</a:t>
            </a:r>
          </a:p>
          <a:p xmlns:a="http://schemas.openxmlformats.org/drawingml/2006/main">
            <a:pPr algn="l">
              <a:lnSpc>
                <a:spcPct val="98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COMPLETELY FREE?</a:t>
            </a:r>
          </a:p>
        </p:txBody>
      </p:sp>
      <p:sp>
        <p:nvSpPr>
          <p:cNvPr id="2" name="">
            <a:extLst xmlns:a="http://schemas.openxmlformats.org/drawingml/2006/main">
              <a:ext uri="{FF2B5EF4-FFF2-40B4-BE49-F238E27FC236}">
                <a16:creationId xmlns:a16="http://schemas.microsoft.com/office/drawing/2014/main" id="{362BA0AA-DE9F-4F41-9605-1C04C9A5ACDF}"/>
              </a:ext>
            </a:extLst>
          </p:cNvPr>
          <p:cNvSpPr>
            <a:spLocks xmlns:a="http://schemas.openxmlformats.org/drawingml/2006/main" noGrp="1"/>
          </p:cNvSpPr>
          <p:nvPr/>
        </p:nvSpPr>
        <p:spPr>
          <a:xfrm xmlns:a="http://schemas.openxmlformats.org/drawingml/2006/main">
            <a:off x="609600" y="28384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400" b="1">
                <a:solidFill>
                  <a:srgbClr val="BEB8FF"/>
                </a:solidFill>
                <a:latin typeface="Helvetica Neue"/>
                <a:ea typeface="Helvetica Neue"/>
                <a:cs typeface="Helvetica Neue"/>
              </a:defRPr>
            </a:pPr>
            <a:r>
              <a:rPr sz="5400" b="1">
                <a:solidFill>
                  <a:srgbClr val="BEB8FF"/>
                </a:solidFill>
                <a:latin typeface="Helvetica Neue"/>
                <a:ea typeface="Helvetica Neue"/>
                <a:cs typeface="Helvetica Neue"/>
              </a:rPr>
              <a:t>ALMOST.</a:t>
            </a:r>
          </a:p>
        </p:txBody>
      </p:sp>
      <p:sp>
        <p:nvSpPr>
          <p:cNvPr id="3" name="">
            <a:extLst xmlns:a="http://schemas.openxmlformats.org/drawingml/2006/main">
              <a:ext uri="{FF2B5EF4-FFF2-40B4-BE49-F238E27FC236}">
                <a16:creationId xmlns:a16="http://schemas.microsoft.com/office/drawing/2014/main" id="{7D7A5E3A-D747-4C9F-A87F-1D109F7E68FF}"/>
              </a:ext>
            </a:extLst>
          </p:cNvPr>
          <p:cNvSpPr>
            <a:spLocks xmlns:a="http://schemas.openxmlformats.org/drawingml/2006/main" noGrp="1"/>
          </p:cNvSpPr>
          <p:nvPr/>
        </p:nvSpPr>
        <p:spPr>
          <a:xfrm xmlns:a="http://schemas.openxmlformats.org/drawingml/2006/main">
            <a:off x="628650" y="4248150"/>
            <a:ext cx="106680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7114355B-24A7-4394-B0D9-2BB808E5AC2F}"/>
              </a:ext>
            </a:extLst>
          </p:cNvPr>
          <p:cNvSpPr>
            <a:spLocks xmlns:a="http://schemas.openxmlformats.org/drawingml/2006/main" noGrp="1"/>
          </p:cNvSpPr>
          <p:nvPr/>
        </p:nvSpPr>
        <p:spPr>
          <a:xfrm xmlns:a="http://schemas.openxmlformats.org/drawingml/2006/main">
            <a:off x="609600" y="46101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The price per question can disappear.</a:t>
            </a:r>
          </a:p>
        </p:txBody>
      </p:sp>
      <p:sp>
        <p:nvSpPr>
          <p:cNvPr id="5" name="">
            <a:extLst xmlns:a="http://schemas.openxmlformats.org/drawingml/2006/main">
              <a:ext uri="{FF2B5EF4-FFF2-40B4-BE49-F238E27FC236}">
                <a16:creationId xmlns:a16="http://schemas.microsoft.com/office/drawing/2014/main" id="{48AEEDD5-AB0D-4509-808B-7435F222E1F9}"/>
              </a:ext>
            </a:extLst>
          </p:cNvPr>
          <p:cNvSpPr>
            <a:spLocks xmlns:a="http://schemas.openxmlformats.org/drawingml/2006/main" noGrp="1"/>
          </p:cNvSpPr>
          <p:nvPr/>
        </p:nvSpPr>
        <p:spPr>
          <a:xfrm xmlns:a="http://schemas.openxmlformats.org/drawingml/2006/main">
            <a:off x="609600" y="5219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The real costs do not.</a:t>
            </a:r>
          </a:p>
        </p:txBody>
      </p:sp>
      <p:sp>
        <p:nvSpPr>
          <p:cNvPr id="6" name="">
            <a:extLst xmlns:a="http://schemas.openxmlformats.org/drawingml/2006/main">
              <a:ext uri="{FF2B5EF4-FFF2-40B4-BE49-F238E27FC236}">
                <a16:creationId xmlns:a16="http://schemas.microsoft.com/office/drawing/2014/main" id="{E8DBC79A-6A99-450D-8B97-1D0B4558197A}"/>
              </a:ext>
            </a:extLst>
          </p:cNvPr>
          <p:cNvSpPr>
            <a:spLocks xmlns:a="http://schemas.openxmlformats.org/drawingml/2006/main" noGrp="1"/>
          </p:cNvSpPr>
          <p:nvPr/>
        </p:nvSpPr>
        <p:spPr>
          <a:xfrm xmlns:a="http://schemas.openxmlformats.org/drawingml/2006/main">
            <a:off x="11144250" y="62103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13</a:t>
            </a:r>
          </a:p>
        </p:txBody>
      </p:sp>
    </p:spTree>
    <p:extLst>
      <p:ext uri="{BB962C8B-B14F-4D97-AF65-F5344CB8AC3E}">
        <p14:creationId xmlns:p14="http://schemas.microsoft.com/office/powerpoint/2010/main" val="947791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2026-09-26T13:18:58.3540000Z</dcterms:created>
  <dcterms:modified xsi:type="dcterms:W3CDTF">2026-09-26T13:18:58.3540000Z</dcterms:modified>
</coreProperties>
</file>