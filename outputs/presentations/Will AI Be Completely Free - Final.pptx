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1c6b6d49e0c4fcf" /><Relationship Type="http://schemas.openxmlformats.org/officeDocument/2006/relationships/extended-properties" Target="/docProps/app.xml" Id="R57cdee272990465d" /><Relationship Type="http://schemas.openxmlformats.org/officeDocument/2006/relationships/officeDocument" Target="/ppt/presentation.xml" Id="Rbcf016ded82f4f57" /></Relationships>
</file>

<file path=ppt/presentation.xml><?xml version="1.0" encoding="utf-8"?>
<p:presentation xmlns:p="http://schemas.openxmlformats.org/presentationml/2006/main">
  <p:sldMasterIdLst>
    <p:sldMasterId xmlns:r="http://schemas.openxmlformats.org/officeDocument/2006/relationships" id="2147483648" r:id="R4cc773e342484079"/>
  </p:sldMasterIdLst>
  <p:notesMasterIdLst>
    <p:notesMasterId xmlns:r="http://schemas.openxmlformats.org/officeDocument/2006/relationships" r:id="R7c837c055efc456d"/>
  </p:notesMasterIdLst>
  <p:sldIdLst>
    <p:sldId xmlns:r="http://schemas.openxmlformats.org/officeDocument/2006/relationships" id="256" r:id="R370bc72a794f4864"/>
    <p:sldId xmlns:r="http://schemas.openxmlformats.org/officeDocument/2006/relationships" id="257" r:id="R7dccfa16033444c7"/>
    <p:sldId xmlns:r="http://schemas.openxmlformats.org/officeDocument/2006/relationships" id="258" r:id="R0c6b145894c147b8"/>
    <p:sldId xmlns:r="http://schemas.openxmlformats.org/officeDocument/2006/relationships" id="259" r:id="Rbc5c5b5dcc7d42e7"/>
    <p:sldId xmlns:r="http://schemas.openxmlformats.org/officeDocument/2006/relationships" id="260" r:id="Rb4cd22d086324072"/>
    <p:sldId xmlns:r="http://schemas.openxmlformats.org/officeDocument/2006/relationships" id="261" r:id="Rac14e7ab808f49e8"/>
    <p:sldId xmlns:r="http://schemas.openxmlformats.org/officeDocument/2006/relationships" id="262" r:id="Rf17d9ff92e904e0b"/>
    <p:sldId xmlns:r="http://schemas.openxmlformats.org/officeDocument/2006/relationships" id="263" r:id="Rd026dd9598a44200"/>
    <p:sldId xmlns:r="http://schemas.openxmlformats.org/officeDocument/2006/relationships" id="264" r:id="Rdf629d1d6cc04593"/>
    <p:sldId xmlns:r="http://schemas.openxmlformats.org/officeDocument/2006/relationships" id="265" r:id="R45901b0a9d464789"/>
    <p:sldId xmlns:r="http://schemas.openxmlformats.org/officeDocument/2006/relationships" id="266" r:id="R107efa59a4fc43c3"/>
    <p:sldId xmlns:r="http://schemas.openxmlformats.org/officeDocument/2006/relationships" id="267" r:id="R4ceed4baa4c04907"/>
    <p:sldId xmlns:r="http://schemas.openxmlformats.org/officeDocument/2006/relationships" id="268" r:id="Ra7f71f4b2da5491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81a9642b8324232" /><Relationship Type="http://schemas.openxmlformats.org/officeDocument/2006/relationships/slideMaster" Target="/ppt/slideMasters/slideMaster1.xml" Id="R4cc773e342484079" /><Relationship Type="http://schemas.openxmlformats.org/officeDocument/2006/relationships/notesMaster" Target="/ppt/notesMasters/notesMaster1.xml" Id="R7c837c055efc456d" /><Relationship Type="http://schemas.openxmlformats.org/officeDocument/2006/relationships/presProps" Target="/ppt/presProps.xml" Id="R471b41625a4b47d5" /><Relationship Type="http://schemas.openxmlformats.org/officeDocument/2006/relationships/tableStyles" Target="/ppt/tableStyles.xml" Id="R21a76507c17e4693" /><Relationship Type="http://schemas.openxmlformats.org/officeDocument/2006/relationships/slide" Target="/ppt/slides/slide1.xml" Id="R370bc72a794f4864" /><Relationship Type="http://schemas.openxmlformats.org/officeDocument/2006/relationships/slide" Target="/ppt/slides/slide2.xml" Id="R7dccfa16033444c7" /><Relationship Type="http://schemas.openxmlformats.org/officeDocument/2006/relationships/slide" Target="/ppt/slides/slide3.xml" Id="R0c6b145894c147b8" /><Relationship Type="http://schemas.openxmlformats.org/officeDocument/2006/relationships/slide" Target="/ppt/slides/slide4.xml" Id="Rbc5c5b5dcc7d42e7" /><Relationship Type="http://schemas.openxmlformats.org/officeDocument/2006/relationships/slide" Target="/ppt/slides/slide5.xml" Id="Rb4cd22d086324072" /><Relationship Type="http://schemas.openxmlformats.org/officeDocument/2006/relationships/slide" Target="/ppt/slides/slide6.xml" Id="Rac14e7ab808f49e8" /><Relationship Type="http://schemas.openxmlformats.org/officeDocument/2006/relationships/slide" Target="/ppt/slides/slide7.xml" Id="Rf17d9ff92e904e0b" /><Relationship Type="http://schemas.openxmlformats.org/officeDocument/2006/relationships/slide" Target="/ppt/slides/slide8.xml" Id="Rd026dd9598a44200" /><Relationship Type="http://schemas.openxmlformats.org/officeDocument/2006/relationships/slide" Target="/ppt/slides/slide9.xml" Id="Rdf629d1d6cc04593" /><Relationship Type="http://schemas.openxmlformats.org/officeDocument/2006/relationships/slide" Target="/ppt/slides/slide10.xml" Id="R45901b0a9d464789" /><Relationship Type="http://schemas.openxmlformats.org/officeDocument/2006/relationships/slide" Target="/ppt/slides/slide11.xml" Id="R107efa59a4fc43c3" /><Relationship Type="http://schemas.openxmlformats.org/officeDocument/2006/relationships/slide" Target="/ppt/slides/slide12.xml" Id="R4ceed4baa4c04907" /><Relationship Type="http://schemas.openxmlformats.org/officeDocument/2006/relationships/slide" Target="/ppt/slides/slide13.xml" Id="Ra7f71f4b2da5491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fb9ac8df3654cc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599dd96bbc94aaa" /><Relationship Type="http://schemas.openxmlformats.org/officeDocument/2006/relationships/notesMaster" Target="/ppt/notesMasters/notesMaster1.xml" Id="Rf0680b083cee406e"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7613638a034bfe" /><Relationship Type="http://schemas.openxmlformats.org/officeDocument/2006/relationships/notesMaster" Target="/ppt/notesMasters/notesMaster1.xml" Id="R080b40d773f544dc" /></Relationships>
</file>

<file path=ppt/notesSlides/_rels/notesSlide3.xml.rels>&#65279;<?xml version="1.0" encoding="utf-8"?><Relationships xmlns="http://schemas.openxmlformats.org/package/2006/relationships"><Relationship Type="http://schemas.openxmlformats.org/officeDocument/2006/relationships/slide" Target="/ppt/slides/slide3.xml" Id="R3c29ebe2960f452f" /><Relationship Type="http://schemas.openxmlformats.org/officeDocument/2006/relationships/notesMaster" Target="/ppt/notesMasters/notesMaster1.xml" Id="R503cd45f89ad4a4d" /></Relationships>
</file>

<file path=ppt/notesSlides/_rels/notesSlide4.xml.rels>&#65279;<?xml version="1.0" encoding="utf-8"?><Relationships xmlns="http://schemas.openxmlformats.org/package/2006/relationships"><Relationship Type="http://schemas.openxmlformats.org/officeDocument/2006/relationships/slide" Target="/ppt/slides/slide4.xml" Id="R410f3ece7f014200" /><Relationship Type="http://schemas.openxmlformats.org/officeDocument/2006/relationships/notesMaster" Target="/ppt/notesMasters/notesMaster1.xml" Id="Re42ec7b3cd624f09" /></Relationships>
</file>

<file path=ppt/notesSlides/_rels/notesSlide5.xml.rels>&#65279;<?xml version="1.0" encoding="utf-8"?><Relationships xmlns="http://schemas.openxmlformats.org/package/2006/relationships"><Relationship Type="http://schemas.openxmlformats.org/officeDocument/2006/relationships/slide" Target="/ppt/slides/slide5.xml" Id="R4519ed02ec8b4079" /><Relationship Type="http://schemas.openxmlformats.org/officeDocument/2006/relationships/notesMaster" Target="/ppt/notesMasters/notesMaster1.xml" Id="Rfc8f8cb81b384dd5" /></Relationships>
</file>

<file path=ppt/notesSlides/_rels/notesSlide6.xml.rels>&#65279;<?xml version="1.0" encoding="utf-8"?><Relationships xmlns="http://schemas.openxmlformats.org/package/2006/relationships"><Relationship Type="http://schemas.openxmlformats.org/officeDocument/2006/relationships/slide" Target="/ppt/slides/slide6.xml" Id="R15f24cc890ea4764" /><Relationship Type="http://schemas.openxmlformats.org/officeDocument/2006/relationships/notesMaster" Target="/ppt/notesMasters/notesMaster1.xml" Id="R988769b6f8024e77" /></Relationships>
</file>

<file path=ppt/notesSlides/_rels/notesSlide7.xml.rels>&#65279;<?xml version="1.0" encoding="utf-8"?><Relationships xmlns="http://schemas.openxmlformats.org/package/2006/relationships"><Relationship Type="http://schemas.openxmlformats.org/officeDocument/2006/relationships/slide" Target="/ppt/slides/slide7.xml" Id="Rfa682cf8d6fd4a81" /><Relationship Type="http://schemas.openxmlformats.org/officeDocument/2006/relationships/notesMaster" Target="/ppt/notesMasters/notesMaster1.xml" Id="R4f91b72cba7347e4" /></Relationships>
</file>

<file path=ppt/notesSlides/_rels/notesSlide8.xml.rels>&#65279;<?xml version="1.0" encoding="utf-8"?><Relationships xmlns="http://schemas.openxmlformats.org/package/2006/relationships"><Relationship Type="http://schemas.openxmlformats.org/officeDocument/2006/relationships/slide" Target="/ppt/slides/slide8.xml" Id="R0191ed32bb344f2c" /><Relationship Type="http://schemas.openxmlformats.org/officeDocument/2006/relationships/notesMaster" Target="/ppt/notesMasters/notesMaster1.xml" Id="R9ff4167e75214f5e" /></Relationships>
</file>

<file path=ppt/notesSlides/_rels/notesSlide9.xml.rels>&#65279;<?xml version="1.0" encoding="utf-8"?><Relationships xmlns="http://schemas.openxmlformats.org/package/2006/relationships"><Relationship Type="http://schemas.openxmlformats.org/officeDocument/2006/relationships/slide" Target="/ppt/slides/slide9.xml" Id="Rdef428ce9c7148bb" /><Relationship Type="http://schemas.openxmlformats.org/officeDocument/2006/relationships/notesMaster" Target="/ppt/notesMasters/notesMaster1.xml" Id="Rd066f4876b434d3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f2a48a0517c4eff" /><Relationship Type="http://schemas.openxmlformats.org/officeDocument/2006/relationships/notesMaster" Target="/ppt/notesMasters/notesMaster1.xml" Id="Rbb9a67589f5049e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6eed8da325f4bad" /><Relationship Type="http://schemas.openxmlformats.org/officeDocument/2006/relationships/notesMaster" Target="/ppt/notesMasters/notesMaster1.xml" Id="R69f3992b27d54a8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c0e6f5009fa4e1c" /><Relationship Type="http://schemas.openxmlformats.org/officeDocument/2006/relationships/notesMaster" Target="/ppt/notesMasters/notesMaster1.xml" Id="Rd0cc4143ad124e5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e2ea91378f3442d" /><Relationship Type="http://schemas.openxmlformats.org/officeDocument/2006/relationships/notesMaster" Target="/ppt/notesMasters/notesMaster1.xml" Id="Re01f5095e30e41b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I want to ask a simple question: will AI eventually become free? My short answer is almost. The price of using AI may become much less visible, especially when it runs on a device we already own. But the computer, electricity, updates, and responsibility do not disappear. I will explain that idea without going too far into the technical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am sure most people in this room have used ChatGPT or Claude before. We open a website or an app, type a question, and get an answer within seconds. That experience feels almost magical because we do not see what happens behind the screen. The important point for this talk is that the answer is being produced on computers somewhere, and someone has to pay for those computers.</a:t>
            </a:r>
          </a:p>
          <a:p xmlns:a="http://schemas.openxmlformats.org/drawingml/2006/main">
            <a:r>
              <a:t/>
            </a:r>
          </a:p>
          <a:p xmlns:a="http://schemas.openxmlformats.org/drawingml/2006/main">
            <a:r>
              <a:t>Sources and image credits:</a:t>
            </a:r>
          </a:p>
          <a:p xmlns:a="http://schemas.openxmlformats.org/drawingml/2006/main">
            <a:r>
              <a:t>- ChatGPT logo image — https://commons.wikimedia.org/wiki/File:ChatGPT-Logo.svg</a:t>
            </a:r>
          </a:p>
          <a:p xmlns:a="http://schemas.openxmlformats.org/drawingml/2006/main">
            <a:r>
              <a:t>- OpenAI design guidelines — https://openai.com/brand/</a:t>
            </a:r>
          </a:p>
          <a:p xmlns:a="http://schemas.openxmlformats.org/drawingml/2006/main">
            <a:r>
              <a:t>- Claude icon — https://github.com/simple-icons/simple-icons/blob/develop/icons/claude.svg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 most popular AI services, your question travels through the internet to a data center. Powerful computers there produce the answer and send it back. This is convenient because the company handles the difficult parts for us. But it also means the company pays for every request, and our information leaves our device. That is the system local AI is trying to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local AI model moves the main work from a company data center onto a laptop, desktop, phone, or private computer that you control. It does not have to be permanently disconnected from the internet. The simple difference is where the answer is produced. If the model runs on your own device, it can work offline and sensitive files do not automatically need to be sent to an outside company.</a:t>
            </a:r>
          </a:p>
          <a:p xmlns:a="http://schemas.openxmlformats.org/drawingml/2006/main">
            <a:r>
              <a:t/>
            </a:r>
          </a:p>
          <a:p xmlns:a="http://schemas.openxmlformats.org/drawingml/2006/main">
            <a:r>
              <a:t>Sources and image credits:</a:t>
            </a:r>
          </a:p>
          <a:p xmlns:a="http://schemas.openxmlformats.org/drawingml/2006/main">
            <a:r>
              <a:t>- Stock photo: Rahul Mishra, Unsplash — https://unsplash.com/photos/laptop-and-keyboard-on-a-dark-desk-BA2ELfOTqJ4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AI is not a distant idea. Families such as Qwen and Kimi provide models that people can download. Software such as Ollama makes some of those models much easier to run. You do not need to memorize these names. They simply show that an alternative to renting every answer from a large provider already exists, although the largest models still need expensive hardware.</a:t>
            </a:r>
          </a:p>
          <a:p xmlns:a="http://schemas.openxmlformats.org/drawingml/2006/main">
            <a:r>
              <a:t/>
            </a:r>
          </a:p>
          <a:p xmlns:a="http://schemas.openxmlformats.org/drawingml/2006/main">
            <a:r>
              <a:t>Sources and image credits:</a:t>
            </a:r>
          </a:p>
          <a:p xmlns:a="http://schemas.openxmlformats.org/drawingml/2006/main">
            <a:r>
              <a:t>- Qwen official repository — https://github.com/QwenLM/Qwen</a:t>
            </a:r>
          </a:p>
          <a:p xmlns:a="http://schemas.openxmlformats.org/drawingml/2006/main">
            <a:r>
              <a:t>- Kimi official branding guide — https://github.com/MoonshotAI/Branding-Guide</a:t>
            </a:r>
          </a:p>
          <a:p xmlns:a="http://schemas.openxmlformats.org/drawingml/2006/main">
            <a:r>
              <a:t>- Ollama official repository and logo — https://github.com/ollama/ollama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AI feels more like software you own. It can keep private files on your machine and continue working when Wi-Fi drops. Once the computer is ready, repeated questions do not create a visible new charge. That matters most for ordinary work you do often, rather than the most difficult question imaginable.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chart is only an illustration, not real pricing data. Cloud AI is usually cheaper and easier at the beginning because we do not need to buy special hardware. Its cost grows as we use it more. Local AI has a larger starting cost, but each extra request can become very cheap. That is why local AI may feel free to a frequent user even though the machine itself was never free.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word free can hide costs. A computer had to be purchased. It consumes electricity. Models and software need updates, and someone spends time fixing problems. At home, we often ignore that work because we do it ourselves. In a company, it becomes staff time and risk. So local AI changes where the cost appears. It does not make the cost disappear.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AI is useful, but cloud services still have major advantages. A company can run much larger systems, connect them to current information, and serve many users at once. Local AI works best for private, repeated, or offline tasks. The cloud works best when we need the strongest model or the newest information. There is no single winner for every situation.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AI can protect privacy, but the word local is not a guarantee. A connected plugin may send information to another service. A cloud backup may copy files off the device. Saved logs can keep sensitive prompts. The safer question is not simply, ‘Is the model local?’ It is, ‘Where does the information travel from beginning to 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Cheaper access cuts both ways. The same tools that help ordinary people can also make spam and scams cheaper. At work, people may run unapproved models on private information. Wider use can increase total power demand as well. The risk does not disappear when AI leaves a big company and moves onto personal devices.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most likely future is a mix. Your device will handle routine private work. The cloud will step in when a problem needs a bigger model or current information. To the user, it may still look like one assistant. What matters is being able to see when a request leaves the device.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 will AI be completely free? It may feel almost free for everyday use. If the model runs on a computer we already own, the visible price after each question can disappear. But somebody still pays for the hardware, electricity, updates, security, and mistakes. The real change is not that intelligence costs nothing. The change is that more people may own the tool and decide where their information goes.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010d11dbe8d44d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3832c8f20e04ce2" /><Relationship Type="http://schemas.openxmlformats.org/officeDocument/2006/relationships/slideLayout" Target="/ppt/slideLayouts/slideLayout1.xml" Id="Ra059161b52a2465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059161b52a2465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6a71cd533b84f3a" /><Relationship Type="http://schemas.openxmlformats.org/officeDocument/2006/relationships/notesSlide" Target="/ppt/notesSlides/notesSlide1.xml" Id="R10ccdd0ad2b444e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e0978576e2d45f8" /><Relationship Type="http://schemas.openxmlformats.org/officeDocument/2006/relationships/image" Target="/ppt/media/image.png" Id="R64d4a785732e412d" /><Relationship Type="http://schemas.openxmlformats.org/officeDocument/2006/relationships/image" Target="/ppt/media/image2.png" Id="R9f4c4931e3884c1d" /><Relationship Type="http://schemas.openxmlformats.org/officeDocument/2006/relationships/notesSlide" Target="/ppt/notesSlides/notesSlide2.xml" Id="R44a20c77ddd24b9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facedeac00b436e" /><Relationship Type="http://schemas.openxmlformats.org/officeDocument/2006/relationships/notesSlide" Target="/ppt/notesSlides/notesSlide3.xml" Id="Ra4a6b0d970004da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44674713f944856" /><Relationship Type="http://schemas.openxmlformats.org/officeDocument/2006/relationships/image" Target="/ppt/media/image.jpeg" Id="R891e9c747766412e" /><Relationship Type="http://schemas.openxmlformats.org/officeDocument/2006/relationships/notesSlide" Target="/ppt/notesSlides/notesSlide4.xml" Id="R202b4d262b57407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ba8e515b86e426c" /><Relationship Type="http://schemas.openxmlformats.org/officeDocument/2006/relationships/image" Target="/ppt/media/image3.png" Id="R475912e981624d15" /><Relationship Type="http://schemas.openxmlformats.org/officeDocument/2006/relationships/image" Target="/ppt/media/image4.png" Id="R35987966a6924935" /><Relationship Type="http://schemas.openxmlformats.org/officeDocument/2006/relationships/image" Target="/ppt/media/image5.png" Id="R7aacd8cfac804daa" /><Relationship Type="http://schemas.openxmlformats.org/officeDocument/2006/relationships/notesSlide" Target="/ppt/notesSlides/notesSlide5.xml" Id="R589b74bf840f431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1f3f16864874768" /><Relationship Type="http://schemas.openxmlformats.org/officeDocument/2006/relationships/notesSlide" Target="/ppt/notesSlides/notesSlide6.xml" Id="Re4d526315d13477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adbc0109ac54b49" /><Relationship Type="http://schemas.openxmlformats.org/officeDocument/2006/relationships/chart" Target="/ppt/slides/charts/chart1.xml" Id="R7e84164ba3694493" /><Relationship Type="http://schemas.openxmlformats.org/officeDocument/2006/relationships/notesSlide" Target="/ppt/notesSlides/notesSlide7.xml" Id="R5707a7cd7020464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838c392a42d407f" /><Relationship Type="http://schemas.openxmlformats.org/officeDocument/2006/relationships/notesSlide" Target="/ppt/notesSlides/notesSlide8.xml" Id="Rd6744b5d6cdb496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384e93716e1475a" /><Relationship Type="http://schemas.openxmlformats.org/officeDocument/2006/relationships/notesSlide" Target="/ppt/notesSlides/notesSlide9.xml" Id="Rf48cdf98d28b4bb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ed08ca8c41d4eaf" /><Relationship Type="http://schemas.openxmlformats.org/officeDocument/2006/relationships/notesSlide" Target="/ppt/notesSlides/notesSlide10.xml" Id="Rb40e09832c0a426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daf70edc3ab4969" /><Relationship Type="http://schemas.openxmlformats.org/officeDocument/2006/relationships/notesSlide" Target="/ppt/notesSlides/notesSlide11.xml" Id="R56e8253315cf40a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cc7ff5b45d44fd2" /><Relationship Type="http://schemas.openxmlformats.org/officeDocument/2006/relationships/notesSlide" Target="/ppt/notesSlides/notesSlide12.xml" Id="R2a88c0e859db4b1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f3b5d7d98c0432b" /><Relationship Type="http://schemas.openxmlformats.org/officeDocument/2006/relationships/notesSlide" Target="/ppt/notesSlides/notesSlide13.xml" Id="R85ccac82284f486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Cloud</c:v>
          </c:tx>
          <c:spPr>
            <a:ln xmlns:a="http://schemas.openxmlformats.org/drawingml/2006/main" w="38100">
              <a:solidFill>
                <a:srgbClr val="4078FF"/>
              </a:solidFill>
              <a:prstDash val="solid"/>
            </a:ln>
          </c:spPr>
          <c:marker>
            <c:symbol val="circle"/>
            <c:size val="8"/>
            <c:spPr>
              <a:solidFill xmlns:a="http://schemas.openxmlformats.org/drawingml/2006/main">
                <a:srgbClr val="4078FF"/>
              </a:solidFill>
            </c:spPr>
          </c:marker>
          <c:cat>
            <c:strRef>
              <c:f>'Chart Data'!$A$2:$A$4</c:f>
              <c:strCache>
                <c:ptCount val="3"/>
                <c:pt idx="0">
                  <c:v>Light use</c:v>
                </c:pt>
                <c:pt idx="1">
                  <c:v>Regular use</c:v>
                </c:pt>
                <c:pt idx="2">
                  <c:v>Heavy use</c:v>
                </c:pt>
              </c:strCache>
            </c:strRef>
          </c:cat>
          <c:val>
            <c:numRef>
              <c:f>'Chart Data'!$B$2:$B$4</c:f>
              <c:numCache>
                <c:formatCode>General</c:formatCode>
                <c:ptCount val="3"/>
                <c:pt idx="0">
                  <c:v>18</c:v>
                </c:pt>
                <c:pt idx="1">
                  <c:v>55</c:v>
                </c:pt>
                <c:pt idx="2">
                  <c:v>105</c:v>
                </c:pt>
              </c:numCache>
            </c:numRef>
          </c:val>
          <c:smooth val="0"/>
        </c:ser>
        <c:ser>
          <c:idx val="1"/>
          <c:order val="1"/>
          <c:tx>
            <c:v>Local</c:v>
          </c:tx>
          <c:spPr>
            <a:ln xmlns:a="http://schemas.openxmlformats.org/drawingml/2006/main" w="38100">
              <a:solidFill>
                <a:srgbClr val="C96E42"/>
              </a:solidFill>
              <a:prstDash val="solid"/>
            </a:ln>
          </c:spPr>
          <c:marker>
            <c:symbol val="circle"/>
            <c:size val="8"/>
            <c:spPr>
              <a:solidFill xmlns:a="http://schemas.openxmlformats.org/drawingml/2006/main">
                <a:srgbClr val="C96E42"/>
              </a:solidFill>
            </c:spPr>
          </c:marker>
          <c:cat>
            <c:strRef>
              <c:f>'Chart Data'!$C$2:$C$4</c:f>
              <c:strCache>
                <c:ptCount val="3"/>
                <c:pt idx="0">
                  <c:v>Light use</c:v>
                </c:pt>
                <c:pt idx="1">
                  <c:v>Regular use</c:v>
                </c:pt>
                <c:pt idx="2">
                  <c:v>Heavy use</c:v>
                </c:pt>
              </c:strCache>
            </c:strRef>
          </c:cat>
          <c:val>
            <c:numRef>
              <c:f>'Chart Data'!$D$2:$D$4</c:f>
              <c:numCache>
                <c:formatCode>General</c:formatCode>
                <c:ptCount val="3"/>
                <c:pt idx="0">
                  <c:v>72</c:v>
                </c:pt>
                <c:pt idx="1">
                  <c:v>78</c:v>
                </c:pt>
                <c:pt idx="2">
                  <c:v>88</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55565F"/>
            </a:solidFill>
            <a:prstDash val="solid"/>
          </a:ln>
        </c:spPr>
        <c:txPr>
          <a:bodyPr xmlns:a="http://schemas.openxmlformats.org/drawingml/2006/main" anchorCtr="1"/>
          <a:lstStyle xmlns:a="http://schemas.openxmlformats.org/drawingml/2006/main"/>
          <a:p xmlns:a="http://schemas.openxmlformats.org/drawingml/2006/main">
            <a:pPr>
              <a:defRPr sz="1125">
                <a:solidFill>
                  <a:srgbClr val="FFFFFF"/>
                </a:solidFill>
                <a:latin typeface="Helvetica Neue"/>
                <a:ea typeface="Helvetica Neue"/>
                <a:cs typeface="Helvetica Neue"/>
              </a:defRPr>
            </a:pPr>
          </a:p>
        </c:txPr>
        <c:crossAx val="48672768"/>
      </c:catAx>
      <c:valAx>
        <c:axId val="48672768"/>
        <c:scaling>
          <c:orientation val="minMax"/>
          <c:max val="120"/>
          <c:min val="0"/>
        </c:scaling>
        <c:delete val="0"/>
        <c:axPos val="l"/>
        <c:numFmt formatCode="General"/>
        <c:majorTickMark val="none"/>
        <c:minorTickMark val="none"/>
        <c:tickLblPos val="none"/>
        <c:spPr>
          <a:ln xmlns:a="http://schemas.openxmlformats.org/drawingml/2006/main" w="0">
            <a:solidFill>
              <a:srgbClr val="10111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101114"/>
        </a:solidFill>
        <a:ln xmlns:a="http://schemas.openxmlformats.org/drawingml/2006/main" w="0">
          <a:solidFill>
            <a:srgbClr val="101114"/>
          </a:solidFill>
        </a:ln>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FFFFFF"/>
              </a:solidFill>
              <a:latin typeface="Helvetica Neue"/>
              <a:ea typeface="Helvetica Neue"/>
              <a:cs typeface="Helvetica Neue"/>
            </a:defRPr>
          </a:pPr>
        </a:p>
      </c:txPr>
    </c:legend>
    <c:plotVisOnly val="1"/>
  </c:chart>
  <c:spPr>
    <a:solidFill xmlns:a="http://schemas.openxmlformats.org/drawingml/2006/main">
      <a:srgbClr val="101114"/>
    </a:solidFill>
    <a:ln xmlns:a="http://schemas.openxmlformats.org/drawingml/2006/main" w="0">
      <a:solidFill>
        <a:srgbClr val="101114"/>
      </a:solid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6558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F9BEC75-0D29-4434-8B65-5302CC217EE0}"/>
              </a:ext>
            </a:extLst>
          </p:cNvPr>
          <p:cNvSpPr>
            <a:spLocks xmlns:a="http://schemas.openxmlformats.org/drawingml/2006/main" noGrp="1"/>
          </p:cNvSpPr>
          <p:nvPr/>
        </p:nvSpPr>
        <p:spPr>
          <a:xfrm xmlns:a="http://schemas.openxmlformats.org/drawingml/2006/main">
            <a:off x="628650" y="876300"/>
            <a:ext cx="857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5400" b="1">
                <a:solidFill>
                  <a:srgbClr val="FFFFFF"/>
                </a:solidFill>
                <a:latin typeface="Helvetica Neue"/>
                <a:ea typeface="Helvetica Neue"/>
                <a:cs typeface="Helvetica Neue"/>
              </a:defRPr>
            </a:pPr>
            <a:r>
              <a:rPr sz="5400" b="1">
                <a:solidFill>
                  <a:srgbClr val="FFFFFF"/>
                </a:solidFill>
                <a:latin typeface="Helvetica Neue"/>
                <a:ea typeface="Helvetica Neue"/>
                <a:cs typeface="Helvetica Neue"/>
              </a:rPr>
              <a:t>WILL AI BE</a:t>
            </a:r>
          </a:p>
          <a:p xmlns:a="http://schemas.openxmlformats.org/drawingml/2006/main">
            <a:pPr algn="l">
              <a:lnSpc>
                <a:spcPct val="92000"/>
              </a:lnSpc>
              <a:buNone/>
              <a:defRPr sz="5400" b="1">
                <a:solidFill>
                  <a:srgbClr val="FFFFFF"/>
                </a:solidFill>
                <a:latin typeface="Helvetica Neue"/>
                <a:ea typeface="Helvetica Neue"/>
                <a:cs typeface="Helvetica Neue"/>
              </a:defRPr>
            </a:pPr>
            <a:r>
              <a:rPr sz="5400" b="1">
                <a:solidFill>
                  <a:srgbClr val="FFFFFF"/>
                </a:solidFill>
                <a:latin typeface="Helvetica Neue"/>
                <a:ea typeface="Helvetica Neue"/>
                <a:cs typeface="Helvetica Neue"/>
              </a:rPr>
              <a:t>COMPLETELY FREE?</a:t>
            </a:r>
          </a:p>
        </p:txBody>
      </p:sp>
      <p:sp>
        <p:nvSpPr>
          <p:cNvPr id="2" name="">
            <a:extLst xmlns:a="http://schemas.openxmlformats.org/drawingml/2006/main">
              <a:ext uri="{FF2B5EF4-FFF2-40B4-BE49-F238E27FC236}">
                <a16:creationId xmlns:a16="http://schemas.microsoft.com/office/drawing/2014/main" id="{CDE92ABF-CC1F-4606-8EA5-DB06B067F425}"/>
              </a:ext>
            </a:extLst>
          </p:cNvPr>
          <p:cNvSpPr>
            <a:spLocks xmlns:a="http://schemas.openxmlformats.org/drawingml/2006/main" noGrp="1"/>
          </p:cNvSpPr>
          <p:nvPr/>
        </p:nvSpPr>
        <p:spPr>
          <a:xfrm xmlns:a="http://schemas.openxmlformats.org/drawingml/2006/main">
            <a:off x="628650" y="3067050"/>
            <a:ext cx="4762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750" b="1">
                <a:solidFill>
                  <a:srgbClr val="BEB8FF"/>
                </a:solidFill>
                <a:latin typeface="Helvetica Neue"/>
                <a:ea typeface="Helvetica Neue"/>
                <a:cs typeface="Helvetica Neue"/>
              </a:defRPr>
            </a:pPr>
            <a:r>
              <a:rPr sz="3750" b="1">
                <a:solidFill>
                  <a:srgbClr val="BEB8FF"/>
                </a:solidFill>
                <a:latin typeface="Helvetica Neue"/>
                <a:ea typeface="Helvetica Neue"/>
                <a:cs typeface="Helvetica Neue"/>
              </a:rPr>
              <a:t>(SOON)</a:t>
            </a:r>
          </a:p>
        </p:txBody>
      </p:sp>
      <p:sp>
        <p:nvSpPr>
          <p:cNvPr id="3" name="">
            <a:extLst xmlns:a="http://schemas.openxmlformats.org/drawingml/2006/main">
              <a:ext uri="{FF2B5EF4-FFF2-40B4-BE49-F238E27FC236}">
                <a16:creationId xmlns:a16="http://schemas.microsoft.com/office/drawing/2014/main" id="{2ED11FBC-9E84-4F92-B57D-E332C029B4A7}"/>
              </a:ext>
            </a:extLst>
          </p:cNvPr>
          <p:cNvSpPr>
            <a:spLocks xmlns:a="http://schemas.openxmlformats.org/drawingml/2006/main" noGrp="1"/>
          </p:cNvSpPr>
          <p:nvPr/>
        </p:nvSpPr>
        <p:spPr>
          <a:xfrm xmlns:a="http://schemas.openxmlformats.org/drawingml/2006/main">
            <a:off x="647700" y="4514850"/>
            <a:ext cx="2381250" cy="0"/>
          </a:xfrm>
          <a:prstGeom xmlns:a="http://schemas.openxmlformats.org/drawingml/2006/main" prst="line">
            <a:avLst/>
          </a:prstGeom>
          <a:noFill xmlns:a="http://schemas.openxmlformats.org/drawingml/2006/main"/>
          <a:ln xmlns:a="http://schemas.openxmlformats.org/drawingml/2006/main" w="28575">
            <a:solidFill>
              <a:srgbClr val="FFFFFF"/>
            </a:solidFill>
            <a:prstDash val="solid"/>
          </a:ln>
        </p:spPr>
      </p:sp>
      <p:sp>
        <p:nvSpPr>
          <p:cNvPr id="4" name="">
            <a:extLst xmlns:a="http://schemas.openxmlformats.org/drawingml/2006/main">
              <a:ext uri="{FF2B5EF4-FFF2-40B4-BE49-F238E27FC236}">
                <a16:creationId xmlns:a16="http://schemas.microsoft.com/office/drawing/2014/main" id="{92DDA847-2DFF-4C55-B523-11686F8FC0FF}"/>
              </a:ext>
            </a:extLst>
          </p:cNvPr>
          <p:cNvSpPr>
            <a:spLocks xmlns:a="http://schemas.openxmlformats.org/drawingml/2006/main" noGrp="1"/>
          </p:cNvSpPr>
          <p:nvPr/>
        </p:nvSpPr>
        <p:spPr>
          <a:xfrm xmlns:a="http://schemas.openxmlformats.org/drawingml/2006/main">
            <a:off x="628650" y="4810125"/>
            <a:ext cx="752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Local AI, without the technical jargon</a:t>
            </a:r>
          </a:p>
        </p:txBody>
      </p:sp>
    </p:spTree>
    <p:extLst>
      <p:ext uri="{BB962C8B-B14F-4D97-AF65-F5344CB8AC3E}">
        <p14:creationId xmlns:p14="http://schemas.microsoft.com/office/powerpoint/2010/main" val="848580380"/>
      </p:ext>
    </p:extLst>
  </p:cSld>
</p:sld>
</file>

<file path=ppt/slides/slide2.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1BCDF03-B553-4C6A-B865-4332A4314C58}"/>
              </a:ext>
            </a:extLst>
          </p:cNvPr>
          <p:cNvSpPr>
            <a:spLocks xmlns:a="http://schemas.openxmlformats.org/drawingml/2006/main" noGrp="1"/>
          </p:cNvSpPr>
          <p:nvPr/>
        </p:nvSpPr>
        <p:spPr>
          <a:xfrm xmlns:a="http://schemas.openxmlformats.org/drawingml/2006/main">
            <a:off x="609600" y="495300"/>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75" b="1">
                <a:solidFill>
                  <a:srgbClr val="101114"/>
                </a:solidFill>
                <a:latin typeface="Helvetica Neue"/>
                <a:ea typeface="Helvetica Neue"/>
                <a:cs typeface="Helvetica Neue"/>
              </a:defRPr>
            </a:pPr>
            <a:r>
              <a:rPr sz="2775" b="1">
                <a:solidFill>
                  <a:srgbClr val="101114"/>
                </a:solidFill>
                <a:latin typeface="Helvetica Neue"/>
                <a:ea typeface="Helvetica Neue"/>
                <a:cs typeface="Helvetica Neue"/>
              </a:rPr>
              <a:t>You have probably used AI already</a:t>
            </a:r>
          </a:p>
        </p:txBody>
      </p:sp>
      <p:sp>
        <p:nvSpPr>
          <p:cNvPr id="2" name="">
            <a:extLst xmlns:a="http://schemas.openxmlformats.org/drawingml/2006/main">
              <a:ext uri="{FF2B5EF4-FFF2-40B4-BE49-F238E27FC236}">
                <a16:creationId xmlns:a16="http://schemas.microsoft.com/office/drawing/2014/main" id="{5AC6C98B-3D95-4345-96D4-103B65EEAF15}"/>
              </a:ext>
            </a:extLst>
          </p:cNvPr>
          <p:cNvSpPr>
            <a:spLocks xmlns:a="http://schemas.openxmlformats.org/drawingml/2006/main" noGrp="1"/>
          </p:cNvSpPr>
          <p:nvPr/>
        </p:nvSpPr>
        <p:spPr>
          <a:xfrm xmlns:a="http://schemas.openxmlformats.org/drawingml/2006/main">
            <a:off x="11239500" y="5524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6558F5"/>
                </a:solidFill>
                <a:latin typeface="Helvetica Neue"/>
                <a:ea typeface="Helvetica Neue"/>
                <a:cs typeface="Helvetica Neue"/>
              </a:defRPr>
            </a:pPr>
            <a:r>
              <a:rPr sz="975" b="1">
                <a:solidFill>
                  <a:srgbClr val="6558F5"/>
                </a:solidFill>
                <a:latin typeface="Helvetica Neue"/>
                <a:ea typeface="Helvetica Neue"/>
                <a:cs typeface="Helvetica Neue"/>
              </a:rPr>
              <a:t>02</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64d4a785732e412d"/>
          <a:stretch xmlns:a="http://schemas.openxmlformats.org/drawingml/2006/main"/>
        </p:blipFill>
        <p:spPr>
          <a:xfrm xmlns:a="http://schemas.openxmlformats.org/drawingml/2006/main">
            <a:off x="1752600" y="1695450"/>
            <a:ext cx="2381250" cy="2381250"/>
          </a:xfrm>
          <a:prstGeom xmlns:a="http://schemas.openxmlformats.org/drawingml/2006/main" prst="rect">
            <a:avLst/>
          </a:prstGeom>
        </p:spPr>
      </p:pic>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f4c4931e3884c1d"/>
          <a:stretch xmlns:a="http://schemas.openxmlformats.org/drawingml/2006/main"/>
        </p:blipFill>
        <p:spPr>
          <a:xfrm xmlns:a="http://schemas.openxmlformats.org/drawingml/2006/main">
            <a:off x="8058150" y="1695450"/>
            <a:ext cx="2381250" cy="2381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3604F9A-86B2-4E93-8057-06D8673F212F}"/>
              </a:ext>
            </a:extLst>
          </p:cNvPr>
          <p:cNvSpPr>
            <a:spLocks xmlns:a="http://schemas.openxmlformats.org/drawingml/2006/main" noGrp="1"/>
          </p:cNvSpPr>
          <p:nvPr/>
        </p:nvSpPr>
        <p:spPr>
          <a:xfrm xmlns:a="http://schemas.openxmlformats.org/drawingml/2006/main">
            <a:off x="1476375" y="4314825"/>
            <a:ext cx="295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400" b="1">
                <a:solidFill>
                  <a:srgbClr val="101114"/>
                </a:solidFill>
                <a:latin typeface="Helvetica Neue"/>
                <a:ea typeface="Helvetica Neue"/>
                <a:cs typeface="Helvetica Neue"/>
              </a:defRPr>
            </a:pPr>
            <a:r>
              <a:rPr sz="2400" b="1">
                <a:solidFill>
                  <a:srgbClr val="101114"/>
                </a:solidFill>
                <a:latin typeface="Helvetica Neue"/>
                <a:ea typeface="Helvetica Neue"/>
                <a:cs typeface="Helvetica Neue"/>
              </a:rPr>
              <a:t>ChatGPT</a:t>
            </a:r>
          </a:p>
        </p:txBody>
      </p:sp>
      <p:sp>
        <p:nvSpPr>
          <p:cNvPr id="6" name="">
            <a:extLst xmlns:a="http://schemas.openxmlformats.org/drawingml/2006/main">
              <a:ext uri="{FF2B5EF4-FFF2-40B4-BE49-F238E27FC236}">
                <a16:creationId xmlns:a16="http://schemas.microsoft.com/office/drawing/2014/main" id="{44674717-D173-4318-BEB6-F2E22D4D5ECB}"/>
              </a:ext>
            </a:extLst>
          </p:cNvPr>
          <p:cNvSpPr>
            <a:spLocks xmlns:a="http://schemas.openxmlformats.org/drawingml/2006/main" noGrp="1"/>
          </p:cNvSpPr>
          <p:nvPr/>
        </p:nvSpPr>
        <p:spPr>
          <a:xfrm xmlns:a="http://schemas.openxmlformats.org/drawingml/2006/main">
            <a:off x="7781925" y="4314825"/>
            <a:ext cx="295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400" b="1">
                <a:solidFill>
                  <a:srgbClr val="101114"/>
                </a:solidFill>
                <a:latin typeface="Helvetica Neue"/>
                <a:ea typeface="Helvetica Neue"/>
                <a:cs typeface="Helvetica Neue"/>
              </a:defRPr>
            </a:pPr>
            <a:r>
              <a:rPr sz="2400" b="1">
                <a:solidFill>
                  <a:srgbClr val="101114"/>
                </a:solidFill>
                <a:latin typeface="Helvetica Neue"/>
                <a:ea typeface="Helvetica Neue"/>
                <a:cs typeface="Helvetica Neue"/>
              </a:rPr>
              <a:t>Claude</a:t>
            </a:r>
          </a:p>
        </p:txBody>
      </p:sp>
    </p:spTree>
    <p:extLst>
      <p:ext uri="{BB962C8B-B14F-4D97-AF65-F5344CB8AC3E}">
        <p14:creationId xmlns:p14="http://schemas.microsoft.com/office/powerpoint/2010/main" val="418647612"/>
      </p:ext>
    </p:extLst>
  </p:cSld>
</p:sld>
</file>

<file path=ppt/slides/slide3.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900539C-0419-40DE-B07F-A3164FC7C43C}"/>
              </a:ext>
            </a:extLst>
          </p:cNvPr>
          <p:cNvSpPr>
            <a:spLocks xmlns:a="http://schemas.openxmlformats.org/drawingml/2006/main" noGrp="1"/>
          </p:cNvSpPr>
          <p:nvPr/>
        </p:nvSpPr>
        <p:spPr>
          <a:xfrm xmlns:a="http://schemas.openxmlformats.org/drawingml/2006/main">
            <a:off x="609600" y="495300"/>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75" b="1">
                <a:solidFill>
                  <a:srgbClr val="101114"/>
                </a:solidFill>
                <a:latin typeface="Helvetica Neue"/>
                <a:ea typeface="Helvetica Neue"/>
                <a:cs typeface="Helvetica Neue"/>
              </a:defRPr>
            </a:pPr>
            <a:r>
              <a:rPr sz="2775" b="1">
                <a:solidFill>
                  <a:srgbClr val="101114"/>
                </a:solidFill>
                <a:latin typeface="Helvetica Neue"/>
                <a:ea typeface="Helvetica Neue"/>
                <a:cs typeface="Helvetica Neue"/>
              </a:rPr>
              <a:t>Where the answer happens</a:t>
            </a:r>
          </a:p>
        </p:txBody>
      </p:sp>
      <p:sp>
        <p:nvSpPr>
          <p:cNvPr id="2" name="">
            <a:extLst xmlns:a="http://schemas.openxmlformats.org/drawingml/2006/main">
              <a:ext uri="{FF2B5EF4-FFF2-40B4-BE49-F238E27FC236}">
                <a16:creationId xmlns:a16="http://schemas.microsoft.com/office/drawing/2014/main" id="{7CDF5FC0-1B44-4848-AA13-FD300EF0ABD2}"/>
              </a:ext>
            </a:extLst>
          </p:cNvPr>
          <p:cNvSpPr>
            <a:spLocks xmlns:a="http://schemas.openxmlformats.org/drawingml/2006/main" noGrp="1"/>
          </p:cNvSpPr>
          <p:nvPr/>
        </p:nvSpPr>
        <p:spPr>
          <a:xfrm xmlns:a="http://schemas.openxmlformats.org/drawingml/2006/main">
            <a:off x="11239500" y="5524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6558F5"/>
                </a:solidFill>
                <a:latin typeface="Helvetica Neue"/>
                <a:ea typeface="Helvetica Neue"/>
                <a:cs typeface="Helvetica Neue"/>
              </a:defRPr>
            </a:pPr>
            <a:r>
              <a:rPr sz="975" b="1">
                <a:solidFill>
                  <a:srgbClr val="6558F5"/>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25ED2EB7-C9E4-4BD9-A387-5F7AF01E3BEB}"/>
              </a:ext>
            </a:extLst>
          </p:cNvPr>
          <p:cNvSpPr>
            <a:spLocks xmlns:a="http://schemas.openxmlformats.org/drawingml/2006/main" noGrp="1"/>
          </p:cNvSpPr>
          <p:nvPr/>
        </p:nvSpPr>
        <p:spPr>
          <a:xfrm xmlns:a="http://schemas.openxmlformats.org/drawingml/2006/main">
            <a:off x="819150" y="2381250"/>
            <a:ext cx="228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3600" b="1">
                <a:solidFill>
                  <a:srgbClr val="6558F5"/>
                </a:solidFill>
                <a:latin typeface="Helvetica Neue"/>
                <a:ea typeface="Helvetica Neue"/>
                <a:cs typeface="Helvetica Neue"/>
              </a:defRPr>
            </a:pPr>
            <a:r>
              <a:rPr sz="3600" b="1">
                <a:solidFill>
                  <a:srgbClr val="6558F5"/>
                </a:solidFill>
                <a:latin typeface="Helvetica Neue"/>
                <a:ea typeface="Helvetica Neue"/>
                <a:cs typeface="Helvetica Neue"/>
              </a:rPr>
              <a:t>YOU</a:t>
            </a:r>
          </a:p>
        </p:txBody>
      </p:sp>
      <p:sp>
        <p:nvSpPr>
          <p:cNvPr id="4" name="">
            <a:extLst xmlns:a="http://schemas.openxmlformats.org/drawingml/2006/main">
              <a:ext uri="{FF2B5EF4-FFF2-40B4-BE49-F238E27FC236}">
                <a16:creationId xmlns:a16="http://schemas.microsoft.com/office/drawing/2014/main" id="{2DA3E0F8-49F2-4D35-8A26-B5943BEB5CFF}"/>
              </a:ext>
            </a:extLst>
          </p:cNvPr>
          <p:cNvSpPr>
            <a:spLocks xmlns:a="http://schemas.openxmlformats.org/drawingml/2006/main" noGrp="1"/>
          </p:cNvSpPr>
          <p:nvPr/>
        </p:nvSpPr>
        <p:spPr>
          <a:xfrm xmlns:a="http://schemas.openxmlformats.org/drawingml/2006/main">
            <a:off x="4953000" y="2381250"/>
            <a:ext cx="228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325" b="1">
                <a:solidFill>
                  <a:srgbClr val="101114"/>
                </a:solidFill>
                <a:latin typeface="Helvetica Neue"/>
                <a:ea typeface="Helvetica Neue"/>
                <a:cs typeface="Helvetica Neue"/>
              </a:defRPr>
            </a:pPr>
            <a:r>
              <a:rPr sz="2325" b="1">
                <a:solidFill>
                  <a:srgbClr val="101114"/>
                </a:solidFill>
                <a:latin typeface="Helvetica Neue"/>
                <a:ea typeface="Helvetica Neue"/>
                <a:cs typeface="Helvetica Neue"/>
              </a:rPr>
              <a:t>THE INTERNET</a:t>
            </a:r>
          </a:p>
        </p:txBody>
      </p:sp>
      <p:sp>
        <p:nvSpPr>
          <p:cNvPr id="5" name="">
            <a:extLst xmlns:a="http://schemas.openxmlformats.org/drawingml/2006/main">
              <a:ext uri="{FF2B5EF4-FFF2-40B4-BE49-F238E27FC236}">
                <a16:creationId xmlns:a16="http://schemas.microsoft.com/office/drawing/2014/main" id="{077435D0-D6C2-4E9C-8661-EA4DAD3B4117}"/>
              </a:ext>
            </a:extLst>
          </p:cNvPr>
          <p:cNvSpPr>
            <a:spLocks xmlns:a="http://schemas.openxmlformats.org/drawingml/2006/main" noGrp="1"/>
          </p:cNvSpPr>
          <p:nvPr/>
        </p:nvSpPr>
        <p:spPr>
          <a:xfrm xmlns:a="http://schemas.openxmlformats.org/drawingml/2006/main">
            <a:off x="8782050" y="2381250"/>
            <a:ext cx="266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325" b="1">
                <a:solidFill>
                  <a:srgbClr val="C96E42"/>
                </a:solidFill>
                <a:latin typeface="Helvetica Neue"/>
                <a:ea typeface="Helvetica Neue"/>
                <a:cs typeface="Helvetica Neue"/>
              </a:defRPr>
            </a:pPr>
            <a:r>
              <a:rPr sz="2325" b="1">
                <a:solidFill>
                  <a:srgbClr val="C96E42"/>
                </a:solidFill>
                <a:latin typeface="Helvetica Neue"/>
                <a:ea typeface="Helvetica Neue"/>
                <a:cs typeface="Helvetica Neue"/>
              </a:rPr>
              <a:t>A DATA CENTER</a:t>
            </a:r>
          </a:p>
        </p:txBody>
      </p:sp>
      <p:sp>
        <p:nvSpPr>
          <p:cNvPr id="6" name="">
            <a:extLst xmlns:a="http://schemas.openxmlformats.org/drawingml/2006/main">
              <a:ext uri="{FF2B5EF4-FFF2-40B4-BE49-F238E27FC236}">
                <a16:creationId xmlns:a16="http://schemas.microsoft.com/office/drawing/2014/main" id="{F7CFDA3E-90DB-4850-AB19-C9A2616F330D}"/>
              </a:ext>
            </a:extLst>
          </p:cNvPr>
          <p:cNvSpPr>
            <a:spLocks xmlns:a="http://schemas.openxmlformats.org/drawingml/2006/main" noGrp="1"/>
          </p:cNvSpPr>
          <p:nvPr/>
        </p:nvSpPr>
        <p:spPr>
          <a:xfrm xmlns:a="http://schemas.openxmlformats.org/drawingml/2006/main">
            <a:off x="2952750" y="2714625"/>
            <a:ext cx="1981200" cy="0"/>
          </a:xfrm>
          <a:prstGeom xmlns:a="http://schemas.openxmlformats.org/drawingml/2006/main" prst="line">
            <a:avLst/>
          </a:prstGeom>
          <a:noFill xmlns:a="http://schemas.openxmlformats.org/drawingml/2006/main"/>
          <a:ln xmlns:a="http://schemas.openxmlformats.org/drawingml/2006/main" w="28575">
            <a:solidFill>
              <a:srgbClr val="CFCAC0"/>
            </a:solidFill>
            <a:prstDash val="solid"/>
          </a:ln>
        </p:spPr>
      </p:sp>
      <p:sp>
        <p:nvSpPr>
          <p:cNvPr id="7" name="">
            <a:extLst xmlns:a="http://schemas.openxmlformats.org/drawingml/2006/main">
              <a:ext uri="{FF2B5EF4-FFF2-40B4-BE49-F238E27FC236}">
                <a16:creationId xmlns:a16="http://schemas.microsoft.com/office/drawing/2014/main" id="{BC9F4371-A92E-486A-BDF1-9FA3ED2F362D}"/>
              </a:ext>
            </a:extLst>
          </p:cNvPr>
          <p:cNvSpPr>
            <a:spLocks xmlns:a="http://schemas.openxmlformats.org/drawingml/2006/main" noGrp="1"/>
          </p:cNvSpPr>
          <p:nvPr/>
        </p:nvSpPr>
        <p:spPr>
          <a:xfrm xmlns:a="http://schemas.openxmlformats.org/drawingml/2006/main">
            <a:off x="7239000" y="2714625"/>
            <a:ext cx="1524000" cy="0"/>
          </a:xfrm>
          <a:prstGeom xmlns:a="http://schemas.openxmlformats.org/drawingml/2006/main" prst="line">
            <a:avLst/>
          </a:prstGeom>
          <a:noFill xmlns:a="http://schemas.openxmlformats.org/drawingml/2006/main"/>
          <a:ln xmlns:a="http://schemas.openxmlformats.org/drawingml/2006/main" w="28575">
            <a:solidFill>
              <a:srgbClr val="CFCAC0"/>
            </a:solidFill>
            <a:prstDash val="solid"/>
          </a:ln>
        </p:spPr>
      </p:sp>
      <p:sp>
        <p:nvSpPr>
          <p:cNvPr id="8" name="">
            <a:extLst xmlns:a="http://schemas.openxmlformats.org/drawingml/2006/main">
              <a:ext uri="{FF2B5EF4-FFF2-40B4-BE49-F238E27FC236}">
                <a16:creationId xmlns:a16="http://schemas.microsoft.com/office/drawing/2014/main" id="{B1B3A5B3-084A-4227-AA4B-B9DA781FA77C}"/>
              </a:ext>
            </a:extLst>
          </p:cNvPr>
          <p:cNvSpPr>
            <a:spLocks xmlns:a="http://schemas.openxmlformats.org/drawingml/2006/main" noGrp="1"/>
          </p:cNvSpPr>
          <p:nvPr/>
        </p:nvSpPr>
        <p:spPr>
          <a:xfrm xmlns:a="http://schemas.openxmlformats.org/drawingml/2006/main">
            <a:off x="1619250" y="4495800"/>
            <a:ext cx="8953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550" b="1">
                <a:solidFill>
                  <a:srgbClr val="101114"/>
                </a:solidFill>
                <a:latin typeface="Helvetica Neue"/>
                <a:ea typeface="Helvetica Neue"/>
                <a:cs typeface="Helvetica Neue"/>
              </a:defRPr>
            </a:pPr>
            <a:r>
              <a:rPr sz="2550" b="1">
                <a:solidFill>
                  <a:srgbClr val="101114"/>
                </a:solidFill>
                <a:latin typeface="Helvetica Neue"/>
                <a:ea typeface="Helvetica Neue"/>
                <a:cs typeface="Helvetica Neue"/>
              </a:rPr>
              <a:t>Someone pays for the answer.</a:t>
            </a:r>
          </a:p>
        </p:txBody>
      </p:sp>
    </p:spTree>
    <p:extLst>
      <p:ext uri="{BB962C8B-B14F-4D97-AF65-F5344CB8AC3E}">
        <p14:creationId xmlns:p14="http://schemas.microsoft.com/office/powerpoint/2010/main" val="42043473"/>
      </p:ext>
    </p:extLst>
  </p:cSld>
</p:sld>
</file>

<file path=ppt/slides/slide4.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59AD6E1-C9A9-422B-9F61-D33051237F0A}"/>
              </a:ext>
            </a:extLst>
          </p:cNvPr>
          <p:cNvSpPr>
            <a:spLocks xmlns:a="http://schemas.openxmlformats.org/drawingml/2006/main" noGrp="1"/>
          </p:cNvSpPr>
          <p:nvPr/>
        </p:nvSpPr>
        <p:spPr>
          <a:xfrm xmlns:a="http://schemas.openxmlformats.org/drawingml/2006/main">
            <a:off x="609600" y="495300"/>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75" b="1">
                <a:solidFill>
                  <a:srgbClr val="101114"/>
                </a:solidFill>
                <a:latin typeface="Helvetica Neue"/>
                <a:ea typeface="Helvetica Neue"/>
                <a:cs typeface="Helvetica Neue"/>
              </a:defRPr>
            </a:pPr>
            <a:r>
              <a:rPr sz="2775" b="1">
                <a:solidFill>
                  <a:srgbClr val="101114"/>
                </a:solidFill>
                <a:latin typeface="Helvetica Neue"/>
                <a:ea typeface="Helvetica Neue"/>
                <a:cs typeface="Helvetica Neue"/>
              </a:rPr>
              <a:t>What if the AI stayed on your laptop?</a:t>
            </a:r>
          </a:p>
        </p:txBody>
      </p:sp>
      <p:sp>
        <p:nvSpPr>
          <p:cNvPr id="2" name="">
            <a:extLst xmlns:a="http://schemas.openxmlformats.org/drawingml/2006/main">
              <a:ext uri="{FF2B5EF4-FFF2-40B4-BE49-F238E27FC236}">
                <a16:creationId xmlns:a16="http://schemas.microsoft.com/office/drawing/2014/main" id="{6ABA26CC-84C3-44D5-A28C-A0D5534BD405}"/>
              </a:ext>
            </a:extLst>
          </p:cNvPr>
          <p:cNvSpPr>
            <a:spLocks xmlns:a="http://schemas.openxmlformats.org/drawingml/2006/main" noGrp="1"/>
          </p:cNvSpPr>
          <p:nvPr/>
        </p:nvSpPr>
        <p:spPr>
          <a:xfrm xmlns:a="http://schemas.openxmlformats.org/drawingml/2006/main">
            <a:off x="11239500" y="5524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6558F5"/>
                </a:solidFill>
                <a:latin typeface="Helvetica Neue"/>
                <a:ea typeface="Helvetica Neue"/>
                <a:cs typeface="Helvetica Neue"/>
              </a:defRPr>
            </a:pPr>
            <a:r>
              <a:rPr sz="975" b="1">
                <a:solidFill>
                  <a:srgbClr val="6558F5"/>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B8B202FC-8D86-4E54-9F8A-5F7BB1595F64}"/>
              </a:ext>
            </a:extLst>
          </p:cNvPr>
          <p:cNvSpPr>
            <a:spLocks xmlns:a="http://schemas.openxmlformats.org/drawingml/2006/main" noGrp="1"/>
          </p:cNvSpPr>
          <p:nvPr/>
        </p:nvSpPr>
        <p:spPr>
          <a:xfrm xmlns:a="http://schemas.openxmlformats.org/drawingml/2006/main">
            <a:off x="666750" y="1952625"/>
            <a:ext cx="4762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3000" b="1">
                <a:solidFill>
                  <a:srgbClr val="101114"/>
                </a:solidFill>
                <a:latin typeface="Helvetica Neue"/>
                <a:ea typeface="Helvetica Neue"/>
                <a:cs typeface="Helvetica Neue"/>
              </a:defRPr>
            </a:pPr>
            <a:r>
              <a:rPr sz="3000" b="1">
                <a:solidFill>
                  <a:srgbClr val="101114"/>
                </a:solidFill>
                <a:latin typeface="Helvetica Neue"/>
                <a:ea typeface="Helvetica Neue"/>
                <a:cs typeface="Helvetica Neue"/>
              </a:rPr>
              <a:t>AI can run on a device you control.</a:t>
            </a:r>
          </a:p>
        </p:txBody>
      </p:sp>
      <p:sp>
        <p:nvSpPr>
          <p:cNvPr id="4" name="">
            <a:extLst xmlns:a="http://schemas.openxmlformats.org/drawingml/2006/main">
              <a:ext uri="{FF2B5EF4-FFF2-40B4-BE49-F238E27FC236}">
                <a16:creationId xmlns:a16="http://schemas.microsoft.com/office/drawing/2014/main" id="{FC8E127E-790E-4279-87C2-2C1C07FAB3E6}"/>
              </a:ext>
            </a:extLst>
          </p:cNvPr>
          <p:cNvSpPr>
            <a:spLocks xmlns:a="http://schemas.openxmlformats.org/drawingml/2006/main" noGrp="1"/>
          </p:cNvSpPr>
          <p:nvPr/>
        </p:nvSpPr>
        <p:spPr>
          <a:xfrm xmlns:a="http://schemas.openxmlformats.org/drawingml/2006/main">
            <a:off x="666750" y="3619500"/>
            <a:ext cx="438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0">
                <a:solidFill>
                  <a:srgbClr val="74716C"/>
                </a:solidFill>
                <a:latin typeface="Helvetica Neue"/>
                <a:ea typeface="Helvetica Neue"/>
                <a:cs typeface="Helvetica Neue"/>
              </a:defRPr>
            </a:pPr>
            <a:r>
              <a:rPr sz="2025" b="0">
                <a:solidFill>
                  <a:srgbClr val="74716C"/>
                </a:solidFill>
                <a:latin typeface="Helvetica Neue"/>
                <a:ea typeface="Helvetica Neue"/>
                <a:cs typeface="Helvetica Neue"/>
              </a:rPr>
              <a:t>No Wi-Fi required.</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91e9c747766412e"/>
          <a:srcRect xmlns:a="http://schemas.openxmlformats.org/drawingml/2006/main" l="10357" t="0" r="10357" b="0"/>
          <a:stretch xmlns:a="http://schemas.openxmlformats.org/drawingml/2006/main">
            <a:fillRect l="0" t="0" r="0" b="0"/>
          </a:stretch>
        </p:blipFill>
        <p:spPr>
          <a:xfrm xmlns:a="http://schemas.openxmlformats.org/drawingml/2006/main">
            <a:off x="6076950" y="1276350"/>
            <a:ext cx="5505450" cy="4629150"/>
          </a:xfrm>
          <a:prstGeom xmlns:a="http://schemas.openxmlformats.org/drawingml/2006/main" prst="rect">
            <a:avLst/>
          </a:prstGeom>
        </p:spPr>
      </p:pic>
    </p:spTree>
    <p:extLst>
      <p:ext uri="{BB962C8B-B14F-4D97-AF65-F5344CB8AC3E}">
        <p14:creationId xmlns:p14="http://schemas.microsoft.com/office/powerpoint/2010/main" val="620568188"/>
      </p:ext>
    </p:extLst>
  </p:cSld>
</p:sld>
</file>

<file path=ppt/slides/slide5.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97C9EB1-CBEA-4CD1-BD5D-140B52F3A44D}"/>
              </a:ext>
            </a:extLst>
          </p:cNvPr>
          <p:cNvSpPr>
            <a:spLocks xmlns:a="http://schemas.openxmlformats.org/drawingml/2006/main" noGrp="1"/>
          </p:cNvSpPr>
          <p:nvPr/>
        </p:nvSpPr>
        <p:spPr>
          <a:xfrm xmlns:a="http://schemas.openxmlformats.org/drawingml/2006/main">
            <a:off x="609600" y="495300"/>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75" b="1">
                <a:solidFill>
                  <a:srgbClr val="101114"/>
                </a:solidFill>
                <a:latin typeface="Helvetica Neue"/>
                <a:ea typeface="Helvetica Neue"/>
                <a:cs typeface="Helvetica Neue"/>
              </a:defRPr>
            </a:pPr>
            <a:r>
              <a:rPr sz="2775" b="1">
                <a:solidFill>
                  <a:srgbClr val="101114"/>
                </a:solidFill>
                <a:latin typeface="Helvetica Neue"/>
                <a:ea typeface="Helvetica Neue"/>
                <a:cs typeface="Helvetica Neue"/>
              </a:rPr>
              <a:t>You can try this today</a:t>
            </a:r>
          </a:p>
        </p:txBody>
      </p:sp>
      <p:sp>
        <p:nvSpPr>
          <p:cNvPr id="2" name="">
            <a:extLst xmlns:a="http://schemas.openxmlformats.org/drawingml/2006/main">
              <a:ext uri="{FF2B5EF4-FFF2-40B4-BE49-F238E27FC236}">
                <a16:creationId xmlns:a16="http://schemas.microsoft.com/office/drawing/2014/main" id="{70DBC5F6-0DC5-4366-AD79-6C8FF58498A7}"/>
              </a:ext>
            </a:extLst>
          </p:cNvPr>
          <p:cNvSpPr>
            <a:spLocks xmlns:a="http://schemas.openxmlformats.org/drawingml/2006/main" noGrp="1"/>
          </p:cNvSpPr>
          <p:nvPr/>
        </p:nvSpPr>
        <p:spPr>
          <a:xfrm xmlns:a="http://schemas.openxmlformats.org/drawingml/2006/main">
            <a:off x="11239500" y="5524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6558F5"/>
                </a:solidFill>
                <a:latin typeface="Helvetica Neue"/>
                <a:ea typeface="Helvetica Neue"/>
                <a:cs typeface="Helvetica Neue"/>
              </a:defRPr>
            </a:pPr>
            <a:r>
              <a:rPr sz="975" b="1">
                <a:solidFill>
                  <a:srgbClr val="6558F5"/>
                </a:solidFill>
                <a:latin typeface="Helvetica Neue"/>
                <a:ea typeface="Helvetica Neue"/>
                <a:cs typeface="Helvetica Neue"/>
              </a:rPr>
              <a:t>05</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75912e981624d15"/>
          <a:stretch xmlns:a="http://schemas.openxmlformats.org/drawingml/2006/main"/>
        </p:blipFill>
        <p:spPr>
          <a:xfrm xmlns:a="http://schemas.openxmlformats.org/drawingml/2006/main">
            <a:off x="1290638" y="1733550"/>
            <a:ext cx="1952625" cy="1952625"/>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35987966a6924935"/>
          <a:stretch xmlns:a="http://schemas.openxmlformats.org/drawingml/2006/main"/>
        </p:blipFill>
        <p:spPr>
          <a:xfrm xmlns:a="http://schemas.openxmlformats.org/drawingml/2006/main">
            <a:off x="4648200" y="2208950"/>
            <a:ext cx="2952750" cy="1001826"/>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aacd8cfac804daa"/>
          <a:stretch xmlns:a="http://schemas.openxmlformats.org/drawingml/2006/main"/>
        </p:blipFill>
        <p:spPr>
          <a:xfrm xmlns:a="http://schemas.openxmlformats.org/drawingml/2006/main">
            <a:off x="8572500" y="1638300"/>
            <a:ext cx="2095500" cy="2095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A3890F2-56E3-4AEE-96F2-1140E7448D0C}"/>
              </a:ext>
            </a:extLst>
          </p:cNvPr>
          <p:cNvSpPr>
            <a:spLocks xmlns:a="http://schemas.openxmlformats.org/drawingml/2006/main" noGrp="1"/>
          </p:cNvSpPr>
          <p:nvPr/>
        </p:nvSpPr>
        <p:spPr>
          <a:xfrm xmlns:a="http://schemas.openxmlformats.org/drawingml/2006/main">
            <a:off x="1047750" y="4000500"/>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025" b="1">
                <a:solidFill>
                  <a:srgbClr val="101114"/>
                </a:solidFill>
                <a:latin typeface="Helvetica Neue"/>
                <a:ea typeface="Helvetica Neue"/>
                <a:cs typeface="Helvetica Neue"/>
              </a:defRPr>
            </a:pPr>
            <a:r>
              <a:rPr sz="2025" b="1">
                <a:solidFill>
                  <a:srgbClr val="101114"/>
                </a:solidFill>
                <a:latin typeface="Helvetica Neue"/>
                <a:ea typeface="Helvetica Neue"/>
                <a:cs typeface="Helvetica Neue"/>
              </a:rPr>
              <a:t>Qwen + Kimi</a:t>
            </a:r>
          </a:p>
        </p:txBody>
      </p:sp>
      <p:sp>
        <p:nvSpPr>
          <p:cNvPr id="7" name="">
            <a:extLst xmlns:a="http://schemas.openxmlformats.org/drawingml/2006/main">
              <a:ext uri="{FF2B5EF4-FFF2-40B4-BE49-F238E27FC236}">
                <a16:creationId xmlns:a16="http://schemas.microsoft.com/office/drawing/2014/main" id="{6094FD78-C204-4C17-9BFB-EBF9B7D7F464}"/>
              </a:ext>
            </a:extLst>
          </p:cNvPr>
          <p:cNvSpPr>
            <a:spLocks xmlns:a="http://schemas.openxmlformats.org/drawingml/2006/main" noGrp="1"/>
          </p:cNvSpPr>
          <p:nvPr/>
        </p:nvSpPr>
        <p:spPr>
          <a:xfrm xmlns:a="http://schemas.openxmlformats.org/drawingml/2006/main">
            <a:off x="8353425" y="4000500"/>
            <a:ext cx="2533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025" b="1">
                <a:solidFill>
                  <a:srgbClr val="101114"/>
                </a:solidFill>
                <a:latin typeface="Helvetica Neue"/>
                <a:ea typeface="Helvetica Neue"/>
                <a:cs typeface="Helvetica Neue"/>
              </a:defRPr>
            </a:pPr>
            <a:r>
              <a:rPr sz="2025" b="1">
                <a:solidFill>
                  <a:srgbClr val="101114"/>
                </a:solidFill>
                <a:latin typeface="Helvetica Neue"/>
                <a:ea typeface="Helvetica Neue"/>
                <a:cs typeface="Helvetica Neue"/>
              </a:rPr>
              <a:t>Ollama</a:t>
            </a:r>
          </a:p>
        </p:txBody>
      </p:sp>
      <p:sp>
        <p:nvSpPr>
          <p:cNvPr id="8" name="">
            <a:extLst xmlns:a="http://schemas.openxmlformats.org/drawingml/2006/main">
              <a:ext uri="{FF2B5EF4-FFF2-40B4-BE49-F238E27FC236}">
                <a16:creationId xmlns:a16="http://schemas.microsoft.com/office/drawing/2014/main" id="{3808AF66-1632-4142-BADD-5B3B44EB2F7F}"/>
              </a:ext>
            </a:extLst>
          </p:cNvPr>
          <p:cNvSpPr>
            <a:spLocks xmlns:a="http://schemas.openxmlformats.org/drawingml/2006/main" noGrp="1"/>
          </p:cNvSpPr>
          <p:nvPr/>
        </p:nvSpPr>
        <p:spPr>
          <a:xfrm xmlns:a="http://schemas.openxmlformats.org/drawingml/2006/main">
            <a:off x="990600" y="4524375"/>
            <a:ext cx="638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0">
                <a:solidFill>
                  <a:srgbClr val="74716C"/>
                </a:solidFill>
                <a:latin typeface="Helvetica Neue"/>
                <a:ea typeface="Helvetica Neue"/>
                <a:cs typeface="Helvetica Neue"/>
              </a:defRPr>
            </a:pPr>
            <a:r>
              <a:rPr sz="1350" b="0">
                <a:solidFill>
                  <a:srgbClr val="74716C"/>
                </a:solidFill>
                <a:latin typeface="Helvetica Neue"/>
                <a:ea typeface="Helvetica Neue"/>
                <a:cs typeface="Helvetica Neue"/>
              </a:rPr>
              <a:t>Downloadable models</a:t>
            </a:r>
          </a:p>
        </p:txBody>
      </p:sp>
      <p:sp>
        <p:nvSpPr>
          <p:cNvPr id="9" name="">
            <a:extLst xmlns:a="http://schemas.openxmlformats.org/drawingml/2006/main">
              <a:ext uri="{FF2B5EF4-FFF2-40B4-BE49-F238E27FC236}">
                <a16:creationId xmlns:a16="http://schemas.microsoft.com/office/drawing/2014/main" id="{8C9B0243-D79D-484D-B50C-EF1F4C1FAFA1}"/>
              </a:ext>
            </a:extLst>
          </p:cNvPr>
          <p:cNvSpPr>
            <a:spLocks xmlns:a="http://schemas.openxmlformats.org/drawingml/2006/main" noGrp="1"/>
          </p:cNvSpPr>
          <p:nvPr/>
        </p:nvSpPr>
        <p:spPr>
          <a:xfrm xmlns:a="http://schemas.openxmlformats.org/drawingml/2006/main">
            <a:off x="8048625" y="4524375"/>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0">
                <a:solidFill>
                  <a:srgbClr val="74716C"/>
                </a:solidFill>
                <a:latin typeface="Helvetica Neue"/>
                <a:ea typeface="Helvetica Neue"/>
                <a:cs typeface="Helvetica Neue"/>
              </a:defRPr>
            </a:pPr>
            <a:r>
              <a:rPr sz="1350" b="0">
                <a:solidFill>
                  <a:srgbClr val="74716C"/>
                </a:solidFill>
                <a:latin typeface="Helvetica Neue"/>
                <a:ea typeface="Helvetica Neue"/>
                <a:cs typeface="Helvetica Neue"/>
              </a:rPr>
              <a:t>Runs them on your laptop</a:t>
            </a:r>
          </a:p>
        </p:txBody>
      </p:sp>
    </p:spTree>
    <p:extLst>
      <p:ext uri="{BB962C8B-B14F-4D97-AF65-F5344CB8AC3E}">
        <p14:creationId xmlns:p14="http://schemas.microsoft.com/office/powerpoint/2010/main" val="263137619"/>
      </p:ext>
    </p:extLst>
  </p:cSld>
</p:sld>
</file>

<file path=ppt/slides/slide6.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8308CDF-E914-4338-A61F-E629AEB539BD}"/>
              </a:ext>
            </a:extLst>
          </p:cNvPr>
          <p:cNvSpPr>
            <a:spLocks xmlns:a="http://schemas.openxmlformats.org/drawingml/2006/main" noGrp="1"/>
          </p:cNvSpPr>
          <p:nvPr/>
        </p:nvSpPr>
        <p:spPr>
          <a:xfrm xmlns:a="http://schemas.openxmlformats.org/drawingml/2006/main">
            <a:off x="609600" y="495300"/>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75" b="1">
                <a:solidFill>
                  <a:srgbClr val="101114"/>
                </a:solidFill>
                <a:latin typeface="Helvetica Neue"/>
                <a:ea typeface="Helvetica Neue"/>
                <a:cs typeface="Helvetica Neue"/>
              </a:defRPr>
            </a:pPr>
            <a:r>
              <a:rPr sz="2775" b="1">
                <a:solidFill>
                  <a:srgbClr val="101114"/>
                </a:solidFill>
                <a:latin typeface="Helvetica Neue"/>
                <a:ea typeface="Helvetica Neue"/>
                <a:cs typeface="Helvetica Neue"/>
              </a:rPr>
              <a:t>Why run AI locally?</a:t>
            </a:r>
          </a:p>
        </p:txBody>
      </p:sp>
      <p:sp>
        <p:nvSpPr>
          <p:cNvPr id="2" name="">
            <a:extLst xmlns:a="http://schemas.openxmlformats.org/drawingml/2006/main">
              <a:ext uri="{FF2B5EF4-FFF2-40B4-BE49-F238E27FC236}">
                <a16:creationId xmlns:a16="http://schemas.microsoft.com/office/drawing/2014/main" id="{F35F19E8-4C30-4D7D-8622-011BEB25837B}"/>
              </a:ext>
            </a:extLst>
          </p:cNvPr>
          <p:cNvSpPr>
            <a:spLocks xmlns:a="http://schemas.openxmlformats.org/drawingml/2006/main" noGrp="1"/>
          </p:cNvSpPr>
          <p:nvPr/>
        </p:nvSpPr>
        <p:spPr>
          <a:xfrm xmlns:a="http://schemas.openxmlformats.org/drawingml/2006/main">
            <a:off x="11239500" y="5524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6558F5"/>
                </a:solidFill>
                <a:latin typeface="Helvetica Neue"/>
                <a:ea typeface="Helvetica Neue"/>
                <a:cs typeface="Helvetica Neue"/>
              </a:defRPr>
            </a:pPr>
            <a:r>
              <a:rPr sz="975" b="1">
                <a:solidFill>
                  <a:srgbClr val="6558F5"/>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022A7A72-545E-4A03-AAF1-0A9DA10897A2}"/>
              </a:ext>
            </a:extLst>
          </p:cNvPr>
          <p:cNvSpPr>
            <a:spLocks xmlns:a="http://schemas.openxmlformats.org/drawingml/2006/main" noGrp="1"/>
          </p:cNvSpPr>
          <p:nvPr/>
        </p:nvSpPr>
        <p:spPr>
          <a:xfrm xmlns:a="http://schemas.openxmlformats.org/drawingml/2006/main">
            <a:off x="742950" y="169545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550" b="1">
                <a:solidFill>
                  <a:srgbClr val="6558F5"/>
                </a:solidFill>
                <a:latin typeface="Helvetica Neue"/>
                <a:ea typeface="Helvetica Neue"/>
                <a:cs typeface="Helvetica Neue"/>
              </a:defRPr>
            </a:pPr>
            <a:r>
              <a:rPr sz="2550" b="1">
                <a:solidFill>
                  <a:srgbClr val="6558F5"/>
                </a:solidFill>
                <a:latin typeface="Helvetica Neue"/>
                <a:ea typeface="Helvetica Neue"/>
                <a:cs typeface="Helvetica Neue"/>
              </a:rPr>
              <a:t>MORE CONTROL</a:t>
            </a:r>
          </a:p>
        </p:txBody>
      </p:sp>
      <p:sp>
        <p:nvSpPr>
          <p:cNvPr id="4" name="">
            <a:extLst xmlns:a="http://schemas.openxmlformats.org/drawingml/2006/main">
              <a:ext uri="{FF2B5EF4-FFF2-40B4-BE49-F238E27FC236}">
                <a16:creationId xmlns:a16="http://schemas.microsoft.com/office/drawing/2014/main" id="{21248981-54B2-4CF5-B0F5-BB068ACD67B9}"/>
              </a:ext>
            </a:extLst>
          </p:cNvPr>
          <p:cNvSpPr>
            <a:spLocks xmlns:a="http://schemas.openxmlformats.org/drawingml/2006/main" noGrp="1"/>
          </p:cNvSpPr>
          <p:nvPr/>
        </p:nvSpPr>
        <p:spPr>
          <a:xfrm xmlns:a="http://schemas.openxmlformats.org/drawingml/2006/main">
            <a:off x="742950" y="2457450"/>
            <a:ext cx="10001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5000"/>
              </a:lnSpc>
              <a:buNone/>
              <a:defRPr sz="5700" b="1">
                <a:solidFill>
                  <a:srgbClr val="101114"/>
                </a:solidFill>
                <a:latin typeface="Helvetica Neue"/>
                <a:ea typeface="Helvetica Neue"/>
                <a:cs typeface="Helvetica Neue"/>
              </a:defRPr>
            </a:pPr>
            <a:r>
              <a:rPr sz="5700" b="1">
                <a:solidFill>
                  <a:srgbClr val="101114"/>
                </a:solidFill>
                <a:latin typeface="Helvetica Neue"/>
                <a:ea typeface="Helvetica Neue"/>
                <a:cs typeface="Helvetica Neue"/>
              </a:rPr>
              <a:t>without a meter</a:t>
            </a:r>
          </a:p>
          <a:p xmlns:a="http://schemas.openxmlformats.org/drawingml/2006/main">
            <a:pPr algn="l">
              <a:lnSpc>
                <a:spcPct val="95000"/>
              </a:lnSpc>
              <a:buNone/>
              <a:defRPr sz="5700" b="1">
                <a:solidFill>
                  <a:srgbClr val="101114"/>
                </a:solidFill>
                <a:latin typeface="Helvetica Neue"/>
                <a:ea typeface="Helvetica Neue"/>
                <a:cs typeface="Helvetica Neue"/>
              </a:defRPr>
            </a:pPr>
            <a:r>
              <a:rPr sz="5700" b="1">
                <a:solidFill>
                  <a:srgbClr val="101114"/>
                </a:solidFill>
                <a:latin typeface="Helvetica Neue"/>
                <a:ea typeface="Helvetica Neue"/>
                <a:cs typeface="Helvetica Neue"/>
              </a:rPr>
              <a:t>running.</a:t>
            </a:r>
          </a:p>
        </p:txBody>
      </p:sp>
      <p:sp>
        <p:nvSpPr>
          <p:cNvPr id="5" name="">
            <a:extLst xmlns:a="http://schemas.openxmlformats.org/drawingml/2006/main">
              <a:ext uri="{FF2B5EF4-FFF2-40B4-BE49-F238E27FC236}">
                <a16:creationId xmlns:a16="http://schemas.microsoft.com/office/drawing/2014/main" id="{308C425C-8780-4B39-8482-912E79F23AA5}"/>
              </a:ext>
            </a:extLst>
          </p:cNvPr>
          <p:cNvSpPr>
            <a:spLocks xmlns:a="http://schemas.openxmlformats.org/drawingml/2006/main" noGrp="1"/>
          </p:cNvSpPr>
          <p:nvPr/>
        </p:nvSpPr>
        <p:spPr>
          <a:xfrm xmlns:a="http://schemas.openxmlformats.org/drawingml/2006/main">
            <a:off x="781050" y="5219700"/>
            <a:ext cx="857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0">
                <a:solidFill>
                  <a:srgbClr val="74716C"/>
                </a:solidFill>
                <a:latin typeface="Helvetica Neue"/>
                <a:ea typeface="Helvetica Neue"/>
                <a:cs typeface="Helvetica Neue"/>
              </a:defRPr>
            </a:pPr>
            <a:r>
              <a:rPr sz="2175" b="0">
                <a:solidFill>
                  <a:srgbClr val="74716C"/>
                </a:solidFill>
                <a:latin typeface="Helvetica Neue"/>
                <a:ea typeface="Helvetica Neue"/>
                <a:cs typeface="Helvetica Neue"/>
              </a:rPr>
              <a:t>It can keep working offline.</a:t>
            </a:r>
          </a:p>
        </p:txBody>
      </p:sp>
    </p:spTree>
    <p:extLst>
      <p:ext uri="{BB962C8B-B14F-4D97-AF65-F5344CB8AC3E}">
        <p14:creationId xmlns:p14="http://schemas.microsoft.com/office/powerpoint/2010/main" val="1141374942"/>
      </p:ext>
    </p:extLst>
  </p:cSld>
</p:sld>
</file>

<file path=ppt/slides/slide7.xml><?xml version="1.0" encoding="utf-8"?>
<p:sld xmlns:p="http://schemas.openxmlformats.org/presentationml/2006/main">
  <p:cSld>
    <p:bg>
      <p:bgPr>
        <a:solidFill xmlns:a="http://schemas.openxmlformats.org/drawingml/2006/main">
          <a:srgbClr val="10111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241E290-D03D-4BF9-BFDB-36848CC7BCB9}"/>
              </a:ext>
            </a:extLst>
          </p:cNvPr>
          <p:cNvSpPr>
            <a:spLocks xmlns:a="http://schemas.openxmlformats.org/drawingml/2006/main" noGrp="1"/>
          </p:cNvSpPr>
          <p:nvPr/>
        </p:nvSpPr>
        <p:spPr>
          <a:xfrm xmlns:a="http://schemas.openxmlformats.org/drawingml/2006/main">
            <a:off x="609600" y="495300"/>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Could it feel free?</a:t>
            </a:r>
          </a:p>
        </p:txBody>
      </p:sp>
      <p:sp>
        <p:nvSpPr>
          <p:cNvPr id="2" name="">
            <a:extLst xmlns:a="http://schemas.openxmlformats.org/drawingml/2006/main">
              <a:ext uri="{FF2B5EF4-FFF2-40B4-BE49-F238E27FC236}">
                <a16:creationId xmlns:a16="http://schemas.microsoft.com/office/drawing/2014/main" id="{204DA9BC-D6E6-4C2D-B86F-00D0A91F1B8B}"/>
              </a:ext>
            </a:extLst>
          </p:cNvPr>
          <p:cNvSpPr>
            <a:spLocks xmlns:a="http://schemas.openxmlformats.org/drawingml/2006/main" noGrp="1"/>
          </p:cNvSpPr>
          <p:nvPr/>
        </p:nvSpPr>
        <p:spPr>
          <a:xfrm xmlns:a="http://schemas.openxmlformats.org/drawingml/2006/main">
            <a:off x="11239500" y="5524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BEB8FF"/>
                </a:solidFill>
                <a:latin typeface="Helvetica Neue"/>
                <a:ea typeface="Helvetica Neue"/>
                <a:cs typeface="Helvetica Neue"/>
              </a:defRPr>
            </a:pPr>
            <a:r>
              <a:rPr sz="975" b="1">
                <a:solidFill>
                  <a:srgbClr val="BEB8FF"/>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9C937089-CD09-4489-A870-CCD2EF42DCC8}"/>
              </a:ext>
            </a:extLst>
          </p:cNvPr>
          <p:cNvSpPr>
            <a:spLocks xmlns:a="http://schemas.openxmlformats.org/drawingml/2006/main" noGrp="1"/>
          </p:cNvSpPr>
          <p:nvPr/>
        </p:nvSpPr>
        <p:spPr>
          <a:xfrm xmlns:a="http://schemas.openxmlformats.org/drawingml/2006/main">
            <a:off x="666750" y="1257300"/>
            <a:ext cx="1619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BEB8FF"/>
                </a:solidFill>
                <a:latin typeface="Helvetica Neue"/>
                <a:ea typeface="Helvetica Neue"/>
                <a:cs typeface="Helvetica Neue"/>
              </a:defRPr>
            </a:pPr>
            <a:r>
              <a:rPr sz="975" b="1">
                <a:solidFill>
                  <a:srgbClr val="BEB8FF"/>
                </a:solidFill>
                <a:latin typeface="Helvetica Neue"/>
                <a:ea typeface="Helvetica Neue"/>
                <a:cs typeface="Helvetica Neue"/>
              </a:rPr>
              <a:t>ILLUSTRATIVE</a:t>
            </a:r>
          </a:p>
        </p:txBody>
      </p:sp>
      <p:graphicFrame>
        <p:nvGraphicFramePr>
          <p:cNvPr id="10" name="Chart"/>
          <p:cNvGraphicFramePr/>
          <p:nvPr/>
        </p:nvGraphicFramePr>
        <p:xfrm>
          <a:off xmlns:a="http://schemas.openxmlformats.org/drawingml/2006/main" x="723900" y="1666875"/>
          <a:ext xmlns:a="http://schemas.openxmlformats.org/drawingml/2006/main" cx="7524750" cy="3810000"/>
        </p:xfrm>
        <a:graphic xmlns:a="http://schemas.openxmlformats.org/drawingml/2006/main">
          <a:graphicData uri="http://schemas.openxmlformats.org/drawingml/2006/chart">
            <c:chart xmlns:r="http://schemas.openxmlformats.org/officeDocument/2006/relationships" xmlns:c="http://schemas.openxmlformats.org/drawingml/2006/chart" r:id="R7e84164ba3694493"/>
          </a:graphicData>
        </a:graphic>
      </p:graphicFrame>
      <p:sp>
        <p:nvSpPr>
          <p:cNvPr id="5" name="">
            <a:extLst xmlns:a="http://schemas.openxmlformats.org/drawingml/2006/main">
              <a:ext uri="{FF2B5EF4-FFF2-40B4-BE49-F238E27FC236}">
                <a16:creationId xmlns:a16="http://schemas.microsoft.com/office/drawing/2014/main" id="{CB6ECF01-5FAD-477B-B228-5E36D53FDE0D}"/>
              </a:ext>
            </a:extLst>
          </p:cNvPr>
          <p:cNvSpPr>
            <a:spLocks xmlns:a="http://schemas.openxmlformats.org/drawingml/2006/main" noGrp="1"/>
          </p:cNvSpPr>
          <p:nvPr/>
        </p:nvSpPr>
        <p:spPr>
          <a:xfrm xmlns:a="http://schemas.openxmlformats.org/drawingml/2006/main">
            <a:off x="8648700" y="2209800"/>
            <a:ext cx="2762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Cloud costs less at first.</a:t>
            </a:r>
          </a:p>
          <a:p xmlns:a="http://schemas.openxmlformats.org/drawingml/2006/main">
            <a:pPr algn="l">
              <a:lnSpc>
                <a:spcPct val="108000"/>
              </a:lnSpc>
              <a:buNone/>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Local can win with heavy use.</a:t>
            </a:r>
          </a:p>
        </p:txBody>
      </p:sp>
      <p:sp>
        <p:nvSpPr>
          <p:cNvPr id="6" name="">
            <a:extLst xmlns:a="http://schemas.openxmlformats.org/drawingml/2006/main">
              <a:ext uri="{FF2B5EF4-FFF2-40B4-BE49-F238E27FC236}">
                <a16:creationId xmlns:a16="http://schemas.microsoft.com/office/drawing/2014/main" id="{05DD8332-6412-49E6-A3C6-0D92F618E80E}"/>
              </a:ext>
            </a:extLst>
          </p:cNvPr>
          <p:cNvSpPr>
            <a:spLocks xmlns:a="http://schemas.openxmlformats.org/drawingml/2006/main" noGrp="1"/>
          </p:cNvSpPr>
          <p:nvPr/>
        </p:nvSpPr>
        <p:spPr>
          <a:xfrm xmlns:a="http://schemas.openxmlformats.org/drawingml/2006/main">
            <a:off x="8648700" y="445770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a:solidFill>
                  <a:srgbClr val="BEB8FF"/>
                </a:solidFill>
                <a:latin typeface="Helvetica Neue"/>
                <a:ea typeface="Helvetica Neue"/>
                <a:cs typeface="Helvetica Neue"/>
              </a:defRPr>
            </a:pPr>
            <a:r>
              <a:rPr sz="1125" b="0">
                <a:solidFill>
                  <a:srgbClr val="BEB8FF"/>
                </a:solidFill>
                <a:latin typeface="Helvetica Neue"/>
                <a:ea typeface="Helvetica Neue"/>
                <a:cs typeface="Helvetica Neue"/>
              </a:rPr>
              <a:t>Relative cost, not real prices</a:t>
            </a:r>
          </a:p>
        </p:txBody>
      </p:sp>
    </p:spTree>
    <p:extLst>
      <p:ext uri="{BB962C8B-B14F-4D97-AF65-F5344CB8AC3E}">
        <p14:creationId xmlns:p14="http://schemas.microsoft.com/office/powerpoint/2010/main" val="362319804"/>
      </p:ext>
    </p:extLst>
  </p:cSld>
</p:sld>
</file>

<file path=ppt/slides/slide8.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000809A-9912-4DE4-84CC-3EAE87130549}"/>
              </a:ext>
            </a:extLst>
          </p:cNvPr>
          <p:cNvSpPr>
            <a:spLocks xmlns:a="http://schemas.openxmlformats.org/drawingml/2006/main" noGrp="1"/>
          </p:cNvSpPr>
          <p:nvPr/>
        </p:nvSpPr>
        <p:spPr>
          <a:xfrm xmlns:a="http://schemas.openxmlformats.org/drawingml/2006/main">
            <a:off x="609600" y="495300"/>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75" b="1">
                <a:solidFill>
                  <a:srgbClr val="101114"/>
                </a:solidFill>
                <a:latin typeface="Helvetica Neue"/>
                <a:ea typeface="Helvetica Neue"/>
                <a:cs typeface="Helvetica Neue"/>
              </a:defRPr>
            </a:pPr>
            <a:r>
              <a:rPr sz="2775" b="1">
                <a:solidFill>
                  <a:srgbClr val="101114"/>
                </a:solidFill>
                <a:latin typeface="Helvetica Neue"/>
                <a:ea typeface="Helvetica Neue"/>
                <a:cs typeface="Helvetica Neue"/>
              </a:rPr>
              <a:t>Where the cost goes</a:t>
            </a:r>
          </a:p>
        </p:txBody>
      </p:sp>
      <p:sp>
        <p:nvSpPr>
          <p:cNvPr id="2" name="">
            <a:extLst xmlns:a="http://schemas.openxmlformats.org/drawingml/2006/main">
              <a:ext uri="{FF2B5EF4-FFF2-40B4-BE49-F238E27FC236}">
                <a16:creationId xmlns:a16="http://schemas.microsoft.com/office/drawing/2014/main" id="{BE0166E1-9AE1-402B-9357-1D94E7B89D8D}"/>
              </a:ext>
            </a:extLst>
          </p:cNvPr>
          <p:cNvSpPr>
            <a:spLocks xmlns:a="http://schemas.openxmlformats.org/drawingml/2006/main" noGrp="1"/>
          </p:cNvSpPr>
          <p:nvPr/>
        </p:nvSpPr>
        <p:spPr>
          <a:xfrm xmlns:a="http://schemas.openxmlformats.org/drawingml/2006/main">
            <a:off x="11239500" y="5524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6558F5"/>
                </a:solidFill>
                <a:latin typeface="Helvetica Neue"/>
                <a:ea typeface="Helvetica Neue"/>
                <a:cs typeface="Helvetica Neue"/>
              </a:defRPr>
            </a:pPr>
            <a:r>
              <a:rPr sz="975" b="1">
                <a:solidFill>
                  <a:srgbClr val="6558F5"/>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56839FE0-C3C9-4EDC-8B1B-C03FC81A4657}"/>
              </a:ext>
            </a:extLst>
          </p:cNvPr>
          <p:cNvSpPr>
            <a:spLocks xmlns:a="http://schemas.openxmlformats.org/drawingml/2006/main" noGrp="1"/>
          </p:cNvSpPr>
          <p:nvPr/>
        </p:nvSpPr>
        <p:spPr>
          <a:xfrm xmlns:a="http://schemas.openxmlformats.org/drawingml/2006/main">
            <a:off x="762000" y="1952625"/>
            <a:ext cx="103822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4650" b="1">
                <a:solidFill>
                  <a:srgbClr val="101114"/>
                </a:solidFill>
                <a:latin typeface="Helvetica Neue"/>
                <a:ea typeface="Helvetica Neue"/>
                <a:cs typeface="Helvetica Neue"/>
              </a:defRPr>
            </a:pPr>
            <a:r>
              <a:rPr sz="4650" b="1">
                <a:solidFill>
                  <a:srgbClr val="101114"/>
                </a:solidFill>
                <a:latin typeface="Helvetica Neue"/>
                <a:ea typeface="Helvetica Neue"/>
                <a:cs typeface="Helvetica Neue"/>
              </a:rPr>
              <a:t>You still pay for the computer</a:t>
            </a:r>
          </a:p>
          <a:p xmlns:a="http://schemas.openxmlformats.org/drawingml/2006/main">
            <a:pPr algn="l">
              <a:lnSpc>
                <a:spcPct val="102000"/>
              </a:lnSpc>
              <a:buNone/>
              <a:defRPr sz="4650" b="1">
                <a:solidFill>
                  <a:srgbClr val="101114"/>
                </a:solidFill>
                <a:latin typeface="Helvetica Neue"/>
                <a:ea typeface="Helvetica Neue"/>
                <a:cs typeface="Helvetica Neue"/>
              </a:defRPr>
            </a:pPr>
            <a:r>
              <a:rPr sz="4650" b="1">
                <a:solidFill>
                  <a:srgbClr val="101114"/>
                </a:solidFill>
                <a:latin typeface="Helvetica Neue"/>
                <a:ea typeface="Helvetica Neue"/>
                <a:cs typeface="Helvetica Neue"/>
              </a:rPr>
              <a:t>and the power it uses.</a:t>
            </a:r>
          </a:p>
        </p:txBody>
      </p:sp>
      <p:sp>
        <p:nvSpPr>
          <p:cNvPr id="4" name="">
            <a:extLst xmlns:a="http://schemas.openxmlformats.org/drawingml/2006/main">
              <a:ext uri="{FF2B5EF4-FFF2-40B4-BE49-F238E27FC236}">
                <a16:creationId xmlns:a16="http://schemas.microsoft.com/office/drawing/2014/main" id="{1748502B-FF29-491C-9BFB-D60A10BB05B7}"/>
              </a:ext>
            </a:extLst>
          </p:cNvPr>
          <p:cNvSpPr>
            <a:spLocks xmlns:a="http://schemas.openxmlformats.org/drawingml/2006/main" noGrp="1"/>
          </p:cNvSpPr>
          <p:nvPr/>
        </p:nvSpPr>
        <p:spPr>
          <a:xfrm xmlns:a="http://schemas.openxmlformats.org/drawingml/2006/main">
            <a:off x="781050" y="4905375"/>
            <a:ext cx="3905250" cy="0"/>
          </a:xfrm>
          <a:prstGeom xmlns:a="http://schemas.openxmlformats.org/drawingml/2006/main" prst="line">
            <a:avLst/>
          </a:prstGeom>
          <a:noFill xmlns:a="http://schemas.openxmlformats.org/drawingml/2006/main"/>
          <a:ln xmlns:a="http://schemas.openxmlformats.org/drawingml/2006/main" w="38100">
            <a:solidFill>
              <a:srgbClr val="C96E42"/>
            </a:solidFill>
            <a:prstDash val="solid"/>
          </a:ln>
        </p:spPr>
      </p:sp>
    </p:spTree>
    <p:extLst>
      <p:ext uri="{BB962C8B-B14F-4D97-AF65-F5344CB8AC3E}">
        <p14:creationId xmlns:p14="http://schemas.microsoft.com/office/powerpoint/2010/main" val="688308976"/>
      </p:ext>
    </p:extLst>
  </p:cSld>
</p:sld>
</file>

<file path=ppt/slides/slide9.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5F4255E-5172-4608-8DF9-C832C39F1A37}"/>
              </a:ext>
            </a:extLst>
          </p:cNvPr>
          <p:cNvSpPr>
            <a:spLocks xmlns:a="http://schemas.openxmlformats.org/drawingml/2006/main" noGrp="1"/>
          </p:cNvSpPr>
          <p:nvPr/>
        </p:nvSpPr>
        <p:spPr>
          <a:xfrm xmlns:a="http://schemas.openxmlformats.org/drawingml/2006/main">
            <a:off x="609600" y="495300"/>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75" b="1">
                <a:solidFill>
                  <a:srgbClr val="101114"/>
                </a:solidFill>
                <a:latin typeface="Helvetica Neue"/>
                <a:ea typeface="Helvetica Neue"/>
                <a:cs typeface="Helvetica Neue"/>
              </a:defRPr>
            </a:pPr>
            <a:r>
              <a:rPr sz="2775" b="1">
                <a:solidFill>
                  <a:srgbClr val="101114"/>
                </a:solidFill>
                <a:latin typeface="Helvetica Neue"/>
                <a:ea typeface="Helvetica Neue"/>
                <a:cs typeface="Helvetica Neue"/>
              </a:rPr>
              <a:t>Local or cloud?</a:t>
            </a:r>
          </a:p>
        </p:txBody>
      </p:sp>
      <p:sp>
        <p:nvSpPr>
          <p:cNvPr id="2" name="">
            <a:extLst xmlns:a="http://schemas.openxmlformats.org/drawingml/2006/main">
              <a:ext uri="{FF2B5EF4-FFF2-40B4-BE49-F238E27FC236}">
                <a16:creationId xmlns:a16="http://schemas.microsoft.com/office/drawing/2014/main" id="{D81ECBE1-3E4E-49C0-9C33-436EEA3656D3}"/>
              </a:ext>
            </a:extLst>
          </p:cNvPr>
          <p:cNvSpPr>
            <a:spLocks xmlns:a="http://schemas.openxmlformats.org/drawingml/2006/main" noGrp="1"/>
          </p:cNvSpPr>
          <p:nvPr/>
        </p:nvSpPr>
        <p:spPr>
          <a:xfrm xmlns:a="http://schemas.openxmlformats.org/drawingml/2006/main">
            <a:off x="11239500" y="5524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6558F5"/>
                </a:solidFill>
                <a:latin typeface="Helvetica Neue"/>
                <a:ea typeface="Helvetica Neue"/>
                <a:cs typeface="Helvetica Neue"/>
              </a:defRPr>
            </a:pPr>
            <a:r>
              <a:rPr sz="975" b="1">
                <a:solidFill>
                  <a:srgbClr val="6558F5"/>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4C61CB51-085B-41A7-AD27-130FDDED5BE5}"/>
              </a:ext>
            </a:extLst>
          </p:cNvPr>
          <p:cNvSpPr>
            <a:spLocks xmlns:a="http://schemas.openxmlformats.org/drawingml/2006/main" noGrp="1"/>
          </p:cNvSpPr>
          <p:nvPr/>
        </p:nvSpPr>
        <p:spPr>
          <a:xfrm xmlns:a="http://schemas.openxmlformats.org/drawingml/2006/main">
            <a:off x="857250" y="1619250"/>
            <a:ext cx="438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225" b="1">
                <a:solidFill>
                  <a:srgbClr val="6558F5"/>
                </a:solidFill>
                <a:latin typeface="Helvetica Neue"/>
                <a:ea typeface="Helvetica Neue"/>
                <a:cs typeface="Helvetica Neue"/>
              </a:defRPr>
            </a:pPr>
            <a:r>
              <a:rPr sz="3225" b="1">
                <a:solidFill>
                  <a:srgbClr val="6558F5"/>
                </a:solidFill>
                <a:latin typeface="Helvetica Neue"/>
                <a:ea typeface="Helvetica Neue"/>
                <a:cs typeface="Helvetica Neue"/>
              </a:rPr>
              <a:t>LOCAL</a:t>
            </a:r>
          </a:p>
        </p:txBody>
      </p:sp>
      <p:sp>
        <p:nvSpPr>
          <p:cNvPr id="4" name="">
            <a:extLst xmlns:a="http://schemas.openxmlformats.org/drawingml/2006/main">
              <a:ext uri="{FF2B5EF4-FFF2-40B4-BE49-F238E27FC236}">
                <a16:creationId xmlns:a16="http://schemas.microsoft.com/office/drawing/2014/main" id="{394DF385-E8D1-49B5-930E-435D0503E17B}"/>
              </a:ext>
            </a:extLst>
          </p:cNvPr>
          <p:cNvSpPr>
            <a:spLocks xmlns:a="http://schemas.openxmlformats.org/drawingml/2006/main" noGrp="1"/>
          </p:cNvSpPr>
          <p:nvPr/>
        </p:nvSpPr>
        <p:spPr>
          <a:xfrm xmlns:a="http://schemas.openxmlformats.org/drawingml/2006/main">
            <a:off x="857250" y="2619375"/>
            <a:ext cx="428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400" b="1">
                <a:solidFill>
                  <a:srgbClr val="101114"/>
                </a:solidFill>
                <a:latin typeface="Helvetica Neue"/>
                <a:ea typeface="Helvetica Neue"/>
                <a:cs typeface="Helvetica Neue"/>
              </a:defRPr>
            </a:pPr>
            <a:r>
              <a:rPr sz="2400" b="1">
                <a:solidFill>
                  <a:srgbClr val="101114"/>
                </a:solidFill>
                <a:latin typeface="Helvetica Neue"/>
                <a:ea typeface="Helvetica Neue"/>
                <a:cs typeface="Helvetica Neue"/>
              </a:rPr>
              <a:t>Private, everyday work</a:t>
            </a:r>
          </a:p>
        </p:txBody>
      </p:sp>
      <p:sp>
        <p:nvSpPr>
          <p:cNvPr id="5" name="">
            <a:extLst xmlns:a="http://schemas.openxmlformats.org/drawingml/2006/main">
              <a:ext uri="{FF2B5EF4-FFF2-40B4-BE49-F238E27FC236}">
                <a16:creationId xmlns:a16="http://schemas.microsoft.com/office/drawing/2014/main" id="{4B404A33-FBE9-4DD4-B80C-B3B7CBC88E7C}"/>
              </a:ext>
            </a:extLst>
          </p:cNvPr>
          <p:cNvSpPr>
            <a:spLocks xmlns:a="http://schemas.openxmlformats.org/drawingml/2006/main" noGrp="1"/>
          </p:cNvSpPr>
          <p:nvPr/>
        </p:nvSpPr>
        <p:spPr>
          <a:xfrm xmlns:a="http://schemas.openxmlformats.org/drawingml/2006/main">
            <a:off x="6048375" y="1524000"/>
            <a:ext cx="0" cy="3714750"/>
          </a:xfrm>
          <a:prstGeom xmlns:a="http://schemas.openxmlformats.org/drawingml/2006/main" prst="line">
            <a:avLst/>
          </a:prstGeom>
          <a:noFill xmlns:a="http://schemas.openxmlformats.org/drawingml/2006/main"/>
          <a:ln xmlns:a="http://schemas.openxmlformats.org/drawingml/2006/main" w="19050">
            <a:solidFill>
              <a:srgbClr val="CFCAC0"/>
            </a:solidFill>
            <a:prstDash val="solid"/>
          </a:ln>
        </p:spPr>
      </p:sp>
      <p:sp>
        <p:nvSpPr>
          <p:cNvPr id="6" name="">
            <a:extLst xmlns:a="http://schemas.openxmlformats.org/drawingml/2006/main">
              <a:ext uri="{FF2B5EF4-FFF2-40B4-BE49-F238E27FC236}">
                <a16:creationId xmlns:a16="http://schemas.microsoft.com/office/drawing/2014/main" id="{F1420B3F-2DFF-4364-A35A-56586F68CF34}"/>
              </a:ext>
            </a:extLst>
          </p:cNvPr>
          <p:cNvSpPr>
            <a:spLocks xmlns:a="http://schemas.openxmlformats.org/drawingml/2006/main" noGrp="1"/>
          </p:cNvSpPr>
          <p:nvPr/>
        </p:nvSpPr>
        <p:spPr>
          <a:xfrm xmlns:a="http://schemas.openxmlformats.org/drawingml/2006/main">
            <a:off x="6858000" y="1619250"/>
            <a:ext cx="438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225" b="1">
                <a:solidFill>
                  <a:srgbClr val="C96E42"/>
                </a:solidFill>
                <a:latin typeface="Helvetica Neue"/>
                <a:ea typeface="Helvetica Neue"/>
                <a:cs typeface="Helvetica Neue"/>
              </a:defRPr>
            </a:pPr>
            <a:r>
              <a:rPr sz="3225" b="1">
                <a:solidFill>
                  <a:srgbClr val="C96E42"/>
                </a:solidFill>
                <a:latin typeface="Helvetica Neue"/>
                <a:ea typeface="Helvetica Neue"/>
                <a:cs typeface="Helvetica Neue"/>
              </a:rPr>
              <a:t>CLOUD</a:t>
            </a:r>
          </a:p>
        </p:txBody>
      </p:sp>
      <p:sp>
        <p:nvSpPr>
          <p:cNvPr id="7" name="">
            <a:extLst xmlns:a="http://schemas.openxmlformats.org/drawingml/2006/main">
              <a:ext uri="{FF2B5EF4-FFF2-40B4-BE49-F238E27FC236}">
                <a16:creationId xmlns:a16="http://schemas.microsoft.com/office/drawing/2014/main" id="{AAFBDFEB-BEDA-4B13-9399-806AF09642A6}"/>
              </a:ext>
            </a:extLst>
          </p:cNvPr>
          <p:cNvSpPr>
            <a:spLocks xmlns:a="http://schemas.openxmlformats.org/drawingml/2006/main" noGrp="1"/>
          </p:cNvSpPr>
          <p:nvPr/>
        </p:nvSpPr>
        <p:spPr>
          <a:xfrm xmlns:a="http://schemas.openxmlformats.org/drawingml/2006/main">
            <a:off x="6858000" y="2619375"/>
            <a:ext cx="4286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400" b="1">
                <a:solidFill>
                  <a:srgbClr val="101114"/>
                </a:solidFill>
                <a:latin typeface="Helvetica Neue"/>
                <a:ea typeface="Helvetica Neue"/>
                <a:cs typeface="Helvetica Neue"/>
              </a:defRPr>
            </a:pPr>
            <a:r>
              <a:rPr sz="2400" b="1">
                <a:solidFill>
                  <a:srgbClr val="101114"/>
                </a:solidFill>
                <a:latin typeface="Helvetica Neue"/>
                <a:ea typeface="Helvetica Neue"/>
                <a:cs typeface="Helvetica Neue"/>
              </a:rPr>
              <a:t>Hard questions and current information</a:t>
            </a:r>
          </a:p>
        </p:txBody>
      </p:sp>
      <p:sp>
        <p:nvSpPr>
          <p:cNvPr id="8" name="">
            <a:extLst xmlns:a="http://schemas.openxmlformats.org/drawingml/2006/main">
              <a:ext uri="{FF2B5EF4-FFF2-40B4-BE49-F238E27FC236}">
                <a16:creationId xmlns:a16="http://schemas.microsoft.com/office/drawing/2014/main" id="{613BEF56-E687-4EB6-BA69-76B7F7985A66}"/>
              </a:ext>
            </a:extLst>
          </p:cNvPr>
          <p:cNvSpPr>
            <a:spLocks xmlns:a="http://schemas.openxmlformats.org/drawingml/2006/main" noGrp="1"/>
          </p:cNvSpPr>
          <p:nvPr/>
        </p:nvSpPr>
        <p:spPr>
          <a:xfrm xmlns:a="http://schemas.openxmlformats.org/drawingml/2006/main">
            <a:off x="2476500" y="5543550"/>
            <a:ext cx="723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025" b="1">
                <a:solidFill>
                  <a:srgbClr val="101114"/>
                </a:solidFill>
                <a:latin typeface="Helvetica Neue"/>
                <a:ea typeface="Helvetica Neue"/>
                <a:cs typeface="Helvetica Neue"/>
              </a:defRPr>
            </a:pPr>
            <a:r>
              <a:rPr sz="2025" b="1">
                <a:solidFill>
                  <a:srgbClr val="101114"/>
                </a:solidFill>
                <a:latin typeface="Helvetica Neue"/>
                <a:ea typeface="Helvetica Neue"/>
                <a:cs typeface="Helvetica Neue"/>
              </a:rPr>
              <a:t>Most people will use both.</a:t>
            </a:r>
          </a:p>
        </p:txBody>
      </p:sp>
    </p:spTree>
    <p:extLst>
      <p:ext uri="{BB962C8B-B14F-4D97-AF65-F5344CB8AC3E}">
        <p14:creationId xmlns:p14="http://schemas.microsoft.com/office/powerpoint/2010/main" val="1182568437"/>
      </p:ext>
    </p:extLst>
  </p:cSld>
</p:sld>
</file>

<file path=ppt/slides/slide10.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A5990F3-4FA7-40C8-8526-7A3F41943E60}"/>
              </a:ext>
            </a:extLst>
          </p:cNvPr>
          <p:cNvSpPr>
            <a:spLocks xmlns:a="http://schemas.openxmlformats.org/drawingml/2006/main" noGrp="1"/>
          </p:cNvSpPr>
          <p:nvPr/>
        </p:nvSpPr>
        <p:spPr>
          <a:xfrm xmlns:a="http://schemas.openxmlformats.org/drawingml/2006/main">
            <a:off x="609600" y="495300"/>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75" b="1">
                <a:solidFill>
                  <a:srgbClr val="101114"/>
                </a:solidFill>
                <a:latin typeface="Helvetica Neue"/>
                <a:ea typeface="Helvetica Neue"/>
                <a:cs typeface="Helvetica Neue"/>
              </a:defRPr>
            </a:pPr>
            <a:r>
              <a:rPr sz="2775" b="1">
                <a:solidFill>
                  <a:srgbClr val="101114"/>
                </a:solidFill>
                <a:latin typeface="Helvetica Neue"/>
                <a:ea typeface="Helvetica Neue"/>
                <a:cs typeface="Helvetica Neue"/>
              </a:rPr>
              <a:t>Privacy is not automatic</a:t>
            </a:r>
          </a:p>
        </p:txBody>
      </p:sp>
      <p:sp>
        <p:nvSpPr>
          <p:cNvPr id="2" name="">
            <a:extLst xmlns:a="http://schemas.openxmlformats.org/drawingml/2006/main">
              <a:ext uri="{FF2B5EF4-FFF2-40B4-BE49-F238E27FC236}">
                <a16:creationId xmlns:a16="http://schemas.microsoft.com/office/drawing/2014/main" id="{299B1960-ECE1-4D85-A6B2-C3674313CA0B}"/>
              </a:ext>
            </a:extLst>
          </p:cNvPr>
          <p:cNvSpPr>
            <a:spLocks xmlns:a="http://schemas.openxmlformats.org/drawingml/2006/main" noGrp="1"/>
          </p:cNvSpPr>
          <p:nvPr/>
        </p:nvSpPr>
        <p:spPr>
          <a:xfrm xmlns:a="http://schemas.openxmlformats.org/drawingml/2006/main">
            <a:off x="11239500" y="5524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6558F5"/>
                </a:solidFill>
                <a:latin typeface="Helvetica Neue"/>
                <a:ea typeface="Helvetica Neue"/>
                <a:cs typeface="Helvetica Neue"/>
              </a:defRPr>
            </a:pPr>
            <a:r>
              <a:rPr sz="975" b="1">
                <a:solidFill>
                  <a:srgbClr val="6558F5"/>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53DD31C5-C50D-4BE6-86DE-70EB6E02ACA8}"/>
              </a:ext>
            </a:extLst>
          </p:cNvPr>
          <p:cNvSpPr>
            <a:spLocks xmlns:a="http://schemas.openxmlformats.org/drawingml/2006/main" noGrp="1"/>
          </p:cNvSpPr>
          <p:nvPr/>
        </p:nvSpPr>
        <p:spPr>
          <a:xfrm xmlns:a="http://schemas.openxmlformats.org/drawingml/2006/main">
            <a:off x="742950" y="1447800"/>
            <a:ext cx="2857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0" b="1">
                <a:solidFill>
                  <a:srgbClr val="6558F5"/>
                </a:solidFill>
                <a:latin typeface="Helvetica Neue"/>
                <a:ea typeface="Helvetica Neue"/>
                <a:cs typeface="Helvetica Neue"/>
              </a:defRPr>
            </a:pPr>
            <a:r>
              <a:rPr sz="18750" b="1">
                <a:solidFill>
                  <a:srgbClr val="6558F5"/>
                </a:solidFill>
                <a:latin typeface="Helvetica Neue"/>
                <a:ea typeface="Helvetica Neue"/>
                <a:cs typeface="Helvetica Neue"/>
              </a:rPr>
              <a:t>*</a:t>
            </a:r>
          </a:p>
        </p:txBody>
      </p:sp>
      <p:sp>
        <p:nvSpPr>
          <p:cNvPr id="4" name="">
            <a:extLst xmlns:a="http://schemas.openxmlformats.org/drawingml/2006/main">
              <a:ext uri="{FF2B5EF4-FFF2-40B4-BE49-F238E27FC236}">
                <a16:creationId xmlns:a16="http://schemas.microsoft.com/office/drawing/2014/main" id="{5915B425-2107-4351-91C8-D9A3BB6055EB}"/>
              </a:ext>
            </a:extLst>
          </p:cNvPr>
          <p:cNvSpPr>
            <a:spLocks xmlns:a="http://schemas.openxmlformats.org/drawingml/2006/main" noGrp="1"/>
          </p:cNvSpPr>
          <p:nvPr/>
        </p:nvSpPr>
        <p:spPr>
          <a:xfrm xmlns:a="http://schemas.openxmlformats.org/drawingml/2006/main">
            <a:off x="3905250" y="1952625"/>
            <a:ext cx="685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3750" b="1">
                <a:solidFill>
                  <a:srgbClr val="101114"/>
                </a:solidFill>
                <a:latin typeface="Helvetica Neue"/>
                <a:ea typeface="Helvetica Neue"/>
                <a:cs typeface="Helvetica Neue"/>
              </a:defRPr>
            </a:pPr>
            <a:r>
              <a:rPr sz="3750" b="1">
                <a:solidFill>
                  <a:srgbClr val="101114"/>
                </a:solidFill>
                <a:latin typeface="Helvetica Neue"/>
                <a:ea typeface="Helvetica Neue"/>
                <a:cs typeface="Helvetica Neue"/>
              </a:rPr>
              <a:t>A local app can still</a:t>
            </a:r>
          </a:p>
          <a:p xmlns:a="http://schemas.openxmlformats.org/drawingml/2006/main">
            <a:pPr algn="l">
              <a:lnSpc>
                <a:spcPct val="102000"/>
              </a:lnSpc>
              <a:buNone/>
              <a:defRPr sz="3750" b="1">
                <a:solidFill>
                  <a:srgbClr val="101114"/>
                </a:solidFill>
                <a:latin typeface="Helvetica Neue"/>
                <a:ea typeface="Helvetica Neue"/>
                <a:cs typeface="Helvetica Neue"/>
              </a:defRPr>
            </a:pPr>
            <a:r>
              <a:rPr sz="3750" b="1">
                <a:solidFill>
                  <a:srgbClr val="101114"/>
                </a:solidFill>
                <a:latin typeface="Helvetica Neue"/>
                <a:ea typeface="Helvetica Neue"/>
                <a:cs typeface="Helvetica Neue"/>
              </a:rPr>
              <a:t>send data online.</a:t>
            </a:r>
          </a:p>
        </p:txBody>
      </p:sp>
      <p:sp>
        <p:nvSpPr>
          <p:cNvPr id="5" name="">
            <a:extLst xmlns:a="http://schemas.openxmlformats.org/drawingml/2006/main">
              <a:ext uri="{FF2B5EF4-FFF2-40B4-BE49-F238E27FC236}">
                <a16:creationId xmlns:a16="http://schemas.microsoft.com/office/drawing/2014/main" id="{E8DED0E2-1698-49E3-89B3-ABA946013497}"/>
              </a:ext>
            </a:extLst>
          </p:cNvPr>
          <p:cNvSpPr>
            <a:spLocks xmlns:a="http://schemas.openxmlformats.org/drawingml/2006/main" noGrp="1"/>
          </p:cNvSpPr>
          <p:nvPr/>
        </p:nvSpPr>
        <p:spPr>
          <a:xfrm xmlns:a="http://schemas.openxmlformats.org/drawingml/2006/main">
            <a:off x="3905250" y="400050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0">
                <a:solidFill>
                  <a:srgbClr val="74716C"/>
                </a:solidFill>
                <a:latin typeface="Helvetica Neue"/>
                <a:ea typeface="Helvetica Neue"/>
                <a:cs typeface="Helvetica Neue"/>
              </a:defRPr>
            </a:pPr>
            <a:r>
              <a:rPr sz="2175" b="0">
                <a:solidFill>
                  <a:srgbClr val="74716C"/>
                </a:solidFill>
                <a:latin typeface="Helvetica Neue"/>
                <a:ea typeface="Helvetica Neue"/>
                <a:cs typeface="Helvetica Neue"/>
              </a:rPr>
              <a:t>Check plugins and backups.</a:t>
            </a:r>
          </a:p>
        </p:txBody>
      </p:sp>
    </p:spTree>
    <p:extLst>
      <p:ext uri="{BB962C8B-B14F-4D97-AF65-F5344CB8AC3E}">
        <p14:creationId xmlns:p14="http://schemas.microsoft.com/office/powerpoint/2010/main" val="485828582"/>
      </p:ext>
    </p:extLst>
  </p:cSld>
</p:sld>
</file>

<file path=ppt/slides/slide11.xml><?xml version="1.0" encoding="utf-8"?>
<p:sld xmlns:p="http://schemas.openxmlformats.org/presentationml/2006/main">
  <p:cSld>
    <p:bg>
      <p:bgPr>
        <a:solidFill xmlns:a="http://schemas.openxmlformats.org/drawingml/2006/main">
          <a:srgbClr val="101114"/>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BF7FB77-0A1A-4D8B-B53D-7AA91EF19774}"/>
              </a:ext>
            </a:extLst>
          </p:cNvPr>
          <p:cNvSpPr>
            <a:spLocks xmlns:a="http://schemas.openxmlformats.org/drawingml/2006/main" noGrp="1"/>
          </p:cNvSpPr>
          <p:nvPr/>
        </p:nvSpPr>
        <p:spPr>
          <a:xfrm xmlns:a="http://schemas.openxmlformats.org/drawingml/2006/main">
            <a:off x="609600" y="495300"/>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The downside</a:t>
            </a:r>
          </a:p>
        </p:txBody>
      </p:sp>
      <p:sp>
        <p:nvSpPr>
          <p:cNvPr id="2" name="">
            <a:extLst xmlns:a="http://schemas.openxmlformats.org/drawingml/2006/main">
              <a:ext uri="{FF2B5EF4-FFF2-40B4-BE49-F238E27FC236}">
                <a16:creationId xmlns:a16="http://schemas.microsoft.com/office/drawing/2014/main" id="{66B87B11-66C3-49CB-8EBE-E931471B971C}"/>
              </a:ext>
            </a:extLst>
          </p:cNvPr>
          <p:cNvSpPr>
            <a:spLocks xmlns:a="http://schemas.openxmlformats.org/drawingml/2006/main" noGrp="1"/>
          </p:cNvSpPr>
          <p:nvPr/>
        </p:nvSpPr>
        <p:spPr>
          <a:xfrm xmlns:a="http://schemas.openxmlformats.org/drawingml/2006/main">
            <a:off x="11239500" y="5524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BEB8FF"/>
                </a:solidFill>
                <a:latin typeface="Helvetica Neue"/>
                <a:ea typeface="Helvetica Neue"/>
                <a:cs typeface="Helvetica Neue"/>
              </a:defRPr>
            </a:pPr>
            <a:r>
              <a:rPr sz="975" b="1">
                <a:solidFill>
                  <a:srgbClr val="BEB8FF"/>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D9E4842D-C003-4272-B0BA-35EDE1E23B63}"/>
              </a:ext>
            </a:extLst>
          </p:cNvPr>
          <p:cNvSpPr>
            <a:spLocks xmlns:a="http://schemas.openxmlformats.org/drawingml/2006/main" noGrp="1"/>
          </p:cNvSpPr>
          <p:nvPr/>
        </p:nvSpPr>
        <p:spPr>
          <a:xfrm xmlns:a="http://schemas.openxmlformats.org/drawingml/2006/main">
            <a:off x="742950" y="1619250"/>
            <a:ext cx="102870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7000"/>
              </a:lnSpc>
              <a:buNone/>
              <a:defRPr sz="4950" b="1">
                <a:solidFill>
                  <a:srgbClr val="FFFFFF"/>
                </a:solidFill>
                <a:latin typeface="Helvetica Neue"/>
                <a:ea typeface="Helvetica Neue"/>
                <a:cs typeface="Helvetica Neue"/>
              </a:defRPr>
            </a:pPr>
            <a:r>
              <a:rPr sz="4950" b="1">
                <a:solidFill>
                  <a:srgbClr val="FFFFFF"/>
                </a:solidFill>
                <a:latin typeface="Helvetica Neue"/>
                <a:ea typeface="Helvetica Neue"/>
                <a:cs typeface="Helvetica Neue"/>
              </a:rPr>
              <a:t>Cheap AI can make</a:t>
            </a:r>
          </a:p>
          <a:p xmlns:a="http://schemas.openxmlformats.org/drawingml/2006/main">
            <a:pPr algn="l">
              <a:lnSpc>
                <a:spcPct val="97000"/>
              </a:lnSpc>
              <a:buNone/>
              <a:defRPr sz="4950" b="1">
                <a:solidFill>
                  <a:srgbClr val="FFFFFF"/>
                </a:solidFill>
                <a:latin typeface="Helvetica Neue"/>
                <a:ea typeface="Helvetica Neue"/>
                <a:cs typeface="Helvetica Neue"/>
              </a:defRPr>
            </a:pPr>
            <a:r>
              <a:rPr sz="4950" b="1">
                <a:solidFill>
                  <a:srgbClr val="FFFFFF"/>
                </a:solidFill>
                <a:latin typeface="Helvetica Neue"/>
                <a:ea typeface="Helvetica Neue"/>
                <a:cs typeface="Helvetica Neue"/>
              </a:rPr>
              <a:t>spam and scams</a:t>
            </a:r>
          </a:p>
          <a:p xmlns:a="http://schemas.openxmlformats.org/drawingml/2006/main">
            <a:pPr algn="l">
              <a:lnSpc>
                <a:spcPct val="97000"/>
              </a:lnSpc>
              <a:buNone/>
              <a:defRPr sz="4950" b="1">
                <a:solidFill>
                  <a:srgbClr val="FFFFFF"/>
                </a:solidFill>
                <a:latin typeface="Helvetica Neue"/>
                <a:ea typeface="Helvetica Neue"/>
                <a:cs typeface="Helvetica Neue"/>
              </a:defRPr>
            </a:pPr>
            <a:r>
              <a:rPr sz="4950" b="1">
                <a:solidFill>
                  <a:srgbClr val="FFFFFF"/>
                </a:solidFill>
                <a:latin typeface="Helvetica Neue"/>
                <a:ea typeface="Helvetica Neue"/>
                <a:cs typeface="Helvetica Neue"/>
              </a:rPr>
              <a:t>cheaper too.</a:t>
            </a:r>
          </a:p>
        </p:txBody>
      </p:sp>
      <p:sp>
        <p:nvSpPr>
          <p:cNvPr id="4" name="">
            <a:extLst xmlns:a="http://schemas.openxmlformats.org/drawingml/2006/main">
              <a:ext uri="{FF2B5EF4-FFF2-40B4-BE49-F238E27FC236}">
                <a16:creationId xmlns:a16="http://schemas.microsoft.com/office/drawing/2014/main" id="{3351D836-AB6C-4B1A-8B4A-BAA8661C4AAA}"/>
              </a:ext>
            </a:extLst>
          </p:cNvPr>
          <p:cNvSpPr>
            <a:spLocks xmlns:a="http://schemas.openxmlformats.org/drawingml/2006/main" noGrp="1"/>
          </p:cNvSpPr>
          <p:nvPr/>
        </p:nvSpPr>
        <p:spPr>
          <a:xfrm xmlns:a="http://schemas.openxmlformats.org/drawingml/2006/main">
            <a:off x="781050" y="5467350"/>
            <a:ext cx="809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0">
                <a:solidFill>
                  <a:srgbClr val="BEB8FF"/>
                </a:solidFill>
                <a:latin typeface="Helvetica Neue"/>
                <a:ea typeface="Helvetica Neue"/>
                <a:cs typeface="Helvetica Neue"/>
              </a:defRPr>
            </a:pPr>
            <a:r>
              <a:rPr sz="2025" b="0">
                <a:solidFill>
                  <a:srgbClr val="BEB8FF"/>
                </a:solidFill>
                <a:latin typeface="Helvetica Neue"/>
                <a:ea typeface="Helvetica Neue"/>
                <a:cs typeface="Helvetica Neue"/>
              </a:rPr>
              <a:t>More access means more responsibility.</a:t>
            </a:r>
          </a:p>
        </p:txBody>
      </p:sp>
    </p:spTree>
    <p:extLst>
      <p:ext uri="{BB962C8B-B14F-4D97-AF65-F5344CB8AC3E}">
        <p14:creationId xmlns:p14="http://schemas.microsoft.com/office/powerpoint/2010/main" val="1907119189"/>
      </p:ext>
    </p:extLst>
  </p:cSld>
</p:sld>
</file>

<file path=ppt/slides/slide12.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5935E0A-B534-436D-BC3C-7CA831A9CC8D}"/>
              </a:ext>
            </a:extLst>
          </p:cNvPr>
          <p:cNvSpPr>
            <a:spLocks xmlns:a="http://schemas.openxmlformats.org/drawingml/2006/main" noGrp="1"/>
          </p:cNvSpPr>
          <p:nvPr/>
        </p:nvSpPr>
        <p:spPr>
          <a:xfrm xmlns:a="http://schemas.openxmlformats.org/drawingml/2006/main">
            <a:off x="609600" y="495300"/>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775" b="1">
                <a:solidFill>
                  <a:srgbClr val="101114"/>
                </a:solidFill>
                <a:latin typeface="Helvetica Neue"/>
                <a:ea typeface="Helvetica Neue"/>
                <a:cs typeface="Helvetica Neue"/>
              </a:defRPr>
            </a:pPr>
            <a:r>
              <a:rPr sz="2775" b="1">
                <a:solidFill>
                  <a:srgbClr val="101114"/>
                </a:solidFill>
                <a:latin typeface="Helvetica Neue"/>
                <a:ea typeface="Helvetica Neue"/>
                <a:cs typeface="Helvetica Neue"/>
              </a:rPr>
              <a:t>One assistant, two places</a:t>
            </a:r>
          </a:p>
        </p:txBody>
      </p:sp>
      <p:sp>
        <p:nvSpPr>
          <p:cNvPr id="2" name="">
            <a:extLst xmlns:a="http://schemas.openxmlformats.org/drawingml/2006/main">
              <a:ext uri="{FF2B5EF4-FFF2-40B4-BE49-F238E27FC236}">
                <a16:creationId xmlns:a16="http://schemas.microsoft.com/office/drawing/2014/main" id="{3DB3C64B-0D86-4AEB-A2B3-AF8F02FA7BCB}"/>
              </a:ext>
            </a:extLst>
          </p:cNvPr>
          <p:cNvSpPr>
            <a:spLocks xmlns:a="http://schemas.openxmlformats.org/drawingml/2006/main" noGrp="1"/>
          </p:cNvSpPr>
          <p:nvPr/>
        </p:nvSpPr>
        <p:spPr>
          <a:xfrm xmlns:a="http://schemas.openxmlformats.org/drawingml/2006/main">
            <a:off x="11239500" y="552450"/>
            <a:ext cx="342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6558F5"/>
                </a:solidFill>
                <a:latin typeface="Helvetica Neue"/>
                <a:ea typeface="Helvetica Neue"/>
                <a:cs typeface="Helvetica Neue"/>
              </a:defRPr>
            </a:pPr>
            <a:r>
              <a:rPr sz="975" b="1">
                <a:solidFill>
                  <a:srgbClr val="6558F5"/>
                </a:solidFill>
                <a:latin typeface="Helvetica Neue"/>
                <a:ea typeface="Helvetica Neue"/>
                <a:cs typeface="Helvetica Neue"/>
              </a:rPr>
              <a:t>12</a:t>
            </a:r>
          </a:p>
        </p:txBody>
      </p:sp>
      <p:sp>
        <p:nvSpPr>
          <p:cNvPr id="3" name="">
            <a:extLst xmlns:a="http://schemas.openxmlformats.org/drawingml/2006/main">
              <a:ext uri="{FF2B5EF4-FFF2-40B4-BE49-F238E27FC236}">
                <a16:creationId xmlns:a16="http://schemas.microsoft.com/office/drawing/2014/main" id="{AB512D47-19FE-4E9C-9534-330BE789B262}"/>
              </a:ext>
            </a:extLst>
          </p:cNvPr>
          <p:cNvSpPr>
            <a:spLocks xmlns:a="http://schemas.openxmlformats.org/drawingml/2006/main" noGrp="1"/>
          </p:cNvSpPr>
          <p:nvPr/>
        </p:nvSpPr>
        <p:spPr>
          <a:xfrm xmlns:a="http://schemas.openxmlformats.org/drawingml/2006/main">
            <a:off x="762000" y="1714500"/>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75" b="1">
                <a:solidFill>
                  <a:srgbClr val="6558F5"/>
                </a:solidFill>
                <a:latin typeface="Helvetica Neue"/>
                <a:ea typeface="Helvetica Neue"/>
                <a:cs typeface="Helvetica Neue"/>
              </a:defRPr>
            </a:pPr>
            <a:r>
              <a:rPr sz="1875" b="1">
                <a:solidFill>
                  <a:srgbClr val="6558F5"/>
                </a:solidFill>
                <a:latin typeface="Helvetica Neue"/>
                <a:ea typeface="Helvetica Neue"/>
                <a:cs typeface="Helvetica Neue"/>
              </a:rPr>
              <a:t>ON YOUR DEVICE</a:t>
            </a:r>
          </a:p>
        </p:txBody>
      </p:sp>
      <p:sp>
        <p:nvSpPr>
          <p:cNvPr id="4" name="">
            <a:extLst xmlns:a="http://schemas.openxmlformats.org/drawingml/2006/main">
              <a:ext uri="{FF2B5EF4-FFF2-40B4-BE49-F238E27FC236}">
                <a16:creationId xmlns:a16="http://schemas.microsoft.com/office/drawing/2014/main" id="{E49E4F02-A4F7-4035-9D36-87CAC0348B1C}"/>
              </a:ext>
            </a:extLst>
          </p:cNvPr>
          <p:cNvSpPr>
            <a:spLocks xmlns:a="http://schemas.openxmlformats.org/drawingml/2006/main" noGrp="1"/>
          </p:cNvSpPr>
          <p:nvPr/>
        </p:nvSpPr>
        <p:spPr>
          <a:xfrm xmlns:a="http://schemas.openxmlformats.org/drawingml/2006/main">
            <a:off x="3905250" y="3143250"/>
            <a:ext cx="1143000" cy="0"/>
          </a:xfrm>
          <a:prstGeom xmlns:a="http://schemas.openxmlformats.org/drawingml/2006/main" prst="line">
            <a:avLst/>
          </a:prstGeom>
          <a:noFill xmlns:a="http://schemas.openxmlformats.org/drawingml/2006/main"/>
          <a:ln xmlns:a="http://schemas.openxmlformats.org/drawingml/2006/main" w="28575">
            <a:solidFill>
              <a:srgbClr val="CFCAC0"/>
            </a:solidFill>
            <a:prstDash val="solid"/>
          </a:ln>
        </p:spPr>
      </p:sp>
      <p:sp>
        <p:nvSpPr>
          <p:cNvPr id="5" name="">
            <a:extLst xmlns:a="http://schemas.openxmlformats.org/drawingml/2006/main">
              <a:ext uri="{FF2B5EF4-FFF2-40B4-BE49-F238E27FC236}">
                <a16:creationId xmlns:a16="http://schemas.microsoft.com/office/drawing/2014/main" id="{E84DB9FA-5D10-44FD-8B22-1158C0E2A415}"/>
              </a:ext>
            </a:extLst>
          </p:cNvPr>
          <p:cNvSpPr>
            <a:spLocks xmlns:a="http://schemas.openxmlformats.org/drawingml/2006/main" noGrp="1"/>
          </p:cNvSpPr>
          <p:nvPr/>
        </p:nvSpPr>
        <p:spPr>
          <a:xfrm xmlns:a="http://schemas.openxmlformats.org/drawingml/2006/main">
            <a:off x="4953000" y="2381250"/>
            <a:ext cx="2286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3000" b="1">
                <a:solidFill>
                  <a:srgbClr val="101114"/>
                </a:solidFill>
                <a:latin typeface="Helvetica Neue"/>
                <a:ea typeface="Helvetica Neue"/>
                <a:cs typeface="Helvetica Neue"/>
              </a:defRPr>
            </a:pPr>
            <a:r>
              <a:rPr sz="3000" b="1">
                <a:solidFill>
                  <a:srgbClr val="101114"/>
                </a:solidFill>
                <a:latin typeface="Helvetica Neue"/>
                <a:ea typeface="Helvetica Neue"/>
                <a:cs typeface="Helvetica Neue"/>
              </a:rPr>
              <a:t>ONE</a:t>
            </a:r>
          </a:p>
          <a:p xmlns:a="http://schemas.openxmlformats.org/drawingml/2006/main">
            <a:pPr algn="ctr">
              <a:lnSpc>
                <a:spcPct val="100000"/>
              </a:lnSpc>
              <a:buNone/>
              <a:defRPr sz="3000" b="1">
                <a:solidFill>
                  <a:srgbClr val="101114"/>
                </a:solidFill>
                <a:latin typeface="Helvetica Neue"/>
                <a:ea typeface="Helvetica Neue"/>
                <a:cs typeface="Helvetica Neue"/>
              </a:defRPr>
            </a:pPr>
            <a:r>
              <a:rPr sz="3000" b="1">
                <a:solidFill>
                  <a:srgbClr val="101114"/>
                </a:solidFill>
                <a:latin typeface="Helvetica Neue"/>
                <a:ea typeface="Helvetica Neue"/>
                <a:cs typeface="Helvetica Neue"/>
              </a:rPr>
              <a:t>ASSISTANT</a:t>
            </a:r>
          </a:p>
        </p:txBody>
      </p:sp>
      <p:sp>
        <p:nvSpPr>
          <p:cNvPr id="6" name="">
            <a:extLst xmlns:a="http://schemas.openxmlformats.org/drawingml/2006/main">
              <a:ext uri="{FF2B5EF4-FFF2-40B4-BE49-F238E27FC236}">
                <a16:creationId xmlns:a16="http://schemas.microsoft.com/office/drawing/2014/main" id="{663EA3F8-50D0-42C7-9CE1-E0E9F7E0BA81}"/>
              </a:ext>
            </a:extLst>
          </p:cNvPr>
          <p:cNvSpPr>
            <a:spLocks xmlns:a="http://schemas.openxmlformats.org/drawingml/2006/main" noGrp="1"/>
          </p:cNvSpPr>
          <p:nvPr/>
        </p:nvSpPr>
        <p:spPr>
          <a:xfrm xmlns:a="http://schemas.openxmlformats.org/drawingml/2006/main">
            <a:off x="7239000" y="3143250"/>
            <a:ext cx="1143000" cy="0"/>
          </a:xfrm>
          <a:prstGeom xmlns:a="http://schemas.openxmlformats.org/drawingml/2006/main" prst="line">
            <a:avLst/>
          </a:prstGeom>
          <a:noFill xmlns:a="http://schemas.openxmlformats.org/drawingml/2006/main"/>
          <a:ln xmlns:a="http://schemas.openxmlformats.org/drawingml/2006/main" w="28575">
            <a:solidFill>
              <a:srgbClr val="CFCAC0"/>
            </a:solidFill>
            <a:prstDash val="solid"/>
          </a:ln>
        </p:spPr>
      </p:sp>
      <p:sp>
        <p:nvSpPr>
          <p:cNvPr id="7" name="">
            <a:extLst xmlns:a="http://schemas.openxmlformats.org/drawingml/2006/main">
              <a:ext uri="{FF2B5EF4-FFF2-40B4-BE49-F238E27FC236}">
                <a16:creationId xmlns:a16="http://schemas.microsoft.com/office/drawing/2014/main" id="{DACC85C5-0B08-4E46-B429-D0CC66240D35}"/>
              </a:ext>
            </a:extLst>
          </p:cNvPr>
          <p:cNvSpPr>
            <a:spLocks xmlns:a="http://schemas.openxmlformats.org/drawingml/2006/main" noGrp="1"/>
          </p:cNvSpPr>
          <p:nvPr/>
        </p:nvSpPr>
        <p:spPr>
          <a:xfrm xmlns:a="http://schemas.openxmlformats.org/drawingml/2006/main">
            <a:off x="8477250" y="1714500"/>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75" b="1">
                <a:solidFill>
                  <a:srgbClr val="C96E42"/>
                </a:solidFill>
                <a:latin typeface="Helvetica Neue"/>
                <a:ea typeface="Helvetica Neue"/>
                <a:cs typeface="Helvetica Neue"/>
              </a:defRPr>
            </a:pPr>
            <a:r>
              <a:rPr sz="1875" b="1">
                <a:solidFill>
                  <a:srgbClr val="C96E42"/>
                </a:solidFill>
                <a:latin typeface="Helvetica Neue"/>
                <a:ea typeface="Helvetica Neue"/>
                <a:cs typeface="Helvetica Neue"/>
              </a:rPr>
              <a:t>IN THE CLOUD</a:t>
            </a:r>
          </a:p>
        </p:txBody>
      </p:sp>
      <p:sp>
        <p:nvSpPr>
          <p:cNvPr id="8" name="">
            <a:extLst xmlns:a="http://schemas.openxmlformats.org/drawingml/2006/main">
              <a:ext uri="{FF2B5EF4-FFF2-40B4-BE49-F238E27FC236}">
                <a16:creationId xmlns:a16="http://schemas.microsoft.com/office/drawing/2014/main" id="{CAB10F1B-B5DD-42CA-90B8-04B27085599D}"/>
              </a:ext>
            </a:extLst>
          </p:cNvPr>
          <p:cNvSpPr>
            <a:spLocks xmlns:a="http://schemas.openxmlformats.org/drawingml/2006/main" noGrp="1"/>
          </p:cNvSpPr>
          <p:nvPr/>
        </p:nvSpPr>
        <p:spPr>
          <a:xfrm xmlns:a="http://schemas.openxmlformats.org/drawingml/2006/main">
            <a:off x="2381250" y="5381625"/>
            <a:ext cx="7429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025" b="1">
                <a:solidFill>
                  <a:srgbClr val="101114"/>
                </a:solidFill>
                <a:latin typeface="Helvetica Neue"/>
                <a:ea typeface="Helvetica Neue"/>
                <a:cs typeface="Helvetica Neue"/>
              </a:defRPr>
            </a:pPr>
            <a:r>
              <a:rPr sz="2025" b="1">
                <a:solidFill>
                  <a:srgbClr val="101114"/>
                </a:solidFill>
                <a:latin typeface="Helvetica Neue"/>
                <a:ea typeface="Helvetica Neue"/>
                <a:cs typeface="Helvetica Neue"/>
              </a:rPr>
              <a:t>You may not notice the switch.</a:t>
            </a:r>
          </a:p>
        </p:txBody>
      </p:sp>
    </p:spTree>
    <p:extLst>
      <p:ext uri="{BB962C8B-B14F-4D97-AF65-F5344CB8AC3E}">
        <p14:creationId xmlns:p14="http://schemas.microsoft.com/office/powerpoint/2010/main" val="1064338339"/>
      </p:ext>
    </p:extLst>
  </p:cSld>
</p:sld>
</file>

<file path=ppt/slides/slide13.xml><?xml version="1.0" encoding="utf-8"?>
<p:sld xmlns:p="http://schemas.openxmlformats.org/presentationml/2006/main">
  <p:cSld>
    <p:bg>
      <p:bgPr>
        <a:solidFill xmlns:a="http://schemas.openxmlformats.org/drawingml/2006/main">
          <a:srgbClr val="6558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D02D495-3DBE-4314-8FF9-82D58338ED7B}"/>
              </a:ext>
            </a:extLst>
          </p:cNvPr>
          <p:cNvSpPr>
            <a:spLocks xmlns:a="http://schemas.openxmlformats.org/drawingml/2006/main" noGrp="1"/>
          </p:cNvSpPr>
          <p:nvPr/>
        </p:nvSpPr>
        <p:spPr>
          <a:xfrm xmlns:a="http://schemas.openxmlformats.org/drawingml/2006/main">
            <a:off x="609600" y="742950"/>
            <a:ext cx="8096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SO, WILL AI BE</a:t>
            </a:r>
          </a:p>
          <a:p xmlns:a="http://schemas.openxmlformats.org/drawingml/2006/main">
            <a:pPr algn="l">
              <a:lnSpc>
                <a:spcPct val="98000"/>
              </a:lnSpc>
              <a:buNone/>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COMPLETELY FREE?</a:t>
            </a:r>
          </a:p>
        </p:txBody>
      </p:sp>
      <p:sp>
        <p:nvSpPr>
          <p:cNvPr id="2" name="">
            <a:extLst xmlns:a="http://schemas.openxmlformats.org/drawingml/2006/main">
              <a:ext uri="{FF2B5EF4-FFF2-40B4-BE49-F238E27FC236}">
                <a16:creationId xmlns:a16="http://schemas.microsoft.com/office/drawing/2014/main" id="{D5084668-03AE-4F59-AE79-B3AA68723160}"/>
              </a:ext>
            </a:extLst>
          </p:cNvPr>
          <p:cNvSpPr>
            <a:spLocks xmlns:a="http://schemas.openxmlformats.org/drawingml/2006/main" noGrp="1"/>
          </p:cNvSpPr>
          <p:nvPr/>
        </p:nvSpPr>
        <p:spPr>
          <a:xfrm xmlns:a="http://schemas.openxmlformats.org/drawingml/2006/main">
            <a:off x="609600" y="2838450"/>
            <a:ext cx="5715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5400" b="1">
                <a:solidFill>
                  <a:srgbClr val="BEB8FF"/>
                </a:solidFill>
                <a:latin typeface="Helvetica Neue"/>
                <a:ea typeface="Helvetica Neue"/>
                <a:cs typeface="Helvetica Neue"/>
              </a:defRPr>
            </a:pPr>
            <a:r>
              <a:rPr sz="5400" b="1">
                <a:solidFill>
                  <a:srgbClr val="BEB8FF"/>
                </a:solidFill>
                <a:latin typeface="Helvetica Neue"/>
                <a:ea typeface="Helvetica Neue"/>
                <a:cs typeface="Helvetica Neue"/>
              </a:rPr>
              <a:t>ALMOST.</a:t>
            </a:r>
          </a:p>
        </p:txBody>
      </p:sp>
      <p:sp>
        <p:nvSpPr>
          <p:cNvPr id="3" name="">
            <a:extLst xmlns:a="http://schemas.openxmlformats.org/drawingml/2006/main">
              <a:ext uri="{FF2B5EF4-FFF2-40B4-BE49-F238E27FC236}">
                <a16:creationId xmlns:a16="http://schemas.microsoft.com/office/drawing/2014/main" id="{78CF6D6A-1FCC-48D6-8FE5-6DADD7B31821}"/>
              </a:ext>
            </a:extLst>
          </p:cNvPr>
          <p:cNvSpPr>
            <a:spLocks xmlns:a="http://schemas.openxmlformats.org/drawingml/2006/main" noGrp="1"/>
          </p:cNvSpPr>
          <p:nvPr/>
        </p:nvSpPr>
        <p:spPr>
          <a:xfrm xmlns:a="http://schemas.openxmlformats.org/drawingml/2006/main">
            <a:off x="628650" y="4248150"/>
            <a:ext cx="10668000" cy="0"/>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4" name="">
            <a:extLst xmlns:a="http://schemas.openxmlformats.org/drawingml/2006/main">
              <a:ext uri="{FF2B5EF4-FFF2-40B4-BE49-F238E27FC236}">
                <a16:creationId xmlns:a16="http://schemas.microsoft.com/office/drawing/2014/main" id="{21A2A303-663B-4B96-AD26-DD357E3881DB}"/>
              </a:ext>
            </a:extLst>
          </p:cNvPr>
          <p:cNvSpPr>
            <a:spLocks xmlns:a="http://schemas.openxmlformats.org/drawingml/2006/main" noGrp="1"/>
          </p:cNvSpPr>
          <p:nvPr/>
        </p:nvSpPr>
        <p:spPr>
          <a:xfrm xmlns:a="http://schemas.openxmlformats.org/drawingml/2006/main">
            <a:off x="609600" y="4610100"/>
            <a:ext cx="7810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The price per question can disappear.</a:t>
            </a:r>
          </a:p>
        </p:txBody>
      </p:sp>
      <p:sp>
        <p:nvSpPr>
          <p:cNvPr id="5" name="">
            <a:extLst xmlns:a="http://schemas.openxmlformats.org/drawingml/2006/main">
              <a:ext uri="{FF2B5EF4-FFF2-40B4-BE49-F238E27FC236}">
                <a16:creationId xmlns:a16="http://schemas.microsoft.com/office/drawing/2014/main" id="{6A0F9598-71E8-40BA-9412-6011CE829ECC}"/>
              </a:ext>
            </a:extLst>
          </p:cNvPr>
          <p:cNvSpPr>
            <a:spLocks xmlns:a="http://schemas.openxmlformats.org/drawingml/2006/main" noGrp="1"/>
          </p:cNvSpPr>
          <p:nvPr/>
        </p:nvSpPr>
        <p:spPr>
          <a:xfrm xmlns:a="http://schemas.openxmlformats.org/drawingml/2006/main">
            <a:off x="609600" y="5219700"/>
            <a:ext cx="7810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The real costs stay.</a:t>
            </a:r>
          </a:p>
        </p:txBody>
      </p:sp>
      <p:sp>
        <p:nvSpPr>
          <p:cNvPr id="6" name="">
            <a:extLst xmlns:a="http://schemas.openxmlformats.org/drawingml/2006/main">
              <a:ext uri="{FF2B5EF4-FFF2-40B4-BE49-F238E27FC236}">
                <a16:creationId xmlns:a16="http://schemas.microsoft.com/office/drawing/2014/main" id="{1B359905-A862-4B90-A24B-6B7EE90E985D}"/>
              </a:ext>
            </a:extLst>
          </p:cNvPr>
          <p:cNvSpPr>
            <a:spLocks xmlns:a="http://schemas.openxmlformats.org/drawingml/2006/main" noGrp="1"/>
          </p:cNvSpPr>
          <p:nvPr/>
        </p:nvSpPr>
        <p:spPr>
          <a:xfrm xmlns:a="http://schemas.openxmlformats.org/drawingml/2006/main">
            <a:off x="11144250" y="62103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13</a:t>
            </a:r>
          </a:p>
        </p:txBody>
      </p:sp>
    </p:spTree>
    <p:extLst>
      <p:ext uri="{BB962C8B-B14F-4D97-AF65-F5344CB8AC3E}">
        <p14:creationId xmlns:p14="http://schemas.microsoft.com/office/powerpoint/2010/main" val="4634100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2026-09-27T03:00:34.1680000Z</dcterms:created>
  <dcterms:modified xsi:type="dcterms:W3CDTF">2026-09-27T03:00:34.1680000Z</dcterms:modified>
</coreProperties>
</file>