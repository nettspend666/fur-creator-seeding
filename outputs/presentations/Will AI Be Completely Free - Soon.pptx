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say AI will become free, they usually mean the price of asking a model a question will approach zero. Local language models make that believable: download the weights, run them on your own machine, and stop paying for every token. But completely free is a much bigger claim. I will separate the visible price from the costs of owning, powering, maintaining, and governing AI.
[Sources]
- Stock photo: Rahul Mishra, Unsplash — https://unsplash.com/photos/laptop-and-keyboard-on-a-dark-desk-BA2ELfOTqJ4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changes brought the word free back. Capable model weights can now travel, runtimes make them feel like normal apps, and consumer chips are finally strong enough for useful local inference. Together, these changes can remove the token meter. That is a real shift, even though the machine, electricity, maintenance, and responsibility still exist.
[Sources]
- Ollama documentation — https://docs.ollama.com/
- llama.cpp README — https://github.com/ggml-org/llama.cpp
- Apple MLX organization — https://github.com/ml-explore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local LLM is a language model whose main inference happens on hardware you control. The key idea is not that the model is tiny or offline forever. It is that the ordinary path from prompt to answer does not require renting a remote model. Updates and optional tools may still use the internet.
[Sources]
- Ollama documentation — https://docs.ollama.com/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has four meanings. It can mean zero price, broad legal rights, local processing, or unlimited use. Those promises overlap but are not identical. A free download can have a restrictive license. A local model can still call cloud plugins. Unlimited use still consumes power. So the useful question is always: free in which sense?
[Sources]
- Open Source AI Definition 1.0 — https://opensource.org/ai/open-source-ai-definition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downloadable model is only the first layer. You also need a runtime, hardware with enough memory and bandwidth, and an application that manages files, tools, logs, and permissions. Much of the product value and many of the risks sit outside the weights. If one layer is weak, the whole experience is weak.
[Sources]
- Ollama model import documentation — https://docs.ollama.com/import
- llama.cpp server documentation — https://github.com/ggml-org/llama.cpp/blob/master/tools/server/README.md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families such as Qwen and Kimi provide the intelligence: the architecture, weights, and capabilities. Their releases are increasingly capable, but a model file is still supply rather than a finished consumer product. Different sizes and licenses target different machines and uses, so the biggest model is not automatically the best choice.
[Sources]
- Qwen official GitHub — https://github.com/QwenLM
- Moonshot AI official GitHub — https://github.com/MoonshotAI
- Ollama — https://docs.ollama.com/
- llama.cpp — https://github.com/ggml-org/llama.cpp
- Apple MLX — https://github.com/ml-explore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 such as Ollama, llama.cpp, and MLX turn weights into usable software. They handle model formats, quantization, hardware acceleration, and an interface that apps can call. This layer is why local AI has become much easier. The runtime often determines whether the model feels fast, stable, and ordinary to use.
[Sources]
- Ollama — https://docs.ollama.com/
- llama.cpp — https://github.com/ggml-org/llama.cpp
- Apple MLX — https://github.com/ml-explore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the first hard limit. At four-bit precision, eight billion parameters need roughly four gigabytes just for weights; thirty-two billion need about sixteen; seventy billion need about thirty-five. Then add the runtime, context cache, operating system, and other apps. A sixteen-gigabyte laptop does not have sixteen gigabytes available to the model.
[Sources]
- llama.cpp quantization documentation — https://github.com/ggml-org/llama.cpp/blob/master/tools/quantize/README.md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Quantization is the bargain that makes local AI practical. It stores model weights with fewer bits, reducing memory and often improving speed. The trade-off is that aggressive compression can weaken quality. The useful question is not whether a model is quantized, but whether that specific size and precision still clear the quality bar for the task.
[Sources]
- llama.cpp quantization documentation — https://github.com/ggml-org/llama.cpp/blob/master/tools/quantize/README.md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Fitting is not the same as running well. Capacity answers whether the model loads. Bandwidth affects tokens per second. Thermals decide whether speed lasts, and battery decides whether mobile use is sensible. A smaller model that responds instantly and stays quiet can create a better experience than a larger model that only technically fits.
[Sources]
- llama.cpp README, supported hardware and quantization — https://github.com/ggml-org/llama.cpp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AI already wins for private drafts and offline work. Sensitive notes can stay close to the user, and the core model can keep working on a flight or in a classroom with poor connectivity. These are not benchmark victories. They are product advantages created by location, control, and availability.
[Sources]
- Ollama documentation — https://docs.ollama.com/
- Apple MLX-LM — https://github.com/ml-explore/mlx-lm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also wins in fast, repeated loops. Autocomplete, classification, transcription cleanup, and narrow agents benefit from low latency and no per-request bill. The pattern is clear: local is strongest when the task is frequent, predictable, private, or disconnected. It is less compelling when each request is rare and exceptionally difficult.
[Sources]
- Apple MLX-LM — https://github.com/ml-explore/mlx-lm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services still win for frontier quality, elastic scale, and fresh information with managed tools. They hide operational complexity and can serve large bursts without buying idle hardware. The rule is not local good and cloud bad. A better rule is: own the routine, and rent the exceptional.
[Sources]
- Ollama documentation notes cloud models for larger workloads — https://docs.ollama.com/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converts variable cost into fixed cost. You buy hardware, pay for power, and take on operations; after that, each extra request can be cheap. Cloud does the opposite: little upfront investment, but a bill that rises with usage. The break-even point depends mainly on how often the hardware is actually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buying hardware, ask four questions: is the workload steady, is the model small enough, is privacy valuable, and can someone maintain it? Local economics improve when most answers are yes. If demand is occasional, quality requirements are extreme, or support capacity is missing, cloud may remain cheaper despite its token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free model file can create a paid operations job. Someone must deploy it, update the runtime, test new versions, secure access, and support failures. In a hobby project that labor is hidden because the user performs it. In a company it becomes salary, time, and risk. The model file is not the service.
[Sources]
- llama.cpp server documentation — https://github.com/ggml-org/llama.cpp/blob/master/tools/server/README.md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inference can keep prompts, files, embeddings, and outputs on the device. That reduces one important exposure: a model provider seeing every request. It is especially valuable for drafts, internal search, and personal data. But the protection only holds when the entire route from input to output actually stays local.
[Sources]
- Ollama documentation — https://docs.ollama.com/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therefore has an asterisk. Plugins may call external services, telemetry may transmit usage, logs and backups may copy sensitive content, and downloads expand the supply chain. Local is a strong architectural advantage, not an automatic guarantee. Privacy comes from the whole workflow and its policy, not from one setting.
[Sources]
- llama.cpp server documentation, tool and file access — https://github.com/ggml-org/llama.cpp/blob/master/tools/server/README.md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Downloadable is not automatically open source. Rights to modify, redistribute, or use a model commercially vary by license, and full reproducibility may require training code and meaningful data information. A hobbyist may ask only whether a model runs. A company must also read the model card, license, and use restrictions.
[Sources]
- Open Source AI Definition 1.0 — https://opensource.org/ai/open-source-ai-definition
- Example of model-specific licensing in Qwen documentation — https://github.com/QwenLM/Qwen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Cheaper private generation lowers the cost of spam, scams, and harmful automation. Inside organizations it can also create shadow AI, where employees run unapproved models on sensitive data. Wider access is valuable, but it spreads responsibility to users and small teams that may not have mature safety or governance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risks are less visible. Model files, runtimes, and plugins expand the software supply chain. More efficient inference can also increase total use, so lower cost does not guarantee lower energy consumption. And when decentralized systems cause harm, responsibility can be harder to trace than with one managed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2030, I expect small models to become surprisingly capable, local AI to disappear into operating systems and apps, and cloud AI to remain premium infrastructure for the hardest and freshest jobs. This is a forecast, not a certainty. Hardware economics, regulation, and model progress can still change the pace.
[Sources]
- Inference efficiency background: llama.cpp quantization documentation — https://github.com/ggml-org/llama.cpp/blob/master/tools/quantize/README.md
- Apple MLX — https://github.com/ml-explore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likely architecture is hybrid. A router chooses the smallest model that clears the quality bar. Routine, private, offline, and low-latency work stays on the device; hard, fresh, large, or collaborative work escalates to the cloud. Users should be able to see and control when their data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will AI be completely free? Almost, from the user's narrow point of view. Routine calls on hardware you already own may feel free because the token meter disappears. But AI will never be free to build, power, maintain, secure, and govern. It becomes a utility, not zero-cost magic—and the real shift is who owns the cost and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name="Slide 1">
    <p:bg>
      <p:bgPr>
        <a:solidFill>
          <a:srgbClr val="090A10"/>
        </a:solidFill>
      </p:bgPr>
    </p:bg>
    <p:spTree>
      <p:nvGrpSpPr>
        <p:cNvPr id="1" name=""/>
        <p:cNvGrpSpPr/>
        <p:nvPr/>
      </p:nvGrpSpPr>
      <p:grpSpPr>
        <a:xfrm>
          <a:off x="0" y="0"/>
          <a:ext cx="0" cy="0"/>
          <a:chOff x="0" y="0"/>
          <a:chExt cx="0" cy="0"/>
        </a:xfrm>
      </p:grpSpPr>
      <p:sp>
        <p:nvSpPr>
          <p:cNvPr id="2" name="Shape 0"/>
          <p:cNvSpPr/>
          <p:nvPr/>
        </p:nvSpPr>
        <p:spPr>
          <a:xfrm>
            <a:off x="0" y="0"/>
            <a:ext cx="7114032" cy="6858000"/>
          </a:xfrm>
          <a:prstGeom prst="rect">
            <a:avLst/>
          </a:prstGeom>
          <a:solidFill>
            <a:srgbClr val="090A10"/>
          </a:solidFill>
          <a:ln w="12700">
            <a:solidFill>
              <a:srgbClr val="090A10"/>
            </a:solidFill>
            <a:prstDash val="solid"/>
          </a:ln>
        </p:spPr>
      </p:sp>
      <p:pic>
        <p:nvPicPr>
          <p:cNvPr id="3" name="Image 0" descr="/Users/kuboshita/Documents/ChatGPT/FUR/.codex-build/llm-v2/current-inspect/assets/ppt/media/image.jpeg">    </p:cNvPr>
          <p:cNvPicPr>
            <a:picLocks noChangeAspect="1"/>
          </p:cNvPicPr>
          <p:nvPr/>
        </p:nvPicPr>
        <p:blipFill>
          <a:blip r:embed="rId1"/>
          <a:srcRect l="12980" r="12980" t="0" b="0"/>
          <a:stretch/>
        </p:blipFill>
        <p:spPr>
          <a:xfrm>
            <a:off x="7114032" y="0"/>
            <a:ext cx="5077663" cy="6858000"/>
          </a:xfrm>
          <a:prstGeom prst="rect">
            <a:avLst/>
          </a:prstGeom>
        </p:spPr>
      </p:pic>
      <p:sp>
        <p:nvSpPr>
          <p:cNvPr id="4" name="Shape 1"/>
          <p:cNvSpPr/>
          <p:nvPr/>
        </p:nvSpPr>
        <p:spPr>
          <a:xfrm>
            <a:off x="7114032" y="0"/>
            <a:ext cx="5077663" cy="6858000"/>
          </a:xfrm>
          <a:prstGeom prst="rect">
            <a:avLst/>
          </a:prstGeom>
          <a:solidFill>
            <a:srgbClr val="090A10">
              <a:alpha val="37000"/>
            </a:srgbClr>
          </a:solidFill>
          <a:ln w="12700">
            <a:solidFill>
              <a:srgbClr val="090A10">
                <a:alpha val="0"/>
              </a:srgbClr>
            </a:solidFill>
            <a:prstDash val="solid"/>
          </a:ln>
        </p:spPr>
      </p:sp>
      <p:sp>
        <p:nvSpPr>
          <p:cNvPr id="5" name="Text 2"/>
          <p:cNvSpPr txBox="1"/>
          <p:nvPr/>
        </p:nvSpPr>
        <p:spPr>
          <a:xfrm>
            <a:off x="420624" y="438912"/>
            <a:ext cx="29260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A 10-MINUTE ARGUMENT</a:t>
            </a:r>
            <a:endParaRPr lang="en-US" sz="1050" dirty="0"/>
          </a:p>
        </p:txBody>
      </p:sp>
      <p:sp>
        <p:nvSpPr>
          <p:cNvPr id="6" name="Text 3"/>
          <p:cNvSpPr txBox="1"/>
          <p:nvPr/>
        </p:nvSpPr>
        <p:spPr>
          <a:xfrm>
            <a:off x="420624" y="1143000"/>
            <a:ext cx="6400800" cy="1572768"/>
          </a:xfrm>
          <a:prstGeom prst="rect">
            <a:avLst/>
          </a:prstGeom>
          <a:noFill/>
          <a:ln/>
        </p:spPr>
        <p:txBody>
          <a:bodyPr wrap="square" lIns="0" tIns="0" rIns="0" bIns="0" rtlCol="0" anchor="t">
            <a:normAutofit/>
          </a:bodyPr>
          <a:lstStyle/>
          <a:p>
            <a:pPr algn="l" indent="0" marL="0">
              <a:lnSpc>
                <a:spcPct val="100000"/>
              </a:lnSpc>
              <a:buNone/>
            </a:pPr>
            <a:r>
              <a:rPr lang="en-US" sz="3800" b="1" dirty="0">
                <a:solidFill>
                  <a:srgbClr val="FFFFFF"/>
                </a:solidFill>
                <a:latin typeface="Helvetica Neue" pitchFamily="34" charset="0"/>
                <a:ea typeface="Helvetica Neue" pitchFamily="34" charset="-122"/>
                <a:cs typeface="Helvetica Neue" pitchFamily="34" charset="-120"/>
              </a:rPr>
              <a:t>WILL AI BE</a:t>
            </a:r>
            <a:endParaRPr lang="en-US" sz="3800" dirty="0"/>
          </a:p>
          <a:p>
            <a:pPr algn="l" indent="0" marL="0">
              <a:lnSpc>
                <a:spcPct val="100000"/>
              </a:lnSpc>
              <a:buNone/>
            </a:pPr>
            <a:r>
              <a:rPr lang="en-US" sz="3800" b="1" dirty="0">
                <a:solidFill>
                  <a:srgbClr val="FFFFFF"/>
                </a:solidFill>
                <a:latin typeface="Helvetica Neue" pitchFamily="34" charset="0"/>
                <a:ea typeface="Helvetica Neue" pitchFamily="34" charset="-122"/>
                <a:cs typeface="Helvetica Neue" pitchFamily="34" charset="-120"/>
              </a:rPr>
              <a:t>COMPLETELY FREE?</a:t>
            </a:r>
            <a:endParaRPr lang="en-US" sz="3800" dirty="0"/>
          </a:p>
        </p:txBody>
      </p:sp>
      <p:sp>
        <p:nvSpPr>
          <p:cNvPr id="7" name="Text 4"/>
          <p:cNvSpPr txBox="1"/>
          <p:nvPr/>
        </p:nvSpPr>
        <p:spPr>
          <a:xfrm>
            <a:off x="420624" y="3072384"/>
            <a:ext cx="292608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BCA7FF"/>
                </a:solidFill>
                <a:latin typeface="Helvetica Neue" pitchFamily="34" charset="0"/>
                <a:ea typeface="Helvetica Neue" pitchFamily="34" charset="-122"/>
                <a:cs typeface="Helvetica Neue" pitchFamily="34" charset="-120"/>
              </a:rPr>
              <a:t>(SOON)</a:t>
            </a:r>
            <a:endParaRPr lang="en-US" sz="3000" dirty="0"/>
          </a:p>
        </p:txBody>
      </p:sp>
      <p:sp>
        <p:nvSpPr>
          <p:cNvPr id="8" name="Shape 5"/>
          <p:cNvSpPr/>
          <p:nvPr/>
        </p:nvSpPr>
        <p:spPr>
          <a:xfrm>
            <a:off x="420624" y="5074920"/>
            <a:ext cx="5989320" cy="0"/>
          </a:xfrm>
          <a:prstGeom prst="line">
            <a:avLst/>
          </a:prstGeom>
          <a:noFill/>
          <a:ln w="12700">
            <a:solidFill>
              <a:srgbClr val="2A2B38"/>
            </a:solidFill>
            <a:prstDash val="solid"/>
          </a:ln>
        </p:spPr>
      </p:sp>
      <p:sp>
        <p:nvSpPr>
          <p:cNvPr id="9" name="Text 6"/>
          <p:cNvSpPr txBox="1"/>
          <p:nvPr/>
        </p:nvSpPr>
        <p:spPr>
          <a:xfrm>
            <a:off x="420624" y="5285232"/>
            <a:ext cx="61264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Helvetica Neue" pitchFamily="34" charset="0"/>
                <a:ea typeface="Helvetica Neue" pitchFamily="34" charset="-122"/>
                <a:cs typeface="Helvetica Neue" pitchFamily="34" charset="-120"/>
              </a:rPr>
              <a:t>Local models, open weights, and the costs that remain</a:t>
            </a:r>
            <a:endParaRPr lang="en-US" sz="1800" dirty="0"/>
          </a:p>
        </p:txBody>
      </p:sp>
      <p:sp>
        <p:nvSpPr>
          <p:cNvPr id="10" name="Text 7"/>
          <p:cNvSpPr txBox="1"/>
          <p:nvPr/>
        </p:nvSpPr>
        <p:spPr>
          <a:xfrm>
            <a:off x="420624" y="5998464"/>
            <a:ext cx="3749040" cy="274320"/>
          </a:xfrm>
          <a:prstGeom prst="rect">
            <a:avLst/>
          </a:prstGeom>
          <a:noFill/>
          <a:ln/>
        </p:spPr>
        <p:txBody>
          <a:bodyPr wrap="square" lIns="0" tIns="0" rIns="0" bIns="0" rtlCol="0" anchor="ctr">
            <a:normAutofit/>
          </a:bodyPr>
          <a:lstStyle/>
          <a:p>
            <a:pPr algn="l" indent="0" marL="0">
              <a:lnSpc>
                <a:spcPct val="100000"/>
              </a:lnSpc>
              <a:buNone/>
            </a:pPr>
            <a:r>
              <a:rPr lang="en-US" sz="1100" b="1" spc="100" kern="0" dirty="0">
                <a:solidFill>
                  <a:srgbClr val="D88752"/>
                </a:solidFill>
                <a:latin typeface="Helvetica Neue" pitchFamily="34" charset="0"/>
                <a:ea typeface="Helvetica Neue" pitchFamily="34" charset="-122"/>
                <a:cs typeface="Helvetica Neue" pitchFamily="34" charset="-120"/>
              </a:rPr>
              <a:t>THE SHORT ANSWER: ALMOST.</a:t>
            </a:r>
            <a:endParaRPr lang="en-US" sz="110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indefinite"/>
                      </p:stCondLst>
                      <p:childTnLst>
                        <p:par>
                          <p:cTn id="24" presetID="10"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2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5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7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Lst>
  </p:timing>
</p:sld>
</file>

<file path=ppt/slides/slide2.xml><?xml version="1.0" encoding="utf-8"?>
<p:sld xmlns:a="http://schemas.openxmlformats.org/drawingml/2006/main" xmlns:p="http://schemas.openxmlformats.org/presentationml/2006/main" xmlns:p14="http://schemas.microsoft.com/office/powerpoint/2010/main">
  <p:cSld name="Slide 2">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Why the word ‘free’ is back</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02</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Text 4"/>
          <p:cNvSpPr txBox="1"/>
          <p:nvPr/>
        </p:nvSpPr>
        <p:spPr>
          <a:xfrm>
            <a:off x="438912" y="1316736"/>
            <a:ext cx="502920" cy="310896"/>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8E63FF"/>
                </a:solidFill>
                <a:latin typeface="Helvetica Neue" pitchFamily="34" charset="0"/>
                <a:ea typeface="Helvetica Neue" pitchFamily="34" charset="-122"/>
                <a:cs typeface="Helvetica Neue" pitchFamily="34" charset="-120"/>
              </a:rPr>
              <a:t>01</a:t>
            </a:r>
            <a:endParaRPr lang="en-US" sz="1600" dirty="0"/>
          </a:p>
        </p:txBody>
      </p:sp>
      <p:sp>
        <p:nvSpPr>
          <p:cNvPr id="7" name="Text 5"/>
          <p:cNvSpPr txBox="1"/>
          <p:nvPr/>
        </p:nvSpPr>
        <p:spPr>
          <a:xfrm>
            <a:off x="1143000" y="1298448"/>
            <a:ext cx="292608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WEIGHTS TRAVEL</a:t>
            </a:r>
            <a:endParaRPr lang="en-US" sz="2100" dirty="0"/>
          </a:p>
        </p:txBody>
      </p:sp>
      <p:sp>
        <p:nvSpPr>
          <p:cNvPr id="8" name="Text 6"/>
          <p:cNvSpPr txBox="1"/>
          <p:nvPr/>
        </p:nvSpPr>
        <p:spPr>
          <a:xfrm>
            <a:off x="4160520" y="1298448"/>
            <a:ext cx="7178040" cy="530352"/>
          </a:xfrm>
          <a:prstGeom prst="rect">
            <a:avLst/>
          </a:prstGeom>
          <a:noFill/>
          <a:ln/>
        </p:spPr>
        <p:txBody>
          <a:bodyPr wrap="square" lIns="0" tIns="0" rIns="0" bIns="0" rtlCol="0" anchor="ctr">
            <a:normAutofit/>
          </a:bodyPr>
          <a:lstStyle/>
          <a:p>
            <a:pPr algn="l" indent="0" marL="0">
              <a:lnSpc>
                <a:spcPct val="100000"/>
              </a:lnSpc>
              <a:buNone/>
            </a:pPr>
            <a:r>
              <a:rPr lang="en-US" sz="1700" dirty="0">
                <a:solidFill>
                  <a:srgbClr val="6F6F7A"/>
                </a:solidFill>
                <a:latin typeface="Helvetica Neue" pitchFamily="34" charset="0"/>
                <a:ea typeface="Helvetica Neue" pitchFamily="34" charset="-122"/>
                <a:cs typeface="Helvetica Neue" pitchFamily="34" charset="-120"/>
              </a:rPr>
              <a:t>More capable models can be downloaded instead of accessed only through an API.</a:t>
            </a:r>
            <a:endParaRPr lang="en-US" sz="1700" dirty="0"/>
          </a:p>
        </p:txBody>
      </p:sp>
      <p:sp>
        <p:nvSpPr>
          <p:cNvPr id="9" name="Shape 7"/>
          <p:cNvSpPr/>
          <p:nvPr/>
        </p:nvSpPr>
        <p:spPr>
          <a:xfrm>
            <a:off x="438912" y="2167128"/>
            <a:ext cx="10927080" cy="0"/>
          </a:xfrm>
          <a:prstGeom prst="line">
            <a:avLst/>
          </a:prstGeom>
          <a:noFill/>
          <a:ln w="12700">
            <a:solidFill>
              <a:srgbClr val="D8D3C8"/>
            </a:solidFill>
            <a:prstDash val="solid"/>
          </a:ln>
        </p:spPr>
      </p:sp>
      <p:sp>
        <p:nvSpPr>
          <p:cNvPr id="10" name="Text 8"/>
          <p:cNvSpPr txBox="1"/>
          <p:nvPr/>
        </p:nvSpPr>
        <p:spPr>
          <a:xfrm>
            <a:off x="438912" y="2688336"/>
            <a:ext cx="502920" cy="310896"/>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4777FF"/>
                </a:solidFill>
                <a:latin typeface="Helvetica Neue" pitchFamily="34" charset="0"/>
                <a:ea typeface="Helvetica Neue" pitchFamily="34" charset="-122"/>
                <a:cs typeface="Helvetica Neue" pitchFamily="34" charset="-120"/>
              </a:rPr>
              <a:t>02</a:t>
            </a:r>
            <a:endParaRPr lang="en-US" sz="1600" dirty="0"/>
          </a:p>
        </p:txBody>
      </p:sp>
      <p:sp>
        <p:nvSpPr>
          <p:cNvPr id="11" name="Text 9"/>
          <p:cNvSpPr txBox="1"/>
          <p:nvPr/>
        </p:nvSpPr>
        <p:spPr>
          <a:xfrm>
            <a:off x="1143000" y="2670048"/>
            <a:ext cx="292608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RUNTIMES MATURED</a:t>
            </a:r>
            <a:endParaRPr lang="en-US" sz="2100" dirty="0"/>
          </a:p>
        </p:txBody>
      </p:sp>
      <p:sp>
        <p:nvSpPr>
          <p:cNvPr id="12" name="Text 10"/>
          <p:cNvSpPr txBox="1"/>
          <p:nvPr/>
        </p:nvSpPr>
        <p:spPr>
          <a:xfrm>
            <a:off x="4160520" y="2670048"/>
            <a:ext cx="7178040" cy="530352"/>
          </a:xfrm>
          <a:prstGeom prst="rect">
            <a:avLst/>
          </a:prstGeom>
          <a:noFill/>
          <a:ln/>
        </p:spPr>
        <p:txBody>
          <a:bodyPr wrap="square" lIns="0" tIns="0" rIns="0" bIns="0" rtlCol="0" anchor="ctr">
            <a:normAutofit/>
          </a:bodyPr>
          <a:lstStyle/>
          <a:p>
            <a:pPr algn="l" indent="0" marL="0">
              <a:lnSpc>
                <a:spcPct val="100000"/>
              </a:lnSpc>
              <a:buNone/>
            </a:pPr>
            <a:r>
              <a:rPr lang="en-US" sz="1700" dirty="0">
                <a:solidFill>
                  <a:srgbClr val="6F6F7A"/>
                </a:solidFill>
                <a:latin typeface="Helvetica Neue" pitchFamily="34" charset="0"/>
                <a:ea typeface="Helvetica Neue" pitchFamily="34" charset="-122"/>
                <a:cs typeface="Helvetica Neue" pitchFamily="34" charset="-120"/>
              </a:rPr>
              <a:t>Ollama, llama.cpp, and MLX make local inference feel like ordinary software.</a:t>
            </a:r>
            <a:endParaRPr lang="en-US" sz="1700" dirty="0"/>
          </a:p>
        </p:txBody>
      </p:sp>
      <p:sp>
        <p:nvSpPr>
          <p:cNvPr id="13" name="Shape 11"/>
          <p:cNvSpPr/>
          <p:nvPr/>
        </p:nvSpPr>
        <p:spPr>
          <a:xfrm>
            <a:off x="438912" y="3538728"/>
            <a:ext cx="10927080" cy="0"/>
          </a:xfrm>
          <a:prstGeom prst="line">
            <a:avLst/>
          </a:prstGeom>
          <a:noFill/>
          <a:ln w="12700">
            <a:solidFill>
              <a:srgbClr val="D8D3C8"/>
            </a:solidFill>
            <a:prstDash val="solid"/>
          </a:ln>
        </p:spPr>
      </p:sp>
      <p:sp>
        <p:nvSpPr>
          <p:cNvPr id="14" name="Text 12"/>
          <p:cNvSpPr txBox="1"/>
          <p:nvPr/>
        </p:nvSpPr>
        <p:spPr>
          <a:xfrm>
            <a:off x="438912" y="4059936"/>
            <a:ext cx="502920" cy="310896"/>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D88752"/>
                </a:solidFill>
                <a:latin typeface="Helvetica Neue" pitchFamily="34" charset="0"/>
                <a:ea typeface="Helvetica Neue" pitchFamily="34" charset="-122"/>
                <a:cs typeface="Helvetica Neue" pitchFamily="34" charset="-120"/>
              </a:rPr>
              <a:t>03</a:t>
            </a:r>
            <a:endParaRPr lang="en-US" sz="1600" dirty="0"/>
          </a:p>
        </p:txBody>
      </p:sp>
      <p:sp>
        <p:nvSpPr>
          <p:cNvPr id="15" name="Text 13"/>
          <p:cNvSpPr txBox="1"/>
          <p:nvPr/>
        </p:nvSpPr>
        <p:spPr>
          <a:xfrm>
            <a:off x="1143000" y="4041648"/>
            <a:ext cx="2926080" cy="347472"/>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CHIPS CAUGHT UP</a:t>
            </a:r>
            <a:endParaRPr lang="en-US" sz="2100" dirty="0"/>
          </a:p>
        </p:txBody>
      </p:sp>
      <p:sp>
        <p:nvSpPr>
          <p:cNvPr id="16" name="Text 14"/>
          <p:cNvSpPr txBox="1"/>
          <p:nvPr/>
        </p:nvSpPr>
        <p:spPr>
          <a:xfrm>
            <a:off x="4160520" y="4041648"/>
            <a:ext cx="7178040" cy="530352"/>
          </a:xfrm>
          <a:prstGeom prst="rect">
            <a:avLst/>
          </a:prstGeom>
          <a:noFill/>
          <a:ln/>
        </p:spPr>
        <p:txBody>
          <a:bodyPr wrap="square" lIns="0" tIns="0" rIns="0" bIns="0" rtlCol="0" anchor="ctr">
            <a:normAutofit/>
          </a:bodyPr>
          <a:lstStyle/>
          <a:p>
            <a:pPr algn="l" indent="0" marL="0">
              <a:lnSpc>
                <a:spcPct val="100000"/>
              </a:lnSpc>
              <a:buNone/>
            </a:pPr>
            <a:r>
              <a:rPr lang="en-US" sz="1700" dirty="0">
                <a:solidFill>
                  <a:srgbClr val="6F6F7A"/>
                </a:solidFill>
                <a:latin typeface="Helvetica Neue" pitchFamily="34" charset="0"/>
                <a:ea typeface="Helvetica Neue" pitchFamily="34" charset="-122"/>
                <a:cs typeface="Helvetica Neue" pitchFamily="34" charset="-120"/>
              </a:rPr>
              <a:t>Modern laptops combine fast memory, GPUs, and NPUs in one consumer device.</a:t>
            </a:r>
            <a:endParaRPr lang="en-US" sz="1700" dirty="0"/>
          </a:p>
        </p:txBody>
      </p:sp>
      <p:sp>
        <p:nvSpPr>
          <p:cNvPr id="17" name="Shape 15"/>
          <p:cNvSpPr/>
          <p:nvPr/>
        </p:nvSpPr>
        <p:spPr>
          <a:xfrm>
            <a:off x="438912" y="4910328"/>
            <a:ext cx="10927080" cy="0"/>
          </a:xfrm>
          <a:prstGeom prst="line">
            <a:avLst/>
          </a:prstGeom>
          <a:noFill/>
          <a:ln w="12700">
            <a:solidFill>
              <a:srgbClr val="D8D3C8"/>
            </a:solidFill>
            <a:prstDash val="solid"/>
          </a:ln>
        </p:spPr>
      </p:sp>
      <p:sp>
        <p:nvSpPr>
          <p:cNvPr id="18" name="Shape 16"/>
          <p:cNvSpPr/>
          <p:nvPr/>
        </p:nvSpPr>
        <p:spPr>
          <a:xfrm>
            <a:off x="438912" y="5559552"/>
            <a:ext cx="10927080" cy="621792"/>
          </a:xfrm>
          <a:prstGeom prst="roundRect">
            <a:avLst>
              <a:gd name="adj" fmla="val 8824"/>
            </a:avLst>
          </a:prstGeom>
          <a:solidFill>
            <a:srgbClr val="090A10"/>
          </a:solidFill>
          <a:ln w="12700">
            <a:solidFill>
              <a:srgbClr val="090A10"/>
            </a:solidFill>
            <a:prstDash val="solid"/>
          </a:ln>
        </p:spPr>
      </p:sp>
      <p:sp>
        <p:nvSpPr>
          <p:cNvPr id="19" name="Text 17"/>
          <p:cNvSpPr txBox="1"/>
          <p:nvPr/>
        </p:nvSpPr>
        <p:spPr>
          <a:xfrm>
            <a:off x="713232" y="5687568"/>
            <a:ext cx="10378440" cy="329184"/>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The meter can disappear—even when the cost does not.</a:t>
            </a:r>
            <a:endParaRPr lang="en-US" sz="200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indefinite"/>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5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78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104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30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56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8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208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3.xml><?xml version="1.0" encoding="utf-8"?>
<p:sld xmlns:a="http://schemas.openxmlformats.org/drawingml/2006/main" xmlns:p="http://schemas.openxmlformats.org/presentationml/2006/main" xmlns:p14="http://schemas.microsoft.com/office/powerpoint/2010/main">
  <p:cSld name="Slide 3">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What makes an LLM local?</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03</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57200" y="1371600"/>
            <a:ext cx="2907792" cy="4462272"/>
          </a:xfrm>
          <a:prstGeom prst="roundRect">
            <a:avLst>
              <a:gd name="adj" fmla="val 2516"/>
            </a:avLst>
          </a:prstGeom>
          <a:solidFill>
            <a:srgbClr val="14151F"/>
          </a:solidFill>
          <a:ln w="12700">
            <a:solidFill>
              <a:srgbClr val="2A2B38"/>
            </a:solidFill>
            <a:prstDash val="solid"/>
          </a:ln>
        </p:spPr>
      </p:sp>
      <p:sp>
        <p:nvSpPr>
          <p:cNvPr id="7" name="Text 5"/>
          <p:cNvSpPr txBox="1"/>
          <p:nvPr/>
        </p:nvSpPr>
        <p:spPr>
          <a:xfrm>
            <a:off x="749808" y="1700784"/>
            <a:ext cx="16459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YOUR DEVICE</a:t>
            </a:r>
            <a:endParaRPr lang="en-US" sz="1050" dirty="0"/>
          </a:p>
        </p:txBody>
      </p:sp>
      <p:sp>
        <p:nvSpPr>
          <p:cNvPr id="8" name="Text 6"/>
          <p:cNvSpPr txBox="1"/>
          <p:nvPr/>
        </p:nvSpPr>
        <p:spPr>
          <a:xfrm>
            <a:off x="749808" y="2267712"/>
            <a:ext cx="2212848" cy="1901952"/>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LAPTOP</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DESKTOP</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PHONE</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PRIVATE SERVER</a:t>
            </a:r>
            <a:endParaRPr lang="en-US" sz="2300" dirty="0"/>
          </a:p>
        </p:txBody>
      </p:sp>
      <p:sp>
        <p:nvSpPr>
          <p:cNvPr id="9" name="Text 7"/>
          <p:cNvSpPr txBox="1"/>
          <p:nvPr/>
        </p:nvSpPr>
        <p:spPr>
          <a:xfrm>
            <a:off x="749808" y="4956048"/>
            <a:ext cx="2176272" cy="384048"/>
          </a:xfrm>
          <a:prstGeom prst="rect">
            <a:avLst/>
          </a:prstGeom>
          <a:noFill/>
          <a:ln/>
        </p:spPr>
        <p:txBody>
          <a:bodyPr wrap="square" lIns="0" tIns="0" rIns="0" bIns="0" rtlCol="0" anchor="ctr">
            <a:normAutofit/>
          </a:bodyPr>
          <a:lstStyle/>
          <a:p>
            <a:pPr algn="l" indent="0" marL="0">
              <a:lnSpc>
                <a:spcPct val="100000"/>
              </a:lnSpc>
              <a:buNone/>
            </a:pPr>
            <a:r>
              <a:rPr lang="en-US" sz="1400" dirty="0">
                <a:solidFill>
                  <a:srgbClr val="A8A7B3"/>
                </a:solidFill>
                <a:latin typeface="Helvetica Neue" pitchFamily="34" charset="0"/>
                <a:ea typeface="Helvetica Neue" pitchFamily="34" charset="-122"/>
                <a:cs typeface="Helvetica Neue" pitchFamily="34" charset="-120"/>
              </a:rPr>
              <a:t>hardware you control</a:t>
            </a:r>
            <a:endParaRPr lang="en-US" sz="1400" dirty="0"/>
          </a:p>
        </p:txBody>
      </p:sp>
      <p:sp>
        <p:nvSpPr>
          <p:cNvPr id="10" name="Text 8"/>
          <p:cNvSpPr txBox="1"/>
          <p:nvPr/>
        </p:nvSpPr>
        <p:spPr>
          <a:xfrm>
            <a:off x="3913632" y="1828800"/>
            <a:ext cx="1225296" cy="329184"/>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4777FF"/>
                </a:solidFill>
                <a:latin typeface="Helvetica Neue" pitchFamily="34" charset="0"/>
                <a:ea typeface="Helvetica Neue" pitchFamily="34" charset="-122"/>
                <a:cs typeface="Helvetica Neue" pitchFamily="34" charset="-120"/>
              </a:rPr>
              <a:t>PROMPT</a:t>
            </a:r>
            <a:endParaRPr lang="en-US" sz="1500" dirty="0"/>
          </a:p>
        </p:txBody>
      </p:sp>
      <p:sp>
        <p:nvSpPr>
          <p:cNvPr id="11" name="Text 9"/>
          <p:cNvSpPr txBox="1"/>
          <p:nvPr/>
        </p:nvSpPr>
        <p:spPr>
          <a:xfrm>
            <a:off x="5102352" y="1828800"/>
            <a:ext cx="457200" cy="347472"/>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A8A7B3"/>
                </a:solidFill>
                <a:latin typeface="Helvetica Neue" pitchFamily="34" charset="0"/>
                <a:ea typeface="Helvetica Neue" pitchFamily="34" charset="-122"/>
                <a:cs typeface="Helvetica Neue" pitchFamily="34" charset="-120"/>
              </a:rPr>
              <a:t>→</a:t>
            </a:r>
            <a:endParaRPr lang="en-US" sz="2800" dirty="0"/>
          </a:p>
        </p:txBody>
      </p:sp>
      <p:sp>
        <p:nvSpPr>
          <p:cNvPr id="12" name="Shape 10"/>
          <p:cNvSpPr/>
          <p:nvPr/>
        </p:nvSpPr>
        <p:spPr>
          <a:xfrm>
            <a:off x="5577840" y="1389888"/>
            <a:ext cx="2816352" cy="1938528"/>
          </a:xfrm>
          <a:prstGeom prst="roundRect">
            <a:avLst>
              <a:gd name="adj" fmla="val 3774"/>
            </a:avLst>
          </a:prstGeom>
          <a:solidFill>
            <a:srgbClr val="ECE5FF"/>
          </a:solidFill>
          <a:ln w="12700">
            <a:solidFill>
              <a:srgbClr val="CFC2FF"/>
            </a:solidFill>
            <a:prstDash val="solid"/>
          </a:ln>
        </p:spPr>
      </p:sp>
      <p:sp>
        <p:nvSpPr>
          <p:cNvPr id="13" name="Text 11"/>
          <p:cNvSpPr txBox="1"/>
          <p:nvPr/>
        </p:nvSpPr>
        <p:spPr>
          <a:xfrm>
            <a:off x="5870448" y="1682496"/>
            <a:ext cx="14630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INFERENCE</a:t>
            </a:r>
            <a:endParaRPr lang="en-US" sz="1050" dirty="0"/>
          </a:p>
        </p:txBody>
      </p:sp>
      <p:sp>
        <p:nvSpPr>
          <p:cNvPr id="14" name="Text 12"/>
          <p:cNvSpPr txBox="1"/>
          <p:nvPr/>
        </p:nvSpPr>
        <p:spPr>
          <a:xfrm>
            <a:off x="5870448" y="2212848"/>
            <a:ext cx="2212848" cy="658368"/>
          </a:xfrm>
          <a:prstGeom prst="rect">
            <a:avLst/>
          </a:prstGeom>
          <a:noFill/>
          <a:ln/>
        </p:spPr>
        <p:txBody>
          <a:bodyPr wrap="square" lIns="0" tIns="0" rIns="0" bIns="0" rtlCol="0" anchor="ctr">
            <a:normAutofit/>
          </a:bodyPr>
          <a:lstStyle/>
          <a:p>
            <a:pPr algn="ctr"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THE MODEL RUNS HERE</a:t>
            </a:r>
            <a:endParaRPr lang="en-US" sz="2100" dirty="0"/>
          </a:p>
        </p:txBody>
      </p:sp>
      <p:sp>
        <p:nvSpPr>
          <p:cNvPr id="15" name="Text 13"/>
          <p:cNvSpPr txBox="1"/>
          <p:nvPr/>
        </p:nvSpPr>
        <p:spPr>
          <a:xfrm>
            <a:off x="8394192" y="1828800"/>
            <a:ext cx="457200" cy="347472"/>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A8A7B3"/>
                </a:solidFill>
                <a:latin typeface="Helvetica Neue" pitchFamily="34" charset="0"/>
                <a:ea typeface="Helvetica Neue" pitchFamily="34" charset="-122"/>
                <a:cs typeface="Helvetica Neue" pitchFamily="34" charset="-120"/>
              </a:rPr>
              <a:t>→</a:t>
            </a:r>
            <a:endParaRPr lang="en-US" sz="2800" dirty="0"/>
          </a:p>
        </p:txBody>
      </p:sp>
      <p:sp>
        <p:nvSpPr>
          <p:cNvPr id="16" name="Text 14"/>
          <p:cNvSpPr txBox="1"/>
          <p:nvPr/>
        </p:nvSpPr>
        <p:spPr>
          <a:xfrm>
            <a:off x="8851392" y="1828800"/>
            <a:ext cx="1444752" cy="329184"/>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64C9A4"/>
                </a:solidFill>
                <a:latin typeface="Helvetica Neue" pitchFamily="34" charset="0"/>
                <a:ea typeface="Helvetica Neue" pitchFamily="34" charset="-122"/>
                <a:cs typeface="Helvetica Neue" pitchFamily="34" charset="-120"/>
              </a:rPr>
              <a:t>ANSWER</a:t>
            </a:r>
            <a:endParaRPr lang="en-US" sz="1500" dirty="0"/>
          </a:p>
        </p:txBody>
      </p:sp>
      <p:sp>
        <p:nvSpPr>
          <p:cNvPr id="17" name="Shape 15"/>
          <p:cNvSpPr/>
          <p:nvPr/>
        </p:nvSpPr>
        <p:spPr>
          <a:xfrm>
            <a:off x="3913632" y="3840480"/>
            <a:ext cx="7827264" cy="1993392"/>
          </a:xfrm>
          <a:prstGeom prst="roundRect">
            <a:avLst>
              <a:gd name="adj" fmla="val 3670"/>
            </a:avLst>
          </a:prstGeom>
          <a:solidFill>
            <a:srgbClr val="20212B"/>
          </a:solidFill>
          <a:ln w="12700">
            <a:solidFill>
              <a:srgbClr val="2A2B38"/>
            </a:solidFill>
            <a:prstDash val="solid"/>
          </a:ln>
        </p:spPr>
      </p:sp>
      <p:sp>
        <p:nvSpPr>
          <p:cNvPr id="18" name="Text 16"/>
          <p:cNvSpPr txBox="1"/>
          <p:nvPr/>
        </p:nvSpPr>
        <p:spPr>
          <a:xfrm>
            <a:off x="4224528" y="4133088"/>
            <a:ext cx="24688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D88752"/>
                </a:solidFill>
                <a:latin typeface="Helvetica Neue" pitchFamily="34" charset="0"/>
                <a:ea typeface="Helvetica Neue" pitchFamily="34" charset="-122"/>
                <a:cs typeface="Helvetica Neue" pitchFamily="34" charset="-120"/>
              </a:rPr>
              <a:t>THE IMPORTANT DETAIL</a:t>
            </a:r>
            <a:endParaRPr lang="en-US" sz="1050" dirty="0"/>
          </a:p>
        </p:txBody>
      </p:sp>
      <p:sp>
        <p:nvSpPr>
          <p:cNvPr id="19" name="Text 17"/>
          <p:cNvSpPr txBox="1"/>
          <p:nvPr/>
        </p:nvSpPr>
        <p:spPr>
          <a:xfrm>
            <a:off x="4224528" y="4590288"/>
            <a:ext cx="7168896" cy="786384"/>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THE ORDINARY PROMPT → ANSWER PATH</a:t>
            </a:r>
            <a:endParaRPr lang="en-US" sz="2000" dirty="0"/>
          </a:p>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DOES NOT REQUIRE RENTING A REMOTE MODEL.</a:t>
            </a:r>
            <a:endParaRPr lang="en-US" sz="2000" dirty="0"/>
          </a:p>
        </p:txBody>
      </p:sp>
      <p:sp>
        <p:nvSpPr>
          <p:cNvPr id="20" name="Text 18"/>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Updates and optional tools may still use the internet.</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4.xml><?xml version="1.0" encoding="utf-8"?>
<p:sld xmlns:a="http://schemas.openxmlformats.org/drawingml/2006/main" xmlns:p="http://schemas.openxmlformats.org/presentationml/2006/main" xmlns:p14="http://schemas.microsoft.com/office/powerpoint/2010/main">
  <p:cSld name="Slide 4">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“Free” has four different meanings</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04</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20624" y="1389888"/>
            <a:ext cx="2615184" cy="4160520"/>
          </a:xfrm>
          <a:prstGeom prst="roundRect">
            <a:avLst>
              <a:gd name="adj" fmla="val 2797"/>
            </a:avLst>
          </a:prstGeom>
          <a:solidFill>
            <a:srgbClr val="14151F"/>
          </a:solidFill>
          <a:ln w="12700">
            <a:solidFill>
              <a:srgbClr val="2A2B38"/>
            </a:solidFill>
            <a:prstDash val="solid"/>
          </a:ln>
        </p:spPr>
      </p:sp>
      <p:sp>
        <p:nvSpPr>
          <p:cNvPr id="7" name="Text 5"/>
          <p:cNvSpPr txBox="1"/>
          <p:nvPr/>
        </p:nvSpPr>
        <p:spPr>
          <a:xfrm>
            <a:off x="621792" y="1645920"/>
            <a:ext cx="2212848" cy="694944"/>
          </a:xfrm>
          <a:prstGeom prst="rect">
            <a:avLst/>
          </a:prstGeom>
          <a:noFill/>
          <a:ln/>
        </p:spPr>
        <p:txBody>
          <a:bodyPr wrap="square" lIns="0" tIns="0" rIns="0" bIns="0" rtlCol="0" anchor="ctr">
            <a:normAutofit/>
          </a:bodyPr>
          <a:lstStyle/>
          <a:p>
            <a:pPr algn="l" indent="0" marL="0">
              <a:lnSpc>
                <a:spcPct val="100000"/>
              </a:lnSpc>
              <a:buNone/>
            </a:pPr>
            <a:r>
              <a:rPr lang="en-US" sz="4000" b="1" dirty="0">
                <a:solidFill>
                  <a:srgbClr val="4777FF"/>
                </a:solidFill>
                <a:latin typeface="Helvetica Neue" pitchFamily="34" charset="0"/>
                <a:ea typeface="Helvetica Neue" pitchFamily="34" charset="-122"/>
                <a:cs typeface="Helvetica Neue" pitchFamily="34" charset="-120"/>
              </a:rPr>
              <a:t>$0</a:t>
            </a:r>
            <a:endParaRPr lang="en-US" sz="4000" dirty="0"/>
          </a:p>
        </p:txBody>
      </p:sp>
      <p:sp>
        <p:nvSpPr>
          <p:cNvPr id="8" name="Text 6"/>
          <p:cNvSpPr txBox="1"/>
          <p:nvPr/>
        </p:nvSpPr>
        <p:spPr>
          <a:xfrm>
            <a:off x="621792" y="2532888"/>
            <a:ext cx="21488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4777FF"/>
                </a:solidFill>
                <a:latin typeface="Helvetica Neue" pitchFamily="34" charset="0"/>
                <a:ea typeface="Helvetica Neue" pitchFamily="34" charset="-122"/>
                <a:cs typeface="Helvetica Neue" pitchFamily="34" charset="-120"/>
              </a:rPr>
              <a:t>PRICE</a:t>
            </a:r>
            <a:endParaRPr lang="en-US" sz="1050" dirty="0"/>
          </a:p>
        </p:txBody>
      </p:sp>
      <p:sp>
        <p:nvSpPr>
          <p:cNvPr id="9" name="Shape 7"/>
          <p:cNvSpPr/>
          <p:nvPr/>
        </p:nvSpPr>
        <p:spPr>
          <a:xfrm>
            <a:off x="621792" y="2971800"/>
            <a:ext cx="2212848" cy="0"/>
          </a:xfrm>
          <a:prstGeom prst="line">
            <a:avLst/>
          </a:prstGeom>
          <a:noFill/>
          <a:ln w="12700">
            <a:solidFill>
              <a:srgbClr val="2A2B38"/>
            </a:solidFill>
            <a:prstDash val="solid"/>
          </a:ln>
        </p:spPr>
      </p:sp>
      <p:sp>
        <p:nvSpPr>
          <p:cNvPr id="10" name="Text 8"/>
          <p:cNvSpPr txBox="1"/>
          <p:nvPr/>
        </p:nvSpPr>
        <p:spPr>
          <a:xfrm>
            <a:off x="621792" y="3227832"/>
            <a:ext cx="2212848" cy="111556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No charge at the moment of use.</a:t>
            </a:r>
            <a:endParaRPr lang="en-US" sz="1600" dirty="0"/>
          </a:p>
        </p:txBody>
      </p:sp>
      <p:sp>
        <p:nvSpPr>
          <p:cNvPr id="11" name="Shape 9"/>
          <p:cNvSpPr/>
          <p:nvPr/>
        </p:nvSpPr>
        <p:spPr>
          <a:xfrm>
            <a:off x="3310128" y="1389888"/>
            <a:ext cx="2615184" cy="4160520"/>
          </a:xfrm>
          <a:prstGeom prst="roundRect">
            <a:avLst>
              <a:gd name="adj" fmla="val 2797"/>
            </a:avLst>
          </a:prstGeom>
          <a:solidFill>
            <a:srgbClr val="14151F"/>
          </a:solidFill>
          <a:ln w="12700">
            <a:solidFill>
              <a:srgbClr val="2A2B38"/>
            </a:solidFill>
            <a:prstDash val="solid"/>
          </a:ln>
        </p:spPr>
      </p:sp>
      <p:sp>
        <p:nvSpPr>
          <p:cNvPr id="12" name="Text 10"/>
          <p:cNvSpPr txBox="1"/>
          <p:nvPr/>
        </p:nvSpPr>
        <p:spPr>
          <a:xfrm>
            <a:off x="3511296" y="1645920"/>
            <a:ext cx="2212848" cy="694944"/>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BCA7FF"/>
                </a:solidFill>
                <a:latin typeface="Helvetica Neue" pitchFamily="34" charset="0"/>
                <a:ea typeface="Helvetica Neue" pitchFamily="34" charset="-122"/>
                <a:cs typeface="Helvetica Neue" pitchFamily="34" charset="-120"/>
              </a:rPr>
              <a:t>OPEN</a:t>
            </a:r>
            <a:endParaRPr lang="en-US" sz="3100" dirty="0"/>
          </a:p>
        </p:txBody>
      </p:sp>
      <p:sp>
        <p:nvSpPr>
          <p:cNvPr id="13" name="Text 11"/>
          <p:cNvSpPr txBox="1"/>
          <p:nvPr/>
        </p:nvSpPr>
        <p:spPr>
          <a:xfrm>
            <a:off x="3511296" y="2532888"/>
            <a:ext cx="21488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RIGHTS</a:t>
            </a:r>
            <a:endParaRPr lang="en-US" sz="1050" dirty="0"/>
          </a:p>
        </p:txBody>
      </p:sp>
      <p:sp>
        <p:nvSpPr>
          <p:cNvPr id="14" name="Shape 12"/>
          <p:cNvSpPr/>
          <p:nvPr/>
        </p:nvSpPr>
        <p:spPr>
          <a:xfrm>
            <a:off x="3511296" y="2971800"/>
            <a:ext cx="2212848" cy="0"/>
          </a:xfrm>
          <a:prstGeom prst="line">
            <a:avLst/>
          </a:prstGeom>
          <a:noFill/>
          <a:ln w="12700">
            <a:solidFill>
              <a:srgbClr val="2A2B38"/>
            </a:solidFill>
            <a:prstDash val="solid"/>
          </a:ln>
        </p:spPr>
      </p:sp>
      <p:sp>
        <p:nvSpPr>
          <p:cNvPr id="15" name="Text 13"/>
          <p:cNvSpPr txBox="1"/>
          <p:nvPr/>
        </p:nvSpPr>
        <p:spPr>
          <a:xfrm>
            <a:off x="3511296" y="3227832"/>
            <a:ext cx="2212848" cy="111556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Can you inspect, modify, and redistribute it?</a:t>
            </a:r>
            <a:endParaRPr lang="en-US" sz="1600" dirty="0"/>
          </a:p>
        </p:txBody>
      </p:sp>
      <p:sp>
        <p:nvSpPr>
          <p:cNvPr id="16" name="Shape 14"/>
          <p:cNvSpPr/>
          <p:nvPr/>
        </p:nvSpPr>
        <p:spPr>
          <a:xfrm>
            <a:off x="6199632" y="1389888"/>
            <a:ext cx="2615184" cy="4160520"/>
          </a:xfrm>
          <a:prstGeom prst="roundRect">
            <a:avLst>
              <a:gd name="adj" fmla="val 2797"/>
            </a:avLst>
          </a:prstGeom>
          <a:solidFill>
            <a:srgbClr val="14151F"/>
          </a:solidFill>
          <a:ln w="12700">
            <a:solidFill>
              <a:srgbClr val="2A2B38"/>
            </a:solidFill>
            <a:prstDash val="solid"/>
          </a:ln>
        </p:spPr>
      </p:sp>
      <p:sp>
        <p:nvSpPr>
          <p:cNvPr id="17" name="Text 15"/>
          <p:cNvSpPr txBox="1"/>
          <p:nvPr/>
        </p:nvSpPr>
        <p:spPr>
          <a:xfrm>
            <a:off x="6400800" y="1645920"/>
            <a:ext cx="2212848" cy="694944"/>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D88752"/>
                </a:solidFill>
                <a:latin typeface="Helvetica Neue" pitchFamily="34" charset="0"/>
                <a:ea typeface="Helvetica Neue" pitchFamily="34" charset="-122"/>
                <a:cs typeface="Helvetica Neue" pitchFamily="34" charset="-120"/>
              </a:rPr>
              <a:t>LOCAL</a:t>
            </a:r>
            <a:endParaRPr lang="en-US" sz="3100" dirty="0"/>
          </a:p>
        </p:txBody>
      </p:sp>
      <p:sp>
        <p:nvSpPr>
          <p:cNvPr id="18" name="Text 16"/>
          <p:cNvSpPr txBox="1"/>
          <p:nvPr/>
        </p:nvSpPr>
        <p:spPr>
          <a:xfrm>
            <a:off x="6400800" y="2532888"/>
            <a:ext cx="21488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D88752"/>
                </a:solidFill>
                <a:latin typeface="Helvetica Neue" pitchFamily="34" charset="0"/>
                <a:ea typeface="Helvetica Neue" pitchFamily="34" charset="-122"/>
                <a:cs typeface="Helvetica Neue" pitchFamily="34" charset="-120"/>
              </a:rPr>
              <a:t>LOCATION</a:t>
            </a:r>
            <a:endParaRPr lang="en-US" sz="1050" dirty="0"/>
          </a:p>
        </p:txBody>
      </p:sp>
      <p:sp>
        <p:nvSpPr>
          <p:cNvPr id="19" name="Shape 17"/>
          <p:cNvSpPr/>
          <p:nvPr/>
        </p:nvSpPr>
        <p:spPr>
          <a:xfrm>
            <a:off x="6400800" y="2971800"/>
            <a:ext cx="2212848" cy="0"/>
          </a:xfrm>
          <a:prstGeom prst="line">
            <a:avLst/>
          </a:prstGeom>
          <a:noFill/>
          <a:ln w="12700">
            <a:solidFill>
              <a:srgbClr val="2A2B38"/>
            </a:solidFill>
            <a:prstDash val="solid"/>
          </a:ln>
        </p:spPr>
      </p:sp>
      <p:sp>
        <p:nvSpPr>
          <p:cNvPr id="20" name="Text 18"/>
          <p:cNvSpPr txBox="1"/>
          <p:nvPr/>
        </p:nvSpPr>
        <p:spPr>
          <a:xfrm>
            <a:off x="6400800" y="3227832"/>
            <a:ext cx="2212848" cy="111556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Do prompts and files stay on your machine?</a:t>
            </a:r>
            <a:endParaRPr lang="en-US" sz="1600" dirty="0"/>
          </a:p>
        </p:txBody>
      </p:sp>
      <p:sp>
        <p:nvSpPr>
          <p:cNvPr id="21" name="Shape 19"/>
          <p:cNvSpPr/>
          <p:nvPr/>
        </p:nvSpPr>
        <p:spPr>
          <a:xfrm>
            <a:off x="9089136" y="1389888"/>
            <a:ext cx="2615184" cy="4160520"/>
          </a:xfrm>
          <a:prstGeom prst="roundRect">
            <a:avLst>
              <a:gd name="adj" fmla="val 2797"/>
            </a:avLst>
          </a:prstGeom>
          <a:solidFill>
            <a:srgbClr val="14151F"/>
          </a:solidFill>
          <a:ln w="12700">
            <a:solidFill>
              <a:srgbClr val="2A2B38"/>
            </a:solidFill>
            <a:prstDash val="solid"/>
          </a:ln>
        </p:spPr>
      </p:sp>
      <p:sp>
        <p:nvSpPr>
          <p:cNvPr id="22" name="Text 20"/>
          <p:cNvSpPr txBox="1"/>
          <p:nvPr/>
        </p:nvSpPr>
        <p:spPr>
          <a:xfrm>
            <a:off x="9290304" y="1645920"/>
            <a:ext cx="2212848" cy="694944"/>
          </a:xfrm>
          <a:prstGeom prst="rect">
            <a:avLst/>
          </a:prstGeom>
          <a:noFill/>
          <a:ln/>
        </p:spPr>
        <p:txBody>
          <a:bodyPr wrap="square" lIns="0" tIns="0" rIns="0" bIns="0" rtlCol="0" anchor="ctr">
            <a:normAutofit/>
          </a:bodyPr>
          <a:lstStyle/>
          <a:p>
            <a:pPr algn="l" indent="0" marL="0">
              <a:lnSpc>
                <a:spcPct val="100000"/>
              </a:lnSpc>
              <a:buNone/>
            </a:pPr>
            <a:r>
              <a:rPr lang="en-US" sz="4000" b="1" dirty="0">
                <a:solidFill>
                  <a:srgbClr val="64C9A4"/>
                </a:solidFill>
                <a:latin typeface="Helvetica Neue" pitchFamily="34" charset="0"/>
                <a:ea typeface="Helvetica Neue" pitchFamily="34" charset="-122"/>
                <a:cs typeface="Helvetica Neue" pitchFamily="34" charset="-120"/>
              </a:rPr>
              <a:t>∞</a:t>
            </a:r>
            <a:endParaRPr lang="en-US" sz="4000" dirty="0"/>
          </a:p>
        </p:txBody>
      </p:sp>
      <p:sp>
        <p:nvSpPr>
          <p:cNvPr id="23" name="Text 21"/>
          <p:cNvSpPr txBox="1"/>
          <p:nvPr/>
        </p:nvSpPr>
        <p:spPr>
          <a:xfrm>
            <a:off x="9290304" y="2532888"/>
            <a:ext cx="21488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64C9A4"/>
                </a:solidFill>
                <a:latin typeface="Helvetica Neue" pitchFamily="34" charset="0"/>
                <a:ea typeface="Helvetica Neue" pitchFamily="34" charset="-122"/>
                <a:cs typeface="Helvetica Neue" pitchFamily="34" charset="-120"/>
              </a:rPr>
              <a:t>USAGE</a:t>
            </a:r>
            <a:endParaRPr lang="en-US" sz="1050" dirty="0"/>
          </a:p>
        </p:txBody>
      </p:sp>
      <p:sp>
        <p:nvSpPr>
          <p:cNvPr id="24" name="Shape 22"/>
          <p:cNvSpPr/>
          <p:nvPr/>
        </p:nvSpPr>
        <p:spPr>
          <a:xfrm>
            <a:off x="9290304" y="2971800"/>
            <a:ext cx="2212848" cy="0"/>
          </a:xfrm>
          <a:prstGeom prst="line">
            <a:avLst/>
          </a:prstGeom>
          <a:noFill/>
          <a:ln w="12700">
            <a:solidFill>
              <a:srgbClr val="2A2B38"/>
            </a:solidFill>
            <a:prstDash val="solid"/>
          </a:ln>
        </p:spPr>
      </p:sp>
      <p:sp>
        <p:nvSpPr>
          <p:cNvPr id="25" name="Text 23"/>
          <p:cNvSpPr txBox="1"/>
          <p:nvPr/>
        </p:nvSpPr>
        <p:spPr>
          <a:xfrm>
            <a:off x="9290304" y="3227832"/>
            <a:ext cx="2212848" cy="111556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Can you run it repeatedly without a token bill?</a:t>
            </a:r>
            <a:endParaRPr lang="en-US" sz="1600" dirty="0"/>
          </a:p>
        </p:txBody>
      </p:sp>
      <p:sp>
        <p:nvSpPr>
          <p:cNvPr id="26" name="Text 24"/>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One word. Four promises. Local AI only guarantees some of them.</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indefinite"/>
                      </p:stCondLst>
                      <p:childTnLst>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26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52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78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30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56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82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08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34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60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86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5.xml><?xml version="1.0" encoding="utf-8"?>
<p:sld xmlns:a="http://schemas.openxmlformats.org/drawingml/2006/main" xmlns:p="http://schemas.openxmlformats.org/presentationml/2006/main" xmlns:p14="http://schemas.microsoft.com/office/powerpoint/2010/main">
  <p:cSld name="Slide 5">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A local model is a four-layer stack</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05</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417320"/>
            <a:ext cx="2487168" cy="4315968"/>
          </a:xfrm>
          <a:prstGeom prst="roundRect">
            <a:avLst>
              <a:gd name="adj" fmla="val 2941"/>
            </a:avLst>
          </a:prstGeom>
          <a:solidFill>
            <a:srgbClr val="FFFFFF"/>
          </a:solidFill>
          <a:ln w="12700">
            <a:solidFill>
              <a:srgbClr val="D8D3C8"/>
            </a:solidFill>
            <a:prstDash val="solid"/>
          </a:ln>
        </p:spPr>
      </p:sp>
      <p:sp>
        <p:nvSpPr>
          <p:cNvPr id="7" name="Text 5"/>
          <p:cNvSpPr txBox="1"/>
          <p:nvPr/>
        </p:nvSpPr>
        <p:spPr>
          <a:xfrm>
            <a:off x="640080" y="1627632"/>
            <a:ext cx="475488"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8E63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2103120"/>
            <a:ext cx="2084832" cy="56692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090A10"/>
                </a:solidFill>
                <a:latin typeface="Helvetica Neue" pitchFamily="34" charset="0"/>
                <a:ea typeface="Helvetica Neue" pitchFamily="34" charset="-122"/>
                <a:cs typeface="Helvetica Neue" pitchFamily="34" charset="-120"/>
              </a:rPr>
              <a:t>MODEL WEIGHTS</a:t>
            </a:r>
            <a:endParaRPr lang="en-US" sz="2000" dirty="0"/>
          </a:p>
        </p:txBody>
      </p:sp>
      <p:sp>
        <p:nvSpPr>
          <p:cNvPr id="9" name="Shape 7"/>
          <p:cNvSpPr/>
          <p:nvPr/>
        </p:nvSpPr>
        <p:spPr>
          <a:xfrm>
            <a:off x="640080" y="2889504"/>
            <a:ext cx="2084832" cy="0"/>
          </a:xfrm>
          <a:prstGeom prst="line">
            <a:avLst/>
          </a:prstGeom>
          <a:noFill/>
          <a:ln w="25400">
            <a:solidFill>
              <a:srgbClr val="8E63FF"/>
            </a:solidFill>
            <a:prstDash val="solid"/>
          </a:ln>
        </p:spPr>
      </p:sp>
      <p:sp>
        <p:nvSpPr>
          <p:cNvPr id="10" name="Text 8"/>
          <p:cNvSpPr txBox="1"/>
          <p:nvPr/>
        </p:nvSpPr>
        <p:spPr>
          <a:xfrm>
            <a:off x="640080" y="3182112"/>
            <a:ext cx="2084832"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The learned parameters</a:t>
            </a:r>
            <a:endParaRPr lang="en-US" sz="1550" dirty="0"/>
          </a:p>
        </p:txBody>
      </p:sp>
      <p:sp>
        <p:nvSpPr>
          <p:cNvPr id="11" name="Text 9"/>
          <p:cNvSpPr txBox="1"/>
          <p:nvPr/>
        </p:nvSpPr>
        <p:spPr>
          <a:xfrm>
            <a:off x="2953512" y="2944368"/>
            <a:ext cx="274320" cy="457200"/>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12" name="Shape 10"/>
          <p:cNvSpPr/>
          <p:nvPr/>
        </p:nvSpPr>
        <p:spPr>
          <a:xfrm>
            <a:off x="3255264" y="1417320"/>
            <a:ext cx="2487168" cy="4315968"/>
          </a:xfrm>
          <a:prstGeom prst="roundRect">
            <a:avLst>
              <a:gd name="adj" fmla="val 2941"/>
            </a:avLst>
          </a:prstGeom>
          <a:solidFill>
            <a:srgbClr val="EEEAE2"/>
          </a:solidFill>
          <a:ln w="12700">
            <a:solidFill>
              <a:srgbClr val="D8D3C8"/>
            </a:solidFill>
            <a:prstDash val="solid"/>
          </a:ln>
        </p:spPr>
      </p:sp>
      <p:sp>
        <p:nvSpPr>
          <p:cNvPr id="13" name="Text 11"/>
          <p:cNvSpPr txBox="1"/>
          <p:nvPr/>
        </p:nvSpPr>
        <p:spPr>
          <a:xfrm>
            <a:off x="3456432" y="1627632"/>
            <a:ext cx="475488"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02</a:t>
            </a:r>
            <a:endParaRPr lang="en-US" sz="1300" dirty="0"/>
          </a:p>
        </p:txBody>
      </p:sp>
      <p:sp>
        <p:nvSpPr>
          <p:cNvPr id="14" name="Text 12"/>
          <p:cNvSpPr txBox="1"/>
          <p:nvPr/>
        </p:nvSpPr>
        <p:spPr>
          <a:xfrm>
            <a:off x="3456432" y="2103120"/>
            <a:ext cx="2084832" cy="56692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090A10"/>
                </a:solidFill>
                <a:latin typeface="Helvetica Neue" pitchFamily="34" charset="0"/>
                <a:ea typeface="Helvetica Neue" pitchFamily="34" charset="-122"/>
                <a:cs typeface="Helvetica Neue" pitchFamily="34" charset="-120"/>
              </a:rPr>
              <a:t>RUNTIME</a:t>
            </a:r>
            <a:endParaRPr lang="en-US" sz="2000" dirty="0"/>
          </a:p>
        </p:txBody>
      </p:sp>
      <p:sp>
        <p:nvSpPr>
          <p:cNvPr id="15" name="Shape 13"/>
          <p:cNvSpPr/>
          <p:nvPr/>
        </p:nvSpPr>
        <p:spPr>
          <a:xfrm>
            <a:off x="3456432" y="2889504"/>
            <a:ext cx="2084832" cy="0"/>
          </a:xfrm>
          <a:prstGeom prst="line">
            <a:avLst/>
          </a:prstGeom>
          <a:noFill/>
          <a:ln w="25400">
            <a:solidFill>
              <a:srgbClr val="4777FF"/>
            </a:solidFill>
            <a:prstDash val="solid"/>
          </a:ln>
        </p:spPr>
      </p:sp>
      <p:sp>
        <p:nvSpPr>
          <p:cNvPr id="16" name="Text 14"/>
          <p:cNvSpPr txBox="1"/>
          <p:nvPr/>
        </p:nvSpPr>
        <p:spPr>
          <a:xfrm>
            <a:off x="3456432" y="3182112"/>
            <a:ext cx="2084832"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Loads, quantizes, and serves the model</a:t>
            </a:r>
            <a:endParaRPr lang="en-US" sz="1550" dirty="0"/>
          </a:p>
        </p:txBody>
      </p:sp>
      <p:sp>
        <p:nvSpPr>
          <p:cNvPr id="17" name="Text 15"/>
          <p:cNvSpPr txBox="1"/>
          <p:nvPr/>
        </p:nvSpPr>
        <p:spPr>
          <a:xfrm>
            <a:off x="5769864" y="2944368"/>
            <a:ext cx="274320" cy="457200"/>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18" name="Shape 16"/>
          <p:cNvSpPr/>
          <p:nvPr/>
        </p:nvSpPr>
        <p:spPr>
          <a:xfrm>
            <a:off x="6071616" y="1417320"/>
            <a:ext cx="2487168" cy="4315968"/>
          </a:xfrm>
          <a:prstGeom prst="roundRect">
            <a:avLst>
              <a:gd name="adj" fmla="val 2941"/>
            </a:avLst>
          </a:prstGeom>
          <a:solidFill>
            <a:srgbClr val="FFFFFF"/>
          </a:solidFill>
          <a:ln w="12700">
            <a:solidFill>
              <a:srgbClr val="D8D3C8"/>
            </a:solidFill>
            <a:prstDash val="solid"/>
          </a:ln>
        </p:spPr>
      </p:sp>
      <p:sp>
        <p:nvSpPr>
          <p:cNvPr id="19" name="Text 17"/>
          <p:cNvSpPr txBox="1"/>
          <p:nvPr/>
        </p:nvSpPr>
        <p:spPr>
          <a:xfrm>
            <a:off x="6272784" y="1627632"/>
            <a:ext cx="475488"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03</a:t>
            </a:r>
            <a:endParaRPr lang="en-US" sz="1300" dirty="0"/>
          </a:p>
        </p:txBody>
      </p:sp>
      <p:sp>
        <p:nvSpPr>
          <p:cNvPr id="20" name="Text 18"/>
          <p:cNvSpPr txBox="1"/>
          <p:nvPr/>
        </p:nvSpPr>
        <p:spPr>
          <a:xfrm>
            <a:off x="6272784" y="2103120"/>
            <a:ext cx="2084832" cy="56692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090A10"/>
                </a:solidFill>
                <a:latin typeface="Helvetica Neue" pitchFamily="34" charset="0"/>
                <a:ea typeface="Helvetica Neue" pitchFamily="34" charset="-122"/>
                <a:cs typeface="Helvetica Neue" pitchFamily="34" charset="-120"/>
              </a:rPr>
              <a:t>HARDWARE</a:t>
            </a:r>
            <a:endParaRPr lang="en-US" sz="2000" dirty="0"/>
          </a:p>
        </p:txBody>
      </p:sp>
      <p:sp>
        <p:nvSpPr>
          <p:cNvPr id="21" name="Shape 19"/>
          <p:cNvSpPr/>
          <p:nvPr/>
        </p:nvSpPr>
        <p:spPr>
          <a:xfrm>
            <a:off x="6272784" y="2889504"/>
            <a:ext cx="2084832" cy="0"/>
          </a:xfrm>
          <a:prstGeom prst="line">
            <a:avLst/>
          </a:prstGeom>
          <a:noFill/>
          <a:ln w="25400">
            <a:solidFill>
              <a:srgbClr val="D88752"/>
            </a:solidFill>
            <a:prstDash val="solid"/>
          </a:ln>
        </p:spPr>
      </p:sp>
      <p:sp>
        <p:nvSpPr>
          <p:cNvPr id="22" name="Text 20"/>
          <p:cNvSpPr txBox="1"/>
          <p:nvPr/>
        </p:nvSpPr>
        <p:spPr>
          <a:xfrm>
            <a:off x="6272784" y="3182112"/>
            <a:ext cx="2084832"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RAM / VRAM, bandwidth, CPU / GPU / NPU</a:t>
            </a:r>
            <a:endParaRPr lang="en-US" sz="1550" dirty="0"/>
          </a:p>
        </p:txBody>
      </p:sp>
      <p:sp>
        <p:nvSpPr>
          <p:cNvPr id="23" name="Text 21"/>
          <p:cNvSpPr txBox="1"/>
          <p:nvPr/>
        </p:nvSpPr>
        <p:spPr>
          <a:xfrm>
            <a:off x="8586216" y="2944368"/>
            <a:ext cx="274320" cy="457200"/>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24" name="Shape 22"/>
          <p:cNvSpPr/>
          <p:nvPr/>
        </p:nvSpPr>
        <p:spPr>
          <a:xfrm>
            <a:off x="8887968" y="1417320"/>
            <a:ext cx="2487168" cy="4315968"/>
          </a:xfrm>
          <a:prstGeom prst="roundRect">
            <a:avLst>
              <a:gd name="adj" fmla="val 2941"/>
            </a:avLst>
          </a:prstGeom>
          <a:solidFill>
            <a:srgbClr val="EEEAE2"/>
          </a:solidFill>
          <a:ln w="12700">
            <a:solidFill>
              <a:srgbClr val="D8D3C8"/>
            </a:solidFill>
            <a:prstDash val="solid"/>
          </a:ln>
        </p:spPr>
      </p:sp>
      <p:sp>
        <p:nvSpPr>
          <p:cNvPr id="25" name="Text 23"/>
          <p:cNvSpPr txBox="1"/>
          <p:nvPr/>
        </p:nvSpPr>
        <p:spPr>
          <a:xfrm>
            <a:off x="9089136" y="1627632"/>
            <a:ext cx="475488"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64C9A4"/>
                </a:solidFill>
                <a:latin typeface="Helvetica Neue" pitchFamily="34" charset="0"/>
                <a:ea typeface="Helvetica Neue" pitchFamily="34" charset="-122"/>
                <a:cs typeface="Helvetica Neue" pitchFamily="34" charset="-120"/>
              </a:rPr>
              <a:t>04</a:t>
            </a:r>
            <a:endParaRPr lang="en-US" sz="1300" dirty="0"/>
          </a:p>
        </p:txBody>
      </p:sp>
      <p:sp>
        <p:nvSpPr>
          <p:cNvPr id="26" name="Text 24"/>
          <p:cNvSpPr txBox="1"/>
          <p:nvPr/>
        </p:nvSpPr>
        <p:spPr>
          <a:xfrm>
            <a:off x="9089136" y="2103120"/>
            <a:ext cx="2084832" cy="56692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090A10"/>
                </a:solidFill>
                <a:latin typeface="Helvetica Neue" pitchFamily="34" charset="0"/>
                <a:ea typeface="Helvetica Neue" pitchFamily="34" charset="-122"/>
                <a:cs typeface="Helvetica Neue" pitchFamily="34" charset="-120"/>
              </a:rPr>
              <a:t>APP + DATA</a:t>
            </a:r>
            <a:endParaRPr lang="en-US" sz="2000" dirty="0"/>
          </a:p>
        </p:txBody>
      </p:sp>
      <p:sp>
        <p:nvSpPr>
          <p:cNvPr id="27" name="Shape 25"/>
          <p:cNvSpPr/>
          <p:nvPr/>
        </p:nvSpPr>
        <p:spPr>
          <a:xfrm>
            <a:off x="9089136" y="2889504"/>
            <a:ext cx="2084832" cy="0"/>
          </a:xfrm>
          <a:prstGeom prst="line">
            <a:avLst/>
          </a:prstGeom>
          <a:noFill/>
          <a:ln w="25400">
            <a:solidFill>
              <a:srgbClr val="64C9A4"/>
            </a:solidFill>
            <a:prstDash val="solid"/>
          </a:ln>
        </p:spPr>
      </p:sp>
      <p:sp>
        <p:nvSpPr>
          <p:cNvPr id="28" name="Text 26"/>
          <p:cNvSpPr txBox="1"/>
          <p:nvPr/>
        </p:nvSpPr>
        <p:spPr>
          <a:xfrm>
            <a:off x="9089136" y="3182112"/>
            <a:ext cx="2084832"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The interface, files, tools, logs, and permissions</a:t>
            </a:r>
            <a:endParaRPr lang="en-US" sz="1550" dirty="0"/>
          </a:p>
        </p:txBody>
      </p:sp>
      <p:sp>
        <p:nvSpPr>
          <p:cNvPr id="29" name="Text 27"/>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If any layer is weak, the experience is weak.</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indefinite"/>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26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5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78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04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30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56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8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08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34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60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86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312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par>
                    <p:cTn id="111" fill="hold">
                      <p:stCondLst>
                        <p:cond delay="3380"/>
                      </p:stCondLst>
                      <p:childTnLst>
                        <p:par>
                          <p:cTn id="112" presetID="10" presetClass="entr" presetSubtype="0"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22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name="Slide 6">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Two levels: model families and runtimes</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06</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Text 4"/>
          <p:cNvSpPr txBox="1"/>
          <p:nvPr/>
        </p:nvSpPr>
        <p:spPr>
          <a:xfrm>
            <a:off x="438912" y="1335024"/>
            <a:ext cx="20116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MODEL FAMILIES</a:t>
            </a:r>
            <a:endParaRPr lang="en-US" sz="1050" dirty="0"/>
          </a:p>
        </p:txBody>
      </p:sp>
      <p:sp>
        <p:nvSpPr>
          <p:cNvPr id="7" name="Shape 5"/>
          <p:cNvSpPr/>
          <p:nvPr/>
        </p:nvSpPr>
        <p:spPr>
          <a:xfrm>
            <a:off x="438912" y="1664208"/>
            <a:ext cx="5358384" cy="3474720"/>
          </a:xfrm>
          <a:prstGeom prst="roundRect">
            <a:avLst>
              <a:gd name="adj" fmla="val 2105"/>
            </a:avLst>
          </a:prstGeom>
          <a:solidFill>
            <a:srgbClr val="FFFFFF"/>
          </a:solidFill>
          <a:ln w="12700">
            <a:solidFill>
              <a:srgbClr val="D8D3C8"/>
            </a:solidFill>
            <a:prstDash val="solid"/>
          </a:ln>
        </p:spPr>
      </p:sp>
      <p:pic>
        <p:nvPicPr>
          <p:cNvPr id="8" name="Image 0" descr="/Users/kuboshita/Documents/ChatGPT/FUR/.codex-build/llm-v2/current-inspect/assets/ppt/media/image.png">    </p:cNvPr>
          <p:cNvPicPr>
            <a:picLocks noChangeAspect="1"/>
          </p:cNvPicPr>
          <p:nvPr/>
        </p:nvPicPr>
        <p:blipFill>
          <a:blip r:embed="rId1"/>
          <a:srcRect l="0" r="0" t="0" b="0"/>
          <a:stretch/>
        </p:blipFill>
        <p:spPr>
          <a:xfrm>
            <a:off x="841248" y="2084832"/>
            <a:ext cx="1234440" cy="1234440"/>
          </a:xfrm>
          <a:prstGeom prst="rect">
            <a:avLst/>
          </a:prstGeom>
        </p:spPr>
      </p:pic>
      <p:sp>
        <p:nvSpPr>
          <p:cNvPr id="9" name="Text 6"/>
          <p:cNvSpPr txBox="1"/>
          <p:nvPr/>
        </p:nvSpPr>
        <p:spPr>
          <a:xfrm>
            <a:off x="676656" y="3502152"/>
            <a:ext cx="1572768" cy="310896"/>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90A10"/>
                </a:solidFill>
                <a:latin typeface="Helvetica Neue" pitchFamily="34" charset="0"/>
                <a:ea typeface="Helvetica Neue" pitchFamily="34" charset="-122"/>
                <a:cs typeface="Helvetica Neue" pitchFamily="34" charset="-120"/>
              </a:rPr>
              <a:t>QWEN</a:t>
            </a:r>
            <a:endParaRPr lang="en-US" sz="1600" dirty="0"/>
          </a:p>
        </p:txBody>
      </p:sp>
      <p:pic>
        <p:nvPicPr>
          <p:cNvPr id="10" name="Image 1" descr="/Users/kuboshita/Documents/ChatGPT/FUR/.codex-build/llm-v2/current-inspect/assets/ppt/media/image2.jpeg">    </p:cNvPr>
          <p:cNvPicPr>
            <a:picLocks noChangeAspect="1"/>
          </p:cNvPicPr>
          <p:nvPr/>
        </p:nvPicPr>
        <p:blipFill>
          <a:blip r:embed="rId2"/>
          <a:srcRect l="0" r="0" t="0" b="0"/>
          <a:stretch/>
        </p:blipFill>
        <p:spPr>
          <a:xfrm>
            <a:off x="3218688" y="1993392"/>
            <a:ext cx="1417320" cy="1417320"/>
          </a:xfrm>
          <a:prstGeom prst="rect">
            <a:avLst/>
          </a:prstGeom>
        </p:spPr>
      </p:pic>
      <p:sp>
        <p:nvSpPr>
          <p:cNvPr id="11" name="Text 7"/>
          <p:cNvSpPr txBox="1"/>
          <p:nvPr/>
        </p:nvSpPr>
        <p:spPr>
          <a:xfrm>
            <a:off x="3118104" y="3502152"/>
            <a:ext cx="1627632" cy="310896"/>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090A10"/>
                </a:solidFill>
                <a:latin typeface="Helvetica Neue" pitchFamily="34" charset="0"/>
                <a:ea typeface="Helvetica Neue" pitchFamily="34" charset="-122"/>
                <a:cs typeface="Helvetica Neue" pitchFamily="34" charset="-120"/>
              </a:rPr>
              <a:t>KIMI</a:t>
            </a:r>
            <a:endParaRPr lang="en-US" sz="1600" dirty="0"/>
          </a:p>
        </p:txBody>
      </p:sp>
      <p:sp>
        <p:nvSpPr>
          <p:cNvPr id="12" name="Text 8"/>
          <p:cNvSpPr txBox="1"/>
          <p:nvPr/>
        </p:nvSpPr>
        <p:spPr>
          <a:xfrm>
            <a:off x="749808" y="4315968"/>
            <a:ext cx="4736592" cy="402336"/>
          </a:xfrm>
          <a:prstGeom prst="rect">
            <a:avLst/>
          </a:prstGeom>
          <a:noFill/>
          <a:ln/>
        </p:spPr>
        <p:txBody>
          <a:bodyPr wrap="square" lIns="0" tIns="0" rIns="0" bIns="0" rtlCol="0" anchor="ctr">
            <a:normAutofit/>
          </a:bodyPr>
          <a:lstStyle/>
          <a:p>
            <a:pPr algn="ctr"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Weights define what the model can do.</a:t>
            </a:r>
            <a:endParaRPr lang="en-US" sz="1600" dirty="0"/>
          </a:p>
        </p:txBody>
      </p:sp>
      <p:sp>
        <p:nvSpPr>
          <p:cNvPr id="13" name="Text 9"/>
          <p:cNvSpPr txBox="1"/>
          <p:nvPr/>
        </p:nvSpPr>
        <p:spPr>
          <a:xfrm>
            <a:off x="6364224" y="1335024"/>
            <a:ext cx="21031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4777FF"/>
                </a:solidFill>
                <a:latin typeface="Helvetica Neue" pitchFamily="34" charset="0"/>
                <a:ea typeface="Helvetica Neue" pitchFamily="34" charset="-122"/>
                <a:cs typeface="Helvetica Neue" pitchFamily="34" charset="-120"/>
              </a:rPr>
              <a:t>LOCAL RUNTIMES</a:t>
            </a:r>
            <a:endParaRPr lang="en-US" sz="1050" dirty="0"/>
          </a:p>
        </p:txBody>
      </p:sp>
      <p:sp>
        <p:nvSpPr>
          <p:cNvPr id="14" name="Shape 10"/>
          <p:cNvSpPr/>
          <p:nvPr/>
        </p:nvSpPr>
        <p:spPr>
          <a:xfrm>
            <a:off x="6364224" y="1664208"/>
            <a:ext cx="5376672" cy="3474720"/>
          </a:xfrm>
          <a:prstGeom prst="roundRect">
            <a:avLst>
              <a:gd name="adj" fmla="val 2105"/>
            </a:avLst>
          </a:prstGeom>
          <a:solidFill>
            <a:srgbClr val="090A10"/>
          </a:solidFill>
          <a:ln w="12700">
            <a:solidFill>
              <a:srgbClr val="090A10"/>
            </a:solidFill>
            <a:prstDash val="solid"/>
          </a:ln>
        </p:spPr>
      </p:sp>
      <p:pic>
        <p:nvPicPr>
          <p:cNvPr id="15" name="Image 2" descr="/Users/kuboshita/Documents/ChatGPT/FUR/.codex-build/llm-v2/current-inspect/assets/ppt/media/image2.png">    </p:cNvPr>
          <p:cNvPicPr>
            <a:picLocks noChangeAspect="1"/>
          </p:cNvPicPr>
          <p:nvPr/>
        </p:nvPicPr>
        <p:blipFill>
          <a:blip r:embed="rId3"/>
          <a:srcRect l="0" r="0" t="0" b="0"/>
          <a:stretch/>
        </p:blipFill>
        <p:spPr>
          <a:xfrm>
            <a:off x="6729984" y="1993392"/>
            <a:ext cx="1325880" cy="1325880"/>
          </a:xfrm>
          <a:prstGeom prst="rect">
            <a:avLst/>
          </a:prstGeom>
        </p:spPr>
      </p:pic>
      <p:sp>
        <p:nvSpPr>
          <p:cNvPr id="16" name="Text 11"/>
          <p:cNvSpPr txBox="1"/>
          <p:nvPr/>
        </p:nvSpPr>
        <p:spPr>
          <a:xfrm>
            <a:off x="6565392" y="3502152"/>
            <a:ext cx="1664208" cy="310896"/>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Helvetica Neue" pitchFamily="34" charset="0"/>
                <a:ea typeface="Helvetica Neue" pitchFamily="34" charset="-122"/>
                <a:cs typeface="Helvetica Neue" pitchFamily="34" charset="-120"/>
              </a:rPr>
              <a:t>OLLAMA</a:t>
            </a:r>
            <a:endParaRPr lang="en-US" sz="1600" dirty="0"/>
          </a:p>
        </p:txBody>
      </p:sp>
      <p:sp>
        <p:nvSpPr>
          <p:cNvPr id="17" name="Text 12"/>
          <p:cNvSpPr txBox="1"/>
          <p:nvPr/>
        </p:nvSpPr>
        <p:spPr>
          <a:xfrm>
            <a:off x="8577072" y="2313432"/>
            <a:ext cx="2487168" cy="457200"/>
          </a:xfrm>
          <a:prstGeom prst="rect">
            <a:avLst/>
          </a:prstGeom>
          <a:noFill/>
          <a:ln/>
        </p:spPr>
        <p:txBody>
          <a:bodyPr wrap="square" lIns="0" tIns="0" rIns="0" bIns="0" rtlCol="0" anchor="ctr">
            <a:normAutofit/>
          </a:bodyPr>
          <a:lstStyle/>
          <a:p>
            <a:pPr algn="ctr" indent="0" marL="0">
              <a:lnSpc>
                <a:spcPct val="100000"/>
              </a:lnSpc>
              <a:buNone/>
            </a:pPr>
            <a:r>
              <a:rPr lang="en-US" sz="2500" b="1" dirty="0">
                <a:solidFill>
                  <a:srgbClr val="FFFFFF"/>
                </a:solidFill>
                <a:latin typeface="Helvetica Neue" pitchFamily="34" charset="0"/>
                <a:ea typeface="Helvetica Neue" pitchFamily="34" charset="-122"/>
                <a:cs typeface="Helvetica Neue" pitchFamily="34" charset="-120"/>
              </a:rPr>
              <a:t>llama.cpp</a:t>
            </a:r>
            <a:endParaRPr lang="en-US" sz="2500" dirty="0"/>
          </a:p>
        </p:txBody>
      </p:sp>
      <p:sp>
        <p:nvSpPr>
          <p:cNvPr id="18" name="Text 13"/>
          <p:cNvSpPr txBox="1"/>
          <p:nvPr/>
        </p:nvSpPr>
        <p:spPr>
          <a:xfrm>
            <a:off x="8577072" y="2971800"/>
            <a:ext cx="2487168" cy="457200"/>
          </a:xfrm>
          <a:prstGeom prst="rect">
            <a:avLst/>
          </a:prstGeom>
          <a:noFill/>
          <a:ln/>
        </p:spPr>
        <p:txBody>
          <a:bodyPr wrap="square" lIns="0" tIns="0" rIns="0" bIns="0" rtlCol="0" anchor="ctr">
            <a:normAutofit/>
          </a:bodyPr>
          <a:lstStyle/>
          <a:p>
            <a:pPr algn="ctr" indent="0" marL="0">
              <a:lnSpc>
                <a:spcPct val="100000"/>
              </a:lnSpc>
              <a:buNone/>
            </a:pPr>
            <a:r>
              <a:rPr lang="en-US" sz="2500" b="1" dirty="0">
                <a:solidFill>
                  <a:srgbClr val="BCA7FF"/>
                </a:solidFill>
                <a:latin typeface="Helvetica Neue" pitchFamily="34" charset="0"/>
                <a:ea typeface="Helvetica Neue" pitchFamily="34" charset="-122"/>
                <a:cs typeface="Helvetica Neue" pitchFamily="34" charset="-120"/>
              </a:rPr>
              <a:t>MLX</a:t>
            </a:r>
            <a:endParaRPr lang="en-US" sz="2500" dirty="0"/>
          </a:p>
        </p:txBody>
      </p:sp>
      <p:sp>
        <p:nvSpPr>
          <p:cNvPr id="19" name="Text 14"/>
          <p:cNvSpPr txBox="1"/>
          <p:nvPr/>
        </p:nvSpPr>
        <p:spPr>
          <a:xfrm>
            <a:off x="6656832" y="4315968"/>
            <a:ext cx="4773168" cy="402336"/>
          </a:xfrm>
          <a:prstGeom prst="rect">
            <a:avLst/>
          </a:prstGeom>
          <a:noFill/>
          <a:ln/>
        </p:spPr>
        <p:txBody>
          <a:bodyPr wrap="square" lIns="0" tIns="0" rIns="0" bIns="0" rtlCol="0" anchor="ctr">
            <a:normAutofit/>
          </a:bodyPr>
          <a:lstStyle/>
          <a:p>
            <a:pPr algn="ctr"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Runtimes make the weights usable.</a:t>
            </a:r>
            <a:endParaRPr lang="en-US" sz="1600" dirty="0"/>
          </a:p>
        </p:txBody>
      </p:sp>
      <p:sp>
        <p:nvSpPr>
          <p:cNvPr id="20" name="Shape 15"/>
          <p:cNvSpPr/>
          <p:nvPr/>
        </p:nvSpPr>
        <p:spPr>
          <a:xfrm>
            <a:off x="2468880" y="5541264"/>
            <a:ext cx="7269480" cy="530352"/>
          </a:xfrm>
          <a:prstGeom prst="roundRect">
            <a:avLst>
              <a:gd name="adj" fmla="val 10345"/>
            </a:avLst>
          </a:prstGeom>
          <a:solidFill>
            <a:srgbClr val="E7E1D8"/>
          </a:solidFill>
          <a:ln w="12700">
            <a:solidFill>
              <a:srgbClr val="E7E1D8"/>
            </a:solidFill>
            <a:prstDash val="solid"/>
          </a:ln>
        </p:spPr>
      </p:sp>
      <p:sp>
        <p:nvSpPr>
          <p:cNvPr id="21" name="Text 16"/>
          <p:cNvSpPr txBox="1"/>
          <p:nvPr/>
        </p:nvSpPr>
        <p:spPr>
          <a:xfrm>
            <a:off x="2651760" y="5650992"/>
            <a:ext cx="6903720" cy="292608"/>
          </a:xfrm>
          <a:prstGeom prst="rect">
            <a:avLst/>
          </a:prstGeom>
          <a:noFill/>
          <a:ln/>
        </p:spPr>
        <p:txBody>
          <a:bodyPr wrap="square" lIns="0" tIns="0" rIns="0" bIns="0" rtlCol="0" anchor="ctr">
            <a:normAutofit/>
          </a:bodyPr>
          <a:lstStyle/>
          <a:p>
            <a:pPr algn="ctr" indent="0" marL="0">
              <a:lnSpc>
                <a:spcPct val="100000"/>
              </a:lnSpc>
              <a:buNone/>
            </a:pPr>
            <a:r>
              <a:rPr lang="en-US" sz="1550" b="1" dirty="0">
                <a:solidFill>
                  <a:srgbClr val="090A10"/>
                </a:solidFill>
                <a:latin typeface="Helvetica Neue" pitchFamily="34" charset="0"/>
                <a:ea typeface="Helvetica Neue" pitchFamily="34" charset="-122"/>
                <a:cs typeface="Helvetica Neue" pitchFamily="34" charset="-120"/>
              </a:rPr>
              <a:t>OPEN WEIGHTS ARE SUPPLY. RUNTIMES TURN THEM INTO A PRODUCT.</a:t>
            </a:r>
            <a:endParaRPr lang="en-US" sz="15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7.xml><?xml version="1.0" encoding="utf-8"?>
<p:sld xmlns:a="http://schemas.openxmlformats.org/drawingml/2006/main" xmlns:p="http://schemas.openxmlformats.org/presentationml/2006/main" xmlns:p14="http://schemas.microsoft.com/office/powerpoint/2010/main">
  <p:cSld name="Slide 7">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The runtime turns weights into a product</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07</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38912" y="1444752"/>
            <a:ext cx="2487168" cy="3566160"/>
          </a:xfrm>
          <a:prstGeom prst="roundRect">
            <a:avLst>
              <a:gd name="adj" fmla="val 2574"/>
            </a:avLst>
          </a:prstGeom>
          <a:solidFill>
            <a:srgbClr val="14151F"/>
          </a:solidFill>
          <a:ln w="12700">
            <a:solidFill>
              <a:srgbClr val="2A2B38"/>
            </a:solidFill>
            <a:prstDash val="solid"/>
          </a:ln>
        </p:spPr>
      </p:sp>
      <p:sp>
        <p:nvSpPr>
          <p:cNvPr id="7" name="Text 5"/>
          <p:cNvSpPr txBox="1"/>
          <p:nvPr/>
        </p:nvSpPr>
        <p:spPr>
          <a:xfrm>
            <a:off x="640080" y="1700784"/>
            <a:ext cx="475488"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BCA7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2231136"/>
            <a:ext cx="2066544" cy="43891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LOAD</a:t>
            </a:r>
            <a:endParaRPr lang="en-US" sz="2000" dirty="0"/>
          </a:p>
        </p:txBody>
      </p:sp>
      <p:sp>
        <p:nvSpPr>
          <p:cNvPr id="9" name="Shape 7"/>
          <p:cNvSpPr/>
          <p:nvPr/>
        </p:nvSpPr>
        <p:spPr>
          <a:xfrm>
            <a:off x="640080" y="2889504"/>
            <a:ext cx="2048256" cy="0"/>
          </a:xfrm>
          <a:prstGeom prst="line">
            <a:avLst/>
          </a:prstGeom>
          <a:noFill/>
          <a:ln w="25400">
            <a:solidFill>
              <a:srgbClr val="BCA7FF"/>
            </a:solidFill>
            <a:prstDash val="solid"/>
          </a:ln>
        </p:spPr>
      </p:sp>
      <p:sp>
        <p:nvSpPr>
          <p:cNvPr id="10" name="Text 8"/>
          <p:cNvSpPr txBox="1"/>
          <p:nvPr/>
        </p:nvSpPr>
        <p:spPr>
          <a:xfrm>
            <a:off x="640080" y="3236976"/>
            <a:ext cx="2048256" cy="768096"/>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Read model files</a:t>
            </a:r>
            <a:endParaRPr lang="en-US" sz="1600" dirty="0"/>
          </a:p>
        </p:txBody>
      </p:sp>
      <p:sp>
        <p:nvSpPr>
          <p:cNvPr id="11" name="Text 9"/>
          <p:cNvSpPr txBox="1"/>
          <p:nvPr/>
        </p:nvSpPr>
        <p:spPr>
          <a:xfrm>
            <a:off x="2926080" y="2852928"/>
            <a:ext cx="329184"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A8A7B3"/>
                </a:solidFill>
                <a:latin typeface="Helvetica Neue" pitchFamily="34" charset="0"/>
                <a:ea typeface="Helvetica Neue" pitchFamily="34" charset="-122"/>
                <a:cs typeface="Helvetica Neue" pitchFamily="34" charset="-120"/>
              </a:rPr>
              <a:t>→</a:t>
            </a:r>
            <a:endParaRPr lang="en-US" sz="2200" dirty="0"/>
          </a:p>
        </p:txBody>
      </p:sp>
      <p:sp>
        <p:nvSpPr>
          <p:cNvPr id="12" name="Shape 10"/>
          <p:cNvSpPr/>
          <p:nvPr/>
        </p:nvSpPr>
        <p:spPr>
          <a:xfrm>
            <a:off x="3255264" y="1444752"/>
            <a:ext cx="2487168" cy="3566160"/>
          </a:xfrm>
          <a:prstGeom prst="roundRect">
            <a:avLst>
              <a:gd name="adj" fmla="val 2574"/>
            </a:avLst>
          </a:prstGeom>
          <a:solidFill>
            <a:srgbClr val="14151F"/>
          </a:solidFill>
          <a:ln w="12700">
            <a:solidFill>
              <a:srgbClr val="2A2B38"/>
            </a:solidFill>
            <a:prstDash val="solid"/>
          </a:ln>
        </p:spPr>
      </p:sp>
      <p:sp>
        <p:nvSpPr>
          <p:cNvPr id="13" name="Text 11"/>
          <p:cNvSpPr txBox="1"/>
          <p:nvPr/>
        </p:nvSpPr>
        <p:spPr>
          <a:xfrm>
            <a:off x="3456432" y="1700784"/>
            <a:ext cx="475488"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02</a:t>
            </a:r>
            <a:endParaRPr lang="en-US" sz="1300" dirty="0"/>
          </a:p>
        </p:txBody>
      </p:sp>
      <p:sp>
        <p:nvSpPr>
          <p:cNvPr id="14" name="Text 12"/>
          <p:cNvSpPr txBox="1"/>
          <p:nvPr/>
        </p:nvSpPr>
        <p:spPr>
          <a:xfrm>
            <a:off x="3456432" y="2231136"/>
            <a:ext cx="2066544" cy="43891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COMPRESS</a:t>
            </a:r>
            <a:endParaRPr lang="en-US" sz="2000" dirty="0"/>
          </a:p>
        </p:txBody>
      </p:sp>
      <p:sp>
        <p:nvSpPr>
          <p:cNvPr id="15" name="Shape 13"/>
          <p:cNvSpPr/>
          <p:nvPr/>
        </p:nvSpPr>
        <p:spPr>
          <a:xfrm>
            <a:off x="3456432" y="2889504"/>
            <a:ext cx="2048256" cy="0"/>
          </a:xfrm>
          <a:prstGeom prst="line">
            <a:avLst/>
          </a:prstGeom>
          <a:noFill/>
          <a:ln w="25400">
            <a:solidFill>
              <a:srgbClr val="4777FF"/>
            </a:solidFill>
            <a:prstDash val="solid"/>
          </a:ln>
        </p:spPr>
      </p:sp>
      <p:sp>
        <p:nvSpPr>
          <p:cNvPr id="16" name="Text 14"/>
          <p:cNvSpPr txBox="1"/>
          <p:nvPr/>
        </p:nvSpPr>
        <p:spPr>
          <a:xfrm>
            <a:off x="3456432" y="3236976"/>
            <a:ext cx="2048256" cy="768096"/>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Choose precision</a:t>
            </a:r>
            <a:endParaRPr lang="en-US" sz="1600" dirty="0"/>
          </a:p>
        </p:txBody>
      </p:sp>
      <p:sp>
        <p:nvSpPr>
          <p:cNvPr id="17" name="Text 15"/>
          <p:cNvSpPr txBox="1"/>
          <p:nvPr/>
        </p:nvSpPr>
        <p:spPr>
          <a:xfrm>
            <a:off x="5742432" y="2852928"/>
            <a:ext cx="329184"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A8A7B3"/>
                </a:solidFill>
                <a:latin typeface="Helvetica Neue" pitchFamily="34" charset="0"/>
                <a:ea typeface="Helvetica Neue" pitchFamily="34" charset="-122"/>
                <a:cs typeface="Helvetica Neue" pitchFamily="34" charset="-120"/>
              </a:rPr>
              <a:t>→</a:t>
            </a:r>
            <a:endParaRPr lang="en-US" sz="2200" dirty="0"/>
          </a:p>
        </p:txBody>
      </p:sp>
      <p:sp>
        <p:nvSpPr>
          <p:cNvPr id="18" name="Shape 16"/>
          <p:cNvSpPr/>
          <p:nvPr/>
        </p:nvSpPr>
        <p:spPr>
          <a:xfrm>
            <a:off x="6071616" y="1444752"/>
            <a:ext cx="2487168" cy="3566160"/>
          </a:xfrm>
          <a:prstGeom prst="roundRect">
            <a:avLst>
              <a:gd name="adj" fmla="val 2574"/>
            </a:avLst>
          </a:prstGeom>
          <a:solidFill>
            <a:srgbClr val="14151F"/>
          </a:solidFill>
          <a:ln w="12700">
            <a:solidFill>
              <a:srgbClr val="2A2B38"/>
            </a:solidFill>
            <a:prstDash val="solid"/>
          </a:ln>
        </p:spPr>
      </p:sp>
      <p:sp>
        <p:nvSpPr>
          <p:cNvPr id="19" name="Text 17"/>
          <p:cNvSpPr txBox="1"/>
          <p:nvPr/>
        </p:nvSpPr>
        <p:spPr>
          <a:xfrm>
            <a:off x="6272784" y="1700784"/>
            <a:ext cx="475488"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03</a:t>
            </a:r>
            <a:endParaRPr lang="en-US" sz="1300" dirty="0"/>
          </a:p>
        </p:txBody>
      </p:sp>
      <p:sp>
        <p:nvSpPr>
          <p:cNvPr id="20" name="Text 18"/>
          <p:cNvSpPr txBox="1"/>
          <p:nvPr/>
        </p:nvSpPr>
        <p:spPr>
          <a:xfrm>
            <a:off x="6272784" y="2231136"/>
            <a:ext cx="2066544" cy="43891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ACCELERATE</a:t>
            </a:r>
            <a:endParaRPr lang="en-US" sz="2000" dirty="0"/>
          </a:p>
        </p:txBody>
      </p:sp>
      <p:sp>
        <p:nvSpPr>
          <p:cNvPr id="21" name="Shape 19"/>
          <p:cNvSpPr/>
          <p:nvPr/>
        </p:nvSpPr>
        <p:spPr>
          <a:xfrm>
            <a:off x="6272784" y="2889504"/>
            <a:ext cx="2048256" cy="0"/>
          </a:xfrm>
          <a:prstGeom prst="line">
            <a:avLst/>
          </a:prstGeom>
          <a:noFill/>
          <a:ln w="25400">
            <a:solidFill>
              <a:srgbClr val="D88752"/>
            </a:solidFill>
            <a:prstDash val="solid"/>
          </a:ln>
        </p:spPr>
      </p:sp>
      <p:sp>
        <p:nvSpPr>
          <p:cNvPr id="22" name="Text 20"/>
          <p:cNvSpPr txBox="1"/>
          <p:nvPr/>
        </p:nvSpPr>
        <p:spPr>
          <a:xfrm>
            <a:off x="6272784" y="3236976"/>
            <a:ext cx="2048256" cy="768096"/>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Use CPU / GPU / NPU</a:t>
            </a:r>
            <a:endParaRPr lang="en-US" sz="1600" dirty="0"/>
          </a:p>
        </p:txBody>
      </p:sp>
      <p:sp>
        <p:nvSpPr>
          <p:cNvPr id="23" name="Text 21"/>
          <p:cNvSpPr txBox="1"/>
          <p:nvPr/>
        </p:nvSpPr>
        <p:spPr>
          <a:xfrm>
            <a:off x="8558784" y="2852928"/>
            <a:ext cx="329184" cy="384048"/>
          </a:xfrm>
          <a:prstGeom prst="rect">
            <a:avLst/>
          </a:prstGeom>
          <a:noFill/>
          <a:ln/>
        </p:spPr>
        <p:txBody>
          <a:bodyPr wrap="square" lIns="0" tIns="0" rIns="0" bIns="0" rtlCol="0" anchor="ctr">
            <a:normAutofit/>
          </a:bodyPr>
          <a:lstStyle/>
          <a:p>
            <a:pPr algn="ctr" indent="0" marL="0">
              <a:lnSpc>
                <a:spcPct val="100000"/>
              </a:lnSpc>
              <a:buNone/>
            </a:pPr>
            <a:r>
              <a:rPr lang="en-US" sz="2200" b="1" dirty="0">
                <a:solidFill>
                  <a:srgbClr val="A8A7B3"/>
                </a:solidFill>
                <a:latin typeface="Helvetica Neue" pitchFamily="34" charset="0"/>
                <a:ea typeface="Helvetica Neue" pitchFamily="34" charset="-122"/>
                <a:cs typeface="Helvetica Neue" pitchFamily="34" charset="-120"/>
              </a:rPr>
              <a:t>→</a:t>
            </a:r>
            <a:endParaRPr lang="en-US" sz="2200" dirty="0"/>
          </a:p>
        </p:txBody>
      </p:sp>
      <p:sp>
        <p:nvSpPr>
          <p:cNvPr id="24" name="Shape 22"/>
          <p:cNvSpPr/>
          <p:nvPr/>
        </p:nvSpPr>
        <p:spPr>
          <a:xfrm>
            <a:off x="8887968" y="1444752"/>
            <a:ext cx="2487168" cy="3566160"/>
          </a:xfrm>
          <a:prstGeom prst="roundRect">
            <a:avLst>
              <a:gd name="adj" fmla="val 2574"/>
            </a:avLst>
          </a:prstGeom>
          <a:solidFill>
            <a:srgbClr val="14151F"/>
          </a:solidFill>
          <a:ln w="12700">
            <a:solidFill>
              <a:srgbClr val="2A2B38"/>
            </a:solidFill>
            <a:prstDash val="solid"/>
          </a:ln>
        </p:spPr>
      </p:sp>
      <p:sp>
        <p:nvSpPr>
          <p:cNvPr id="25" name="Text 23"/>
          <p:cNvSpPr txBox="1"/>
          <p:nvPr/>
        </p:nvSpPr>
        <p:spPr>
          <a:xfrm>
            <a:off x="9089136" y="1700784"/>
            <a:ext cx="475488"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64C9A4"/>
                </a:solidFill>
                <a:latin typeface="Helvetica Neue" pitchFamily="34" charset="0"/>
                <a:ea typeface="Helvetica Neue" pitchFamily="34" charset="-122"/>
                <a:cs typeface="Helvetica Neue" pitchFamily="34" charset="-120"/>
              </a:rPr>
              <a:t>04</a:t>
            </a:r>
            <a:endParaRPr lang="en-US" sz="1300" dirty="0"/>
          </a:p>
        </p:txBody>
      </p:sp>
      <p:sp>
        <p:nvSpPr>
          <p:cNvPr id="26" name="Text 24"/>
          <p:cNvSpPr txBox="1"/>
          <p:nvPr/>
        </p:nvSpPr>
        <p:spPr>
          <a:xfrm>
            <a:off x="9089136" y="2231136"/>
            <a:ext cx="2066544" cy="438912"/>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SERVE</a:t>
            </a:r>
            <a:endParaRPr lang="en-US" sz="2000" dirty="0"/>
          </a:p>
        </p:txBody>
      </p:sp>
      <p:sp>
        <p:nvSpPr>
          <p:cNvPr id="27" name="Shape 25"/>
          <p:cNvSpPr/>
          <p:nvPr/>
        </p:nvSpPr>
        <p:spPr>
          <a:xfrm>
            <a:off x="9089136" y="2889504"/>
            <a:ext cx="2048256" cy="0"/>
          </a:xfrm>
          <a:prstGeom prst="line">
            <a:avLst/>
          </a:prstGeom>
          <a:noFill/>
          <a:ln w="25400">
            <a:solidFill>
              <a:srgbClr val="64C9A4"/>
            </a:solidFill>
            <a:prstDash val="solid"/>
          </a:ln>
        </p:spPr>
      </p:sp>
      <p:sp>
        <p:nvSpPr>
          <p:cNvPr id="28" name="Text 26"/>
          <p:cNvSpPr txBox="1"/>
          <p:nvPr/>
        </p:nvSpPr>
        <p:spPr>
          <a:xfrm>
            <a:off x="9089136" y="3236976"/>
            <a:ext cx="2048256" cy="768096"/>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Expose an app interface</a:t>
            </a:r>
            <a:endParaRPr lang="en-US" sz="1600" dirty="0"/>
          </a:p>
        </p:txBody>
      </p:sp>
      <p:sp>
        <p:nvSpPr>
          <p:cNvPr id="29" name="Shape 27"/>
          <p:cNvSpPr/>
          <p:nvPr/>
        </p:nvSpPr>
        <p:spPr>
          <a:xfrm>
            <a:off x="1993392" y="5376672"/>
            <a:ext cx="8211312" cy="621792"/>
          </a:xfrm>
          <a:prstGeom prst="roundRect">
            <a:avLst>
              <a:gd name="adj" fmla="val 8824"/>
            </a:avLst>
          </a:prstGeom>
          <a:solidFill>
            <a:srgbClr val="8E63FF"/>
          </a:solidFill>
          <a:ln w="12700">
            <a:solidFill>
              <a:srgbClr val="8E63FF"/>
            </a:solidFill>
            <a:prstDash val="solid"/>
          </a:ln>
        </p:spPr>
      </p:sp>
      <p:sp>
        <p:nvSpPr>
          <p:cNvPr id="30" name="Text 28"/>
          <p:cNvSpPr txBox="1"/>
          <p:nvPr/>
        </p:nvSpPr>
        <p:spPr>
          <a:xfrm>
            <a:off x="2267712" y="5513832"/>
            <a:ext cx="7662672" cy="310896"/>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OLLAMA · LLAMA.CPP · MLX</a:t>
            </a:r>
            <a:endParaRPr lang="en-US" sz="1900" dirty="0"/>
          </a:p>
        </p:txBody>
      </p:sp>
      <p:sp>
        <p:nvSpPr>
          <p:cNvPr id="31" name="Text 2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The same weights can feel very different in a different runtime.</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36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indefinite"/>
                      </p:stCondLst>
                      <p:childTnLst>
                        <p:par>
                          <p:cTn id="64" presetID="10"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2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5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7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0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3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56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182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08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34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60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286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par>
                    <p:cTn id="111" fill="hold">
                      <p:stCondLst>
                        <p:cond delay="3120"/>
                      </p:stCondLst>
                      <p:childTnLst>
                        <p:par>
                          <p:cTn id="112" presetID="10" presetClass="entr" presetSubtype="0"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220"/>
                                  <p:tgtEl>
                                    <p:spTgt spid="29"/>
                                  </p:tgtEl>
                                </p:cBhvr>
                              </p:animEffect>
                            </p:childTnLst>
                          </p:cTn>
                        </p:par>
                      </p:childTnLst>
                    </p:cTn>
                  </p:par>
                  <p:par>
                    <p:cTn id="115" fill="hold">
                      <p:stCondLst>
                        <p:cond delay="3380"/>
                      </p:stCondLst>
                      <p:childTnLst>
                        <p:par>
                          <p:cTn id="116" presetID="10" presetClass="entr" presetSubtype="0" fill="hold" nodeType="after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220"/>
                                  <p:tgtEl>
                                    <p:spTgt spid="30"/>
                                  </p:tgtEl>
                                </p:cBhvr>
                              </p:animEffect>
                            </p:childTnLst>
                          </p:cTn>
                        </p:par>
                      </p:childTnLst>
                    </p:cTn>
                  </p:par>
                  <p:par>
                    <p:cTn id="119" fill="hold">
                      <p:stCondLst>
                        <p:cond delay="3640"/>
                      </p:stCondLst>
                      <p:childTnLst>
                        <p:par>
                          <p:cTn id="120" presetID="10" presetClass="entr" presetSubtype="0" fill="hold" nodeType="after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220"/>
                                  <p:tgtEl>
                                    <p:spTgt spid="3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8.xml><?xml version="1.0" encoding="utf-8"?>
<p:sld xmlns:a="http://schemas.openxmlformats.org/drawingml/2006/main" xmlns:p="http://schemas.openxmlformats.org/presentationml/2006/main" xmlns:p14="http://schemas.microsoft.com/office/powerpoint/2010/main">
  <p:cSld name="Slide 8">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The first reality check: memory</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08</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Text 4"/>
          <p:cNvSpPr txBox="1"/>
          <p:nvPr/>
        </p:nvSpPr>
        <p:spPr>
          <a:xfrm>
            <a:off x="457200" y="1353312"/>
            <a:ext cx="5852160" cy="256032"/>
          </a:xfrm>
          <a:prstGeom prst="rect">
            <a:avLst/>
          </a:prstGeom>
          <a:noFill/>
          <a:ln/>
        </p:spPr>
        <p:txBody>
          <a:bodyPr wrap="square" lIns="0" tIns="0" rIns="0" bIns="0" rtlCol="0" anchor="ctr">
            <a:normAutofit/>
          </a:bodyPr>
          <a:lstStyle/>
          <a:p>
            <a:pPr algn="l" indent="0" marL="0">
              <a:lnSpc>
                <a:spcPct val="100000"/>
              </a:lnSpc>
              <a:buNone/>
            </a:pPr>
            <a:r>
              <a:rPr lang="en-US" sz="1100" b="1" spc="100" kern="0" dirty="0">
                <a:solidFill>
                  <a:srgbClr val="BCA7FF"/>
                </a:solidFill>
                <a:latin typeface="Helvetica Neue" pitchFamily="34" charset="0"/>
                <a:ea typeface="Helvetica Neue" pitchFamily="34" charset="-122"/>
                <a:cs typeface="Helvetica Neue" pitchFamily="34" charset="-120"/>
              </a:rPr>
              <a:t>4-BIT WEIGHTS — APPROXIMATE BASE FOOTPRINT</a:t>
            </a:r>
            <a:endParaRPr lang="en-US" sz="1100" dirty="0"/>
          </a:p>
        </p:txBody>
      </p:sp>
      <p:sp>
        <p:nvSpPr>
          <p:cNvPr id="7" name="Text 5"/>
          <p:cNvSpPr txBox="1"/>
          <p:nvPr/>
        </p:nvSpPr>
        <p:spPr>
          <a:xfrm>
            <a:off x="475488" y="1847088"/>
            <a:ext cx="713232" cy="4114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FFFFFF"/>
                </a:solidFill>
                <a:latin typeface="Helvetica Neue" pitchFamily="34" charset="0"/>
                <a:ea typeface="Helvetica Neue" pitchFamily="34" charset="-122"/>
                <a:cs typeface="Helvetica Neue" pitchFamily="34" charset="-120"/>
              </a:rPr>
              <a:t>8B</a:t>
            </a:r>
            <a:endParaRPr lang="en-US" sz="2200" dirty="0"/>
          </a:p>
        </p:txBody>
      </p:sp>
      <p:sp>
        <p:nvSpPr>
          <p:cNvPr id="8" name="Shape 6"/>
          <p:cNvSpPr/>
          <p:nvPr/>
        </p:nvSpPr>
        <p:spPr>
          <a:xfrm>
            <a:off x="1371600" y="1883664"/>
            <a:ext cx="1554480" cy="438912"/>
          </a:xfrm>
          <a:prstGeom prst="roundRect">
            <a:avLst>
              <a:gd name="adj" fmla="val 8333"/>
            </a:avLst>
          </a:prstGeom>
          <a:solidFill>
            <a:srgbClr val="4777FF"/>
          </a:solidFill>
          <a:ln w="12700">
            <a:solidFill>
              <a:srgbClr val="4777FF"/>
            </a:solidFill>
            <a:prstDash val="solid"/>
          </a:ln>
        </p:spPr>
      </p:sp>
      <p:sp>
        <p:nvSpPr>
          <p:cNvPr id="9" name="Text 7"/>
          <p:cNvSpPr txBox="1"/>
          <p:nvPr/>
        </p:nvSpPr>
        <p:spPr>
          <a:xfrm>
            <a:off x="3072384" y="1847088"/>
            <a:ext cx="1078992" cy="438912"/>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4777FF"/>
                </a:solidFill>
                <a:latin typeface="Helvetica Neue" pitchFamily="34" charset="0"/>
                <a:ea typeface="Helvetica Neue" pitchFamily="34" charset="-122"/>
                <a:cs typeface="Helvetica Neue" pitchFamily="34" charset="-120"/>
              </a:rPr>
              <a:t>~4 GB</a:t>
            </a:r>
            <a:endParaRPr lang="en-US" sz="1800" dirty="0"/>
          </a:p>
        </p:txBody>
      </p:sp>
      <p:sp>
        <p:nvSpPr>
          <p:cNvPr id="10" name="Text 8"/>
          <p:cNvSpPr txBox="1"/>
          <p:nvPr/>
        </p:nvSpPr>
        <p:spPr>
          <a:xfrm>
            <a:off x="475488" y="2926080"/>
            <a:ext cx="713232" cy="4114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FFFFFF"/>
                </a:solidFill>
                <a:latin typeface="Helvetica Neue" pitchFamily="34" charset="0"/>
                <a:ea typeface="Helvetica Neue" pitchFamily="34" charset="-122"/>
                <a:cs typeface="Helvetica Neue" pitchFamily="34" charset="-120"/>
              </a:rPr>
              <a:t>32B</a:t>
            </a:r>
            <a:endParaRPr lang="en-US" sz="2200" dirty="0"/>
          </a:p>
        </p:txBody>
      </p:sp>
      <p:sp>
        <p:nvSpPr>
          <p:cNvPr id="11" name="Shape 9"/>
          <p:cNvSpPr/>
          <p:nvPr/>
        </p:nvSpPr>
        <p:spPr>
          <a:xfrm>
            <a:off x="1371600" y="2962656"/>
            <a:ext cx="4023360" cy="438912"/>
          </a:xfrm>
          <a:prstGeom prst="roundRect">
            <a:avLst>
              <a:gd name="adj" fmla="val 8333"/>
            </a:avLst>
          </a:prstGeom>
          <a:solidFill>
            <a:srgbClr val="8E63FF"/>
          </a:solidFill>
          <a:ln w="12700">
            <a:solidFill>
              <a:srgbClr val="8E63FF"/>
            </a:solidFill>
            <a:prstDash val="solid"/>
          </a:ln>
        </p:spPr>
      </p:sp>
      <p:sp>
        <p:nvSpPr>
          <p:cNvPr id="12" name="Text 10"/>
          <p:cNvSpPr txBox="1"/>
          <p:nvPr/>
        </p:nvSpPr>
        <p:spPr>
          <a:xfrm>
            <a:off x="5541264" y="2926080"/>
            <a:ext cx="1078992" cy="438912"/>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8E63FF"/>
                </a:solidFill>
                <a:latin typeface="Helvetica Neue" pitchFamily="34" charset="0"/>
                <a:ea typeface="Helvetica Neue" pitchFamily="34" charset="-122"/>
                <a:cs typeface="Helvetica Neue" pitchFamily="34" charset="-120"/>
              </a:rPr>
              <a:t>~16 GB</a:t>
            </a:r>
            <a:endParaRPr lang="en-US" sz="1800" dirty="0"/>
          </a:p>
        </p:txBody>
      </p:sp>
      <p:sp>
        <p:nvSpPr>
          <p:cNvPr id="13" name="Text 11"/>
          <p:cNvSpPr txBox="1"/>
          <p:nvPr/>
        </p:nvSpPr>
        <p:spPr>
          <a:xfrm>
            <a:off x="475488" y="4005072"/>
            <a:ext cx="713232" cy="4114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FFFFFF"/>
                </a:solidFill>
                <a:latin typeface="Helvetica Neue" pitchFamily="34" charset="0"/>
                <a:ea typeface="Helvetica Neue" pitchFamily="34" charset="-122"/>
                <a:cs typeface="Helvetica Neue" pitchFamily="34" charset="-120"/>
              </a:rPr>
              <a:t>70B</a:t>
            </a:r>
            <a:endParaRPr lang="en-US" sz="2200" dirty="0"/>
          </a:p>
        </p:txBody>
      </p:sp>
      <p:sp>
        <p:nvSpPr>
          <p:cNvPr id="14" name="Shape 12"/>
          <p:cNvSpPr/>
          <p:nvPr/>
        </p:nvSpPr>
        <p:spPr>
          <a:xfrm>
            <a:off x="1371600" y="4041648"/>
            <a:ext cx="6675120" cy="438912"/>
          </a:xfrm>
          <a:prstGeom prst="roundRect">
            <a:avLst>
              <a:gd name="adj" fmla="val 8333"/>
            </a:avLst>
          </a:prstGeom>
          <a:solidFill>
            <a:srgbClr val="D88752"/>
          </a:solidFill>
          <a:ln w="12700">
            <a:solidFill>
              <a:srgbClr val="D88752"/>
            </a:solidFill>
            <a:prstDash val="solid"/>
          </a:ln>
        </p:spPr>
      </p:sp>
      <p:sp>
        <p:nvSpPr>
          <p:cNvPr id="15" name="Text 13"/>
          <p:cNvSpPr txBox="1"/>
          <p:nvPr/>
        </p:nvSpPr>
        <p:spPr>
          <a:xfrm>
            <a:off x="8193024" y="4005072"/>
            <a:ext cx="1078992" cy="438912"/>
          </a:xfrm>
          <a:prstGeom prst="rect">
            <a:avLst/>
          </a:prstGeom>
          <a:noFill/>
          <a:ln/>
        </p:spPr>
        <p:txBody>
          <a:bodyPr wrap="square" lIns="0" tIns="0" rIns="0" bIns="0" rtlCol="0" anchor="ctr">
            <a:normAutofit/>
          </a:bodyPr>
          <a:lstStyle/>
          <a:p>
            <a:pPr algn="l" indent="0" marL="0">
              <a:lnSpc>
                <a:spcPct val="100000"/>
              </a:lnSpc>
              <a:buNone/>
            </a:pPr>
            <a:r>
              <a:rPr lang="en-US" sz="1800" b="1" dirty="0">
                <a:solidFill>
                  <a:srgbClr val="D88752"/>
                </a:solidFill>
                <a:latin typeface="Helvetica Neue" pitchFamily="34" charset="0"/>
                <a:ea typeface="Helvetica Neue" pitchFamily="34" charset="-122"/>
                <a:cs typeface="Helvetica Neue" pitchFamily="34" charset="-120"/>
              </a:rPr>
              <a:t>~35 GB</a:t>
            </a:r>
            <a:endParaRPr lang="en-US" sz="1800" dirty="0"/>
          </a:p>
        </p:txBody>
      </p:sp>
      <p:sp>
        <p:nvSpPr>
          <p:cNvPr id="16" name="Shape 14"/>
          <p:cNvSpPr/>
          <p:nvPr/>
        </p:nvSpPr>
        <p:spPr>
          <a:xfrm>
            <a:off x="9125712" y="1335024"/>
            <a:ext cx="2596896" cy="4443984"/>
          </a:xfrm>
          <a:prstGeom prst="roundRect">
            <a:avLst>
              <a:gd name="adj" fmla="val 2817"/>
            </a:avLst>
          </a:prstGeom>
          <a:solidFill>
            <a:srgbClr val="14151F"/>
          </a:solidFill>
          <a:ln w="12700">
            <a:solidFill>
              <a:srgbClr val="2A2B38"/>
            </a:solidFill>
            <a:prstDash val="solid"/>
          </a:ln>
        </p:spPr>
      </p:sp>
      <p:sp>
        <p:nvSpPr>
          <p:cNvPr id="17" name="Text 15"/>
          <p:cNvSpPr txBox="1"/>
          <p:nvPr/>
        </p:nvSpPr>
        <p:spPr>
          <a:xfrm>
            <a:off x="9372600" y="1627632"/>
            <a:ext cx="11887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64C9A4"/>
                </a:solidFill>
                <a:latin typeface="Helvetica Neue" pitchFamily="34" charset="0"/>
                <a:ea typeface="Helvetica Neue" pitchFamily="34" charset="-122"/>
                <a:cs typeface="Helvetica Neue" pitchFamily="34" charset="-120"/>
              </a:rPr>
              <a:t>FORMULA</a:t>
            </a:r>
            <a:endParaRPr lang="en-US" sz="1050" dirty="0"/>
          </a:p>
        </p:txBody>
      </p:sp>
      <p:sp>
        <p:nvSpPr>
          <p:cNvPr id="18" name="Text 16"/>
          <p:cNvSpPr txBox="1"/>
          <p:nvPr/>
        </p:nvSpPr>
        <p:spPr>
          <a:xfrm>
            <a:off x="9372600" y="2084832"/>
            <a:ext cx="2084832" cy="1499616"/>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PARAMS</a:t>
            </a:r>
            <a:endParaRPr lang="en-US" sz="2700" dirty="0"/>
          </a:p>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 BITS</a:t>
            </a:r>
            <a:endParaRPr lang="en-US" sz="2700" dirty="0"/>
          </a:p>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 8</a:t>
            </a:r>
            <a:endParaRPr lang="en-US" sz="2700" dirty="0"/>
          </a:p>
        </p:txBody>
      </p:sp>
      <p:sp>
        <p:nvSpPr>
          <p:cNvPr id="19" name="Shape 17"/>
          <p:cNvSpPr/>
          <p:nvPr/>
        </p:nvSpPr>
        <p:spPr>
          <a:xfrm>
            <a:off x="9372600" y="3877056"/>
            <a:ext cx="2048256" cy="0"/>
          </a:xfrm>
          <a:prstGeom prst="line">
            <a:avLst/>
          </a:prstGeom>
          <a:noFill/>
          <a:ln w="12700">
            <a:solidFill>
              <a:srgbClr val="2A2B38"/>
            </a:solidFill>
            <a:prstDash val="solid"/>
          </a:ln>
        </p:spPr>
      </p:sp>
      <p:sp>
        <p:nvSpPr>
          <p:cNvPr id="20" name="Text 18"/>
          <p:cNvSpPr txBox="1"/>
          <p:nvPr/>
        </p:nvSpPr>
        <p:spPr>
          <a:xfrm>
            <a:off x="9372600" y="4114800"/>
            <a:ext cx="2048256" cy="1097280"/>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A8A7B3"/>
                </a:solidFill>
                <a:latin typeface="Helvetica Neue" pitchFamily="34" charset="0"/>
                <a:ea typeface="Helvetica Neue" pitchFamily="34" charset="-122"/>
                <a:cs typeface="Helvetica Neue" pitchFamily="34" charset="-120"/>
              </a:rPr>
              <a:t>+ runtime</a:t>
            </a:r>
            <a:endParaRPr lang="en-US" sz="1450" dirty="0"/>
          </a:p>
          <a:p>
            <a:pPr algn="l" indent="0" marL="0">
              <a:lnSpc>
                <a:spcPct val="100000"/>
              </a:lnSpc>
              <a:buNone/>
            </a:pPr>
            <a:r>
              <a:rPr lang="en-US" sz="1450" dirty="0">
                <a:solidFill>
                  <a:srgbClr val="A8A7B3"/>
                </a:solidFill>
                <a:latin typeface="Helvetica Neue" pitchFamily="34" charset="0"/>
                <a:ea typeface="Helvetica Neue" pitchFamily="34" charset="-122"/>
                <a:cs typeface="Helvetica Neue" pitchFamily="34" charset="-120"/>
              </a:rPr>
              <a:t>+ context cache</a:t>
            </a:r>
            <a:endParaRPr lang="en-US" sz="1450" dirty="0"/>
          </a:p>
          <a:p>
            <a:pPr algn="l" indent="0" marL="0">
              <a:lnSpc>
                <a:spcPct val="100000"/>
              </a:lnSpc>
              <a:buNone/>
            </a:pPr>
            <a:r>
              <a:rPr lang="en-US" sz="1450" dirty="0">
                <a:solidFill>
                  <a:srgbClr val="A8A7B3"/>
                </a:solidFill>
                <a:latin typeface="Helvetica Neue" pitchFamily="34" charset="0"/>
                <a:ea typeface="Helvetica Neue" pitchFamily="34" charset="-122"/>
                <a:cs typeface="Helvetica Neue" pitchFamily="34" charset="-120"/>
              </a:rPr>
              <a:t>+ operating system</a:t>
            </a:r>
            <a:endParaRPr lang="en-US" sz="1450" dirty="0"/>
          </a:p>
        </p:txBody>
      </p:sp>
      <p:sp>
        <p:nvSpPr>
          <p:cNvPr id="21" name="Text 1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A 16 GB machine does not have 16 GB available to the model.</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9.xml><?xml version="1.0" encoding="utf-8"?>
<p:sld xmlns:a="http://schemas.openxmlformats.org/drawingml/2006/main" xmlns:p="http://schemas.openxmlformats.org/presentationml/2006/main" xmlns:p14="http://schemas.microsoft.com/office/powerpoint/2010/main">
  <p:cSld name="Slide 9">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Quantization is the local-AI bargain</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09</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89888"/>
            <a:ext cx="3657600" cy="4352544"/>
          </a:xfrm>
          <a:prstGeom prst="roundRect">
            <a:avLst>
              <a:gd name="adj" fmla="val 2000"/>
            </a:avLst>
          </a:prstGeom>
          <a:solidFill>
            <a:srgbClr val="090A10"/>
          </a:solidFill>
          <a:ln w="12700">
            <a:solidFill>
              <a:srgbClr val="090A10"/>
            </a:solidFill>
            <a:prstDash val="solid"/>
          </a:ln>
        </p:spPr>
      </p:sp>
      <p:sp>
        <p:nvSpPr>
          <p:cNvPr id="7" name="Text 5"/>
          <p:cNvSpPr txBox="1"/>
          <p:nvPr/>
        </p:nvSpPr>
        <p:spPr>
          <a:xfrm>
            <a:off x="731520" y="1719072"/>
            <a:ext cx="219456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FULLER PRECISION</a:t>
            </a:r>
            <a:endParaRPr lang="en-US" sz="1050" dirty="0"/>
          </a:p>
        </p:txBody>
      </p:sp>
      <p:sp>
        <p:nvSpPr>
          <p:cNvPr id="8" name="Text 6"/>
          <p:cNvSpPr txBox="1"/>
          <p:nvPr/>
        </p:nvSpPr>
        <p:spPr>
          <a:xfrm>
            <a:off x="731520" y="2304288"/>
            <a:ext cx="3035808" cy="566928"/>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FFFFFF"/>
                </a:solidFill>
                <a:latin typeface="Helvetica Neue" pitchFamily="34" charset="0"/>
                <a:ea typeface="Helvetica Neue" pitchFamily="34" charset="-122"/>
                <a:cs typeface="Helvetica Neue" pitchFamily="34" charset="-120"/>
              </a:rPr>
              <a:t>MORE BITS</a:t>
            </a:r>
            <a:endParaRPr lang="en-US" sz="3100" dirty="0"/>
          </a:p>
        </p:txBody>
      </p:sp>
      <p:sp>
        <p:nvSpPr>
          <p:cNvPr id="9" name="Text 7"/>
          <p:cNvSpPr txBox="1"/>
          <p:nvPr/>
        </p:nvSpPr>
        <p:spPr>
          <a:xfrm>
            <a:off x="731520" y="3163824"/>
            <a:ext cx="2852928" cy="84124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larger memory footprint</a:t>
            </a:r>
            <a:endParaRPr lang="en-US" sz="1600" dirty="0"/>
          </a:p>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slower on modest hardware</a:t>
            </a:r>
            <a:endParaRPr lang="en-US" sz="1600" dirty="0"/>
          </a:p>
        </p:txBody>
      </p:sp>
      <p:sp>
        <p:nvSpPr>
          <p:cNvPr id="10" name="Text 8"/>
          <p:cNvSpPr txBox="1"/>
          <p:nvPr/>
        </p:nvSpPr>
        <p:spPr>
          <a:xfrm>
            <a:off x="731520" y="4718304"/>
            <a:ext cx="2852928" cy="45720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BCA7FF"/>
                </a:solidFill>
                <a:latin typeface="Helvetica Neue" pitchFamily="34" charset="0"/>
                <a:ea typeface="Helvetica Neue" pitchFamily="34" charset="-122"/>
                <a:cs typeface="Helvetica Neue" pitchFamily="34" charset="-120"/>
              </a:rPr>
              <a:t>16 · 8 · 6</a:t>
            </a:r>
            <a:endParaRPr lang="en-US" sz="2400" dirty="0"/>
          </a:p>
        </p:txBody>
      </p:sp>
      <p:sp>
        <p:nvSpPr>
          <p:cNvPr id="11" name="Text 9"/>
          <p:cNvSpPr txBox="1"/>
          <p:nvPr/>
        </p:nvSpPr>
        <p:spPr>
          <a:xfrm>
            <a:off x="4187952" y="3127248"/>
            <a:ext cx="566928" cy="438912"/>
          </a:xfrm>
          <a:prstGeom prst="rect">
            <a:avLst/>
          </a:prstGeom>
          <a:noFill/>
          <a:ln/>
        </p:spPr>
        <p:txBody>
          <a:bodyPr wrap="square" lIns="0" tIns="0" rIns="0" bIns="0" rtlCol="0" anchor="ctr">
            <a:normAutofit/>
          </a:bodyPr>
          <a:lstStyle/>
          <a:p>
            <a:pPr algn="ctr" indent="0" marL="0">
              <a:lnSpc>
                <a:spcPct val="100000"/>
              </a:lnSpc>
              <a:buNone/>
            </a:pPr>
            <a:r>
              <a:rPr lang="en-US" sz="3200" b="1" dirty="0">
                <a:solidFill>
                  <a:srgbClr val="D88752"/>
                </a:solidFill>
                <a:latin typeface="Helvetica Neue" pitchFamily="34" charset="0"/>
                <a:ea typeface="Helvetica Neue" pitchFamily="34" charset="-122"/>
                <a:cs typeface="Helvetica Neue" pitchFamily="34" charset="-120"/>
              </a:rPr>
              <a:t>→</a:t>
            </a:r>
            <a:endParaRPr lang="en-US" sz="3200" dirty="0"/>
          </a:p>
        </p:txBody>
      </p:sp>
      <p:sp>
        <p:nvSpPr>
          <p:cNvPr id="12" name="Shape 10"/>
          <p:cNvSpPr/>
          <p:nvPr/>
        </p:nvSpPr>
        <p:spPr>
          <a:xfrm>
            <a:off x="4828032" y="1389888"/>
            <a:ext cx="3657600" cy="4352544"/>
          </a:xfrm>
          <a:prstGeom prst="roundRect">
            <a:avLst>
              <a:gd name="adj" fmla="val 2000"/>
            </a:avLst>
          </a:prstGeom>
          <a:solidFill>
            <a:srgbClr val="ECE5FF"/>
          </a:solidFill>
          <a:ln w="12700">
            <a:solidFill>
              <a:srgbClr val="CFC2FF"/>
            </a:solidFill>
            <a:prstDash val="solid"/>
          </a:ln>
        </p:spPr>
      </p:sp>
      <p:sp>
        <p:nvSpPr>
          <p:cNvPr id="13" name="Text 11"/>
          <p:cNvSpPr txBox="1"/>
          <p:nvPr/>
        </p:nvSpPr>
        <p:spPr>
          <a:xfrm>
            <a:off x="5120640" y="1719072"/>
            <a:ext cx="16459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QUANTIZED</a:t>
            </a:r>
            <a:endParaRPr lang="en-US" sz="1050" dirty="0"/>
          </a:p>
        </p:txBody>
      </p:sp>
      <p:sp>
        <p:nvSpPr>
          <p:cNvPr id="14" name="Text 12"/>
          <p:cNvSpPr txBox="1"/>
          <p:nvPr/>
        </p:nvSpPr>
        <p:spPr>
          <a:xfrm>
            <a:off x="5120640" y="2304288"/>
            <a:ext cx="3035808" cy="566928"/>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090A10"/>
                </a:solidFill>
                <a:latin typeface="Helvetica Neue" pitchFamily="34" charset="0"/>
                <a:ea typeface="Helvetica Neue" pitchFamily="34" charset="-122"/>
                <a:cs typeface="Helvetica Neue" pitchFamily="34" charset="-120"/>
              </a:rPr>
              <a:t>FEWER BITS</a:t>
            </a:r>
            <a:endParaRPr lang="en-US" sz="3100" dirty="0"/>
          </a:p>
        </p:txBody>
      </p:sp>
      <p:sp>
        <p:nvSpPr>
          <p:cNvPr id="15" name="Text 13"/>
          <p:cNvSpPr txBox="1"/>
          <p:nvPr/>
        </p:nvSpPr>
        <p:spPr>
          <a:xfrm>
            <a:off x="5120640" y="3163824"/>
            <a:ext cx="2852928" cy="841248"/>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smaller memory footprint</a:t>
            </a:r>
            <a:endParaRPr lang="en-US" sz="1600" dirty="0"/>
          </a:p>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faster and more portable</a:t>
            </a:r>
            <a:endParaRPr lang="en-US" sz="1600" dirty="0"/>
          </a:p>
        </p:txBody>
      </p:sp>
      <p:sp>
        <p:nvSpPr>
          <p:cNvPr id="16" name="Text 14"/>
          <p:cNvSpPr txBox="1"/>
          <p:nvPr/>
        </p:nvSpPr>
        <p:spPr>
          <a:xfrm>
            <a:off x="5120640" y="4718304"/>
            <a:ext cx="2852928" cy="45720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8E63FF"/>
                </a:solidFill>
                <a:latin typeface="Helvetica Neue" pitchFamily="34" charset="0"/>
                <a:ea typeface="Helvetica Neue" pitchFamily="34" charset="-122"/>
                <a:cs typeface="Helvetica Neue" pitchFamily="34" charset="-120"/>
              </a:rPr>
              <a:t>4 · 3 · 2</a:t>
            </a:r>
            <a:endParaRPr lang="en-US" sz="2400" dirty="0"/>
          </a:p>
        </p:txBody>
      </p:sp>
      <p:sp>
        <p:nvSpPr>
          <p:cNvPr id="17" name="Shape 15"/>
          <p:cNvSpPr/>
          <p:nvPr/>
        </p:nvSpPr>
        <p:spPr>
          <a:xfrm>
            <a:off x="8833104" y="1389888"/>
            <a:ext cx="2907792" cy="4352544"/>
          </a:xfrm>
          <a:prstGeom prst="roundRect">
            <a:avLst>
              <a:gd name="adj" fmla="val 2516"/>
            </a:avLst>
          </a:prstGeom>
          <a:solidFill>
            <a:srgbClr val="FFFFFF"/>
          </a:solidFill>
          <a:ln w="12700">
            <a:solidFill>
              <a:srgbClr val="D8D3C8"/>
            </a:solidFill>
            <a:prstDash val="solid"/>
          </a:ln>
        </p:spPr>
      </p:sp>
      <p:sp>
        <p:nvSpPr>
          <p:cNvPr id="18" name="Text 16"/>
          <p:cNvSpPr txBox="1"/>
          <p:nvPr/>
        </p:nvSpPr>
        <p:spPr>
          <a:xfrm>
            <a:off x="9125712" y="1719072"/>
            <a:ext cx="16459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D88752"/>
                </a:solidFill>
                <a:latin typeface="Helvetica Neue" pitchFamily="34" charset="0"/>
                <a:ea typeface="Helvetica Neue" pitchFamily="34" charset="-122"/>
                <a:cs typeface="Helvetica Neue" pitchFamily="34" charset="-120"/>
              </a:rPr>
              <a:t>THE TRADE</a:t>
            </a:r>
            <a:endParaRPr lang="en-US" sz="1050" dirty="0"/>
          </a:p>
        </p:txBody>
      </p:sp>
      <p:sp>
        <p:nvSpPr>
          <p:cNvPr id="19" name="Text 17"/>
          <p:cNvSpPr txBox="1"/>
          <p:nvPr/>
        </p:nvSpPr>
        <p:spPr>
          <a:xfrm>
            <a:off x="9125712" y="2304288"/>
            <a:ext cx="2267712" cy="1719072"/>
          </a:xfrm>
          <a:prstGeom prst="rect">
            <a:avLst/>
          </a:prstGeom>
          <a:noFill/>
          <a:ln/>
        </p:spPr>
        <p:txBody>
          <a:bodyPr wrap="square" lIns="0" tIns="0" rIns="0" bIns="0" rtlCol="0" anchor="t">
            <a:normAutofit/>
          </a:bodyPr>
          <a:lstStyle/>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 SIZE</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 SPEED</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 QUALITY</a:t>
            </a:r>
            <a:endParaRPr lang="en-US" sz="2500" dirty="0"/>
          </a:p>
        </p:txBody>
      </p:sp>
      <p:sp>
        <p:nvSpPr>
          <p:cNvPr id="20" name="Text 18"/>
          <p:cNvSpPr txBox="1"/>
          <p:nvPr/>
        </p:nvSpPr>
        <p:spPr>
          <a:xfrm>
            <a:off x="9125712" y="4718304"/>
            <a:ext cx="2176272" cy="566928"/>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6F6F7A"/>
                </a:solidFill>
                <a:latin typeface="Helvetica Neue" pitchFamily="34" charset="0"/>
                <a:ea typeface="Helvetica Neue" pitchFamily="34" charset="-122"/>
                <a:cs typeface="Helvetica Neue" pitchFamily="34" charset="-120"/>
              </a:rPr>
              <a:t>The right setting is task-specific.</a:t>
            </a:r>
            <a:endParaRPr lang="en-US" sz="1500" dirty="0"/>
          </a:p>
        </p:txBody>
      </p:sp>
      <p:sp>
        <p:nvSpPr>
          <p:cNvPr id="21" name="Text 1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Compression makes local possible; evaluation tells you whether it is still good enough.</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0.xml><?xml version="1.0" encoding="utf-8"?>
<p:sld xmlns:a="http://schemas.openxmlformats.org/drawingml/2006/main" xmlns:p="http://schemas.openxmlformats.org/presentationml/2006/main" xmlns:p14="http://schemas.microsoft.com/office/powerpoint/2010/main">
  <p:cSld name="Slide 10">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Fitting is not the same as running well</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10</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89888"/>
            <a:ext cx="3703320" cy="1901952"/>
          </a:xfrm>
          <a:prstGeom prst="roundRect">
            <a:avLst>
              <a:gd name="adj" fmla="val 3846"/>
            </a:avLst>
          </a:prstGeom>
          <a:solidFill>
            <a:srgbClr val="FFFFFF"/>
          </a:solidFill>
          <a:ln w="12700">
            <a:solidFill>
              <a:srgbClr val="D8D3C8"/>
            </a:solidFill>
            <a:prstDash val="solid"/>
          </a:ln>
        </p:spPr>
      </p:sp>
      <p:sp>
        <p:nvSpPr>
          <p:cNvPr id="7" name="Text 5"/>
          <p:cNvSpPr txBox="1"/>
          <p:nvPr/>
        </p:nvSpPr>
        <p:spPr>
          <a:xfrm>
            <a:off x="640080" y="157276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8E63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1956816"/>
            <a:ext cx="3300984"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CAPACITY</a:t>
            </a:r>
            <a:endParaRPr lang="en-US" sz="1900" dirty="0"/>
          </a:p>
        </p:txBody>
      </p:sp>
      <p:sp>
        <p:nvSpPr>
          <p:cNvPr id="9" name="Text 7"/>
          <p:cNvSpPr txBox="1"/>
          <p:nvPr/>
        </p:nvSpPr>
        <p:spPr>
          <a:xfrm>
            <a:off x="640080" y="2414016"/>
            <a:ext cx="3300984"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Does the model fit?</a:t>
            </a:r>
            <a:endParaRPr lang="en-US" sz="1350" dirty="0"/>
          </a:p>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RAM / VRAM</a:t>
            </a:r>
            <a:endParaRPr lang="en-US" sz="1350" dirty="0"/>
          </a:p>
        </p:txBody>
      </p:sp>
      <p:sp>
        <p:nvSpPr>
          <p:cNvPr id="10" name="Shape 8"/>
          <p:cNvSpPr/>
          <p:nvPr/>
        </p:nvSpPr>
        <p:spPr>
          <a:xfrm>
            <a:off x="4434840" y="1389888"/>
            <a:ext cx="3703320" cy="1901952"/>
          </a:xfrm>
          <a:prstGeom prst="roundRect">
            <a:avLst>
              <a:gd name="adj" fmla="val 3846"/>
            </a:avLst>
          </a:prstGeom>
          <a:solidFill>
            <a:srgbClr val="FFFFFF"/>
          </a:solidFill>
          <a:ln w="12700">
            <a:solidFill>
              <a:srgbClr val="D8D3C8"/>
            </a:solidFill>
            <a:prstDash val="solid"/>
          </a:ln>
        </p:spPr>
      </p:sp>
      <p:sp>
        <p:nvSpPr>
          <p:cNvPr id="11" name="Text 9"/>
          <p:cNvSpPr txBox="1"/>
          <p:nvPr/>
        </p:nvSpPr>
        <p:spPr>
          <a:xfrm>
            <a:off x="4636008" y="157276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02</a:t>
            </a:r>
            <a:endParaRPr lang="en-US" sz="1300" dirty="0"/>
          </a:p>
        </p:txBody>
      </p:sp>
      <p:sp>
        <p:nvSpPr>
          <p:cNvPr id="12" name="Text 10"/>
          <p:cNvSpPr txBox="1"/>
          <p:nvPr/>
        </p:nvSpPr>
        <p:spPr>
          <a:xfrm>
            <a:off x="4636008" y="1956816"/>
            <a:ext cx="3300984"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BANDWIDTH</a:t>
            </a:r>
            <a:endParaRPr lang="en-US" sz="1900" dirty="0"/>
          </a:p>
        </p:txBody>
      </p:sp>
      <p:sp>
        <p:nvSpPr>
          <p:cNvPr id="13" name="Text 11"/>
          <p:cNvSpPr txBox="1"/>
          <p:nvPr/>
        </p:nvSpPr>
        <p:spPr>
          <a:xfrm>
            <a:off x="4636008" y="2414016"/>
            <a:ext cx="3300984"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How quickly can weights move?</a:t>
            </a:r>
            <a:endParaRPr lang="en-US" sz="1350" dirty="0"/>
          </a:p>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tokens / second</a:t>
            </a:r>
            <a:endParaRPr lang="en-US" sz="1350" dirty="0"/>
          </a:p>
        </p:txBody>
      </p:sp>
      <p:sp>
        <p:nvSpPr>
          <p:cNvPr id="14" name="Shape 12"/>
          <p:cNvSpPr/>
          <p:nvPr/>
        </p:nvSpPr>
        <p:spPr>
          <a:xfrm>
            <a:off x="438912" y="3602736"/>
            <a:ext cx="3703320" cy="1901952"/>
          </a:xfrm>
          <a:prstGeom prst="roundRect">
            <a:avLst>
              <a:gd name="adj" fmla="val 3846"/>
            </a:avLst>
          </a:prstGeom>
          <a:solidFill>
            <a:srgbClr val="FFFFFF"/>
          </a:solidFill>
          <a:ln w="12700">
            <a:solidFill>
              <a:srgbClr val="D8D3C8"/>
            </a:solidFill>
            <a:prstDash val="solid"/>
          </a:ln>
        </p:spPr>
      </p:sp>
      <p:sp>
        <p:nvSpPr>
          <p:cNvPr id="15" name="Text 13"/>
          <p:cNvSpPr txBox="1"/>
          <p:nvPr/>
        </p:nvSpPr>
        <p:spPr>
          <a:xfrm>
            <a:off x="640080" y="3785616"/>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03</a:t>
            </a:r>
            <a:endParaRPr lang="en-US" sz="1300" dirty="0"/>
          </a:p>
        </p:txBody>
      </p:sp>
      <p:sp>
        <p:nvSpPr>
          <p:cNvPr id="16" name="Text 14"/>
          <p:cNvSpPr txBox="1"/>
          <p:nvPr/>
        </p:nvSpPr>
        <p:spPr>
          <a:xfrm>
            <a:off x="640080" y="4169664"/>
            <a:ext cx="3300984"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THERMALS</a:t>
            </a:r>
            <a:endParaRPr lang="en-US" sz="1900" dirty="0"/>
          </a:p>
        </p:txBody>
      </p:sp>
      <p:sp>
        <p:nvSpPr>
          <p:cNvPr id="17" name="Text 15"/>
          <p:cNvSpPr txBox="1"/>
          <p:nvPr/>
        </p:nvSpPr>
        <p:spPr>
          <a:xfrm>
            <a:off x="640080" y="4626864"/>
            <a:ext cx="3300984"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Can speed be sustained?</a:t>
            </a:r>
            <a:endParaRPr lang="en-US" sz="1350" dirty="0"/>
          </a:p>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heat / fans</a:t>
            </a:r>
            <a:endParaRPr lang="en-US" sz="1350" dirty="0"/>
          </a:p>
        </p:txBody>
      </p:sp>
      <p:sp>
        <p:nvSpPr>
          <p:cNvPr id="18" name="Shape 16"/>
          <p:cNvSpPr/>
          <p:nvPr/>
        </p:nvSpPr>
        <p:spPr>
          <a:xfrm>
            <a:off x="4434840" y="3602736"/>
            <a:ext cx="3703320" cy="1901952"/>
          </a:xfrm>
          <a:prstGeom prst="roundRect">
            <a:avLst>
              <a:gd name="adj" fmla="val 3846"/>
            </a:avLst>
          </a:prstGeom>
          <a:solidFill>
            <a:srgbClr val="FFFFFF"/>
          </a:solidFill>
          <a:ln w="12700">
            <a:solidFill>
              <a:srgbClr val="D8D3C8"/>
            </a:solidFill>
            <a:prstDash val="solid"/>
          </a:ln>
        </p:spPr>
      </p:sp>
      <p:sp>
        <p:nvSpPr>
          <p:cNvPr id="19" name="Text 17"/>
          <p:cNvSpPr txBox="1"/>
          <p:nvPr/>
        </p:nvSpPr>
        <p:spPr>
          <a:xfrm>
            <a:off x="4636008" y="3785616"/>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64C9A4"/>
                </a:solidFill>
                <a:latin typeface="Helvetica Neue" pitchFamily="34" charset="0"/>
                <a:ea typeface="Helvetica Neue" pitchFamily="34" charset="-122"/>
                <a:cs typeface="Helvetica Neue" pitchFamily="34" charset="-120"/>
              </a:rPr>
              <a:t>04</a:t>
            </a:r>
            <a:endParaRPr lang="en-US" sz="1300" dirty="0"/>
          </a:p>
        </p:txBody>
      </p:sp>
      <p:sp>
        <p:nvSpPr>
          <p:cNvPr id="20" name="Text 18"/>
          <p:cNvSpPr txBox="1"/>
          <p:nvPr/>
        </p:nvSpPr>
        <p:spPr>
          <a:xfrm>
            <a:off x="4636008" y="4169664"/>
            <a:ext cx="3300984"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BATTERY</a:t>
            </a:r>
            <a:endParaRPr lang="en-US" sz="1900" dirty="0"/>
          </a:p>
        </p:txBody>
      </p:sp>
      <p:sp>
        <p:nvSpPr>
          <p:cNvPr id="21" name="Text 19"/>
          <p:cNvSpPr txBox="1"/>
          <p:nvPr/>
        </p:nvSpPr>
        <p:spPr>
          <a:xfrm>
            <a:off x="4636008" y="4626864"/>
            <a:ext cx="3300984"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Can you afford the energy?</a:t>
            </a:r>
            <a:endParaRPr lang="en-US" sz="1350" dirty="0"/>
          </a:p>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mobile runtime</a:t>
            </a:r>
            <a:endParaRPr lang="en-US" sz="1350" dirty="0"/>
          </a:p>
        </p:txBody>
      </p:sp>
      <p:sp>
        <p:nvSpPr>
          <p:cNvPr id="22" name="Shape 20"/>
          <p:cNvSpPr/>
          <p:nvPr/>
        </p:nvSpPr>
        <p:spPr>
          <a:xfrm>
            <a:off x="8394192" y="1389888"/>
            <a:ext cx="3328416" cy="4114800"/>
          </a:xfrm>
          <a:prstGeom prst="roundRect">
            <a:avLst>
              <a:gd name="adj" fmla="val 2198"/>
            </a:avLst>
          </a:prstGeom>
          <a:solidFill>
            <a:srgbClr val="090A10"/>
          </a:solidFill>
          <a:ln w="12700">
            <a:solidFill>
              <a:srgbClr val="090A10"/>
            </a:solidFill>
            <a:prstDash val="solid"/>
          </a:ln>
        </p:spPr>
      </p:sp>
      <p:sp>
        <p:nvSpPr>
          <p:cNvPr id="23" name="Text 21"/>
          <p:cNvSpPr txBox="1"/>
          <p:nvPr/>
        </p:nvSpPr>
        <p:spPr>
          <a:xfrm>
            <a:off x="8668512" y="1700784"/>
            <a:ext cx="25603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THE EXPERIENCE TEST</a:t>
            </a:r>
            <a:endParaRPr lang="en-US" sz="1050" dirty="0"/>
          </a:p>
        </p:txBody>
      </p:sp>
      <p:sp>
        <p:nvSpPr>
          <p:cNvPr id="24" name="Text 22"/>
          <p:cNvSpPr txBox="1"/>
          <p:nvPr/>
        </p:nvSpPr>
        <p:spPr>
          <a:xfrm>
            <a:off x="8668512" y="2212848"/>
            <a:ext cx="2706624" cy="512064"/>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FFFFFF"/>
                </a:solidFill>
                <a:latin typeface="Helvetica Neue" pitchFamily="34" charset="0"/>
                <a:ea typeface="Helvetica Neue" pitchFamily="34" charset="-122"/>
                <a:cs typeface="Helvetica Neue" pitchFamily="34" charset="-120"/>
              </a:rPr>
              <a:t>CAN IT RUN?</a:t>
            </a:r>
            <a:endParaRPr lang="en-US" sz="2800" dirty="0"/>
          </a:p>
        </p:txBody>
      </p:sp>
      <p:sp>
        <p:nvSpPr>
          <p:cNvPr id="25" name="Text 23"/>
          <p:cNvSpPr txBox="1"/>
          <p:nvPr/>
        </p:nvSpPr>
        <p:spPr>
          <a:xfrm>
            <a:off x="8668512" y="2788920"/>
            <a:ext cx="2706624" cy="3474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A8A7B3"/>
                </a:solidFill>
                <a:latin typeface="Helvetica Neue" pitchFamily="34" charset="0"/>
                <a:ea typeface="Helvetica Neue" pitchFamily="34" charset="-122"/>
                <a:cs typeface="Helvetica Neue" pitchFamily="34" charset="-120"/>
              </a:rPr>
              <a:t>is only question one.</a:t>
            </a:r>
            <a:endParaRPr lang="en-US" sz="1600" dirty="0"/>
          </a:p>
        </p:txBody>
      </p:sp>
      <p:sp>
        <p:nvSpPr>
          <p:cNvPr id="26" name="Shape 24"/>
          <p:cNvSpPr/>
          <p:nvPr/>
        </p:nvSpPr>
        <p:spPr>
          <a:xfrm>
            <a:off x="8668512" y="3337560"/>
            <a:ext cx="2615184" cy="0"/>
          </a:xfrm>
          <a:prstGeom prst="line">
            <a:avLst/>
          </a:prstGeom>
          <a:noFill/>
          <a:ln w="12700">
            <a:solidFill>
              <a:srgbClr val="2A2B38"/>
            </a:solidFill>
            <a:prstDash val="solid"/>
          </a:ln>
        </p:spPr>
      </p:sp>
      <p:sp>
        <p:nvSpPr>
          <p:cNvPr id="27" name="Text 25"/>
          <p:cNvSpPr txBox="1"/>
          <p:nvPr/>
        </p:nvSpPr>
        <p:spPr>
          <a:xfrm>
            <a:off x="8668512" y="3639312"/>
            <a:ext cx="2615184" cy="1243584"/>
          </a:xfrm>
          <a:prstGeom prst="rect">
            <a:avLst/>
          </a:prstGeom>
          <a:noFill/>
          <a:ln/>
        </p:spPr>
        <p:txBody>
          <a:bodyPr wrap="square" lIns="0" tIns="0" rIns="0" bIns="0" rtlCol="0" anchor="t">
            <a:normAutofit/>
          </a:bodyPr>
          <a:lstStyle/>
          <a:p>
            <a:pPr algn="l" indent="0" marL="0">
              <a:lnSpc>
                <a:spcPct val="100000"/>
              </a:lnSpc>
              <a:buNone/>
            </a:pPr>
            <a:r>
              <a:rPr lang="en-US" sz="1800" b="1" dirty="0">
                <a:solidFill>
                  <a:srgbClr val="D88752"/>
                </a:solidFill>
                <a:latin typeface="Helvetica Neue" pitchFamily="34" charset="0"/>
                <a:ea typeface="Helvetica Neue" pitchFamily="34" charset="-122"/>
                <a:cs typeface="Helvetica Neue" pitchFamily="34" charset="-120"/>
              </a:rPr>
              <a:t>IS IT FAST, QUIET, STABLE, AND WORTH THE POWER?</a:t>
            </a:r>
            <a:endParaRPr lang="en-US" sz="1800" dirty="0"/>
          </a:p>
        </p:txBody>
      </p:sp>
      <p:sp>
        <p:nvSpPr>
          <p:cNvPr id="28" name="Text 26"/>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The best local model is often smaller than the biggest model that technically fits.</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indefinite"/>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26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5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78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04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30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56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8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08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34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60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86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312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11.xml><?xml version="1.0" encoding="utf-8"?>
<p:sld xmlns:a="http://schemas.openxmlformats.org/drawingml/2006/main" xmlns:p="http://schemas.openxmlformats.org/presentationml/2006/main" xmlns:p14="http://schemas.microsoft.com/office/powerpoint/2010/main">
  <p:cSld name="Slide 11">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Where local AI already wins</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11</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71600"/>
            <a:ext cx="5358384" cy="1901952"/>
          </a:xfrm>
          <a:prstGeom prst="roundRect">
            <a:avLst>
              <a:gd name="adj" fmla="val 3846"/>
            </a:avLst>
          </a:prstGeom>
          <a:solidFill>
            <a:srgbClr val="EDE7FF"/>
          </a:solidFill>
          <a:ln w="12700">
            <a:solidFill>
              <a:srgbClr val="D8D3C8"/>
            </a:solidFill>
            <a:prstDash val="solid"/>
          </a:ln>
        </p:spPr>
      </p:sp>
      <p:sp>
        <p:nvSpPr>
          <p:cNvPr id="7" name="Text 5"/>
          <p:cNvSpPr txBox="1"/>
          <p:nvPr/>
        </p:nvSpPr>
        <p:spPr>
          <a:xfrm>
            <a:off x="640080" y="1554480"/>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8E63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1938528"/>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PRIVATE DRAFTS</a:t>
            </a:r>
            <a:endParaRPr lang="en-US" sz="1900" dirty="0"/>
          </a:p>
        </p:txBody>
      </p:sp>
      <p:sp>
        <p:nvSpPr>
          <p:cNvPr id="9" name="Text 7"/>
          <p:cNvSpPr txBox="1"/>
          <p:nvPr/>
        </p:nvSpPr>
        <p:spPr>
          <a:xfrm>
            <a:off x="640080" y="2395728"/>
            <a:ext cx="4956048"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Sensitive text can stay close to the user.</a:t>
            </a:r>
            <a:endParaRPr lang="en-US" sz="1350" dirty="0"/>
          </a:p>
        </p:txBody>
      </p:sp>
      <p:sp>
        <p:nvSpPr>
          <p:cNvPr id="10" name="Shape 8"/>
          <p:cNvSpPr/>
          <p:nvPr/>
        </p:nvSpPr>
        <p:spPr>
          <a:xfrm>
            <a:off x="6089904" y="1371600"/>
            <a:ext cx="5358384" cy="1901952"/>
          </a:xfrm>
          <a:prstGeom prst="roundRect">
            <a:avLst>
              <a:gd name="adj" fmla="val 3846"/>
            </a:avLst>
          </a:prstGeom>
          <a:solidFill>
            <a:srgbClr val="FFFFFF"/>
          </a:solidFill>
          <a:ln w="12700">
            <a:solidFill>
              <a:srgbClr val="D8D3C8"/>
            </a:solidFill>
            <a:prstDash val="solid"/>
          </a:ln>
        </p:spPr>
      </p:sp>
      <p:sp>
        <p:nvSpPr>
          <p:cNvPr id="11" name="Text 9"/>
          <p:cNvSpPr txBox="1"/>
          <p:nvPr/>
        </p:nvSpPr>
        <p:spPr>
          <a:xfrm>
            <a:off x="6291072" y="1554480"/>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02</a:t>
            </a:r>
            <a:endParaRPr lang="en-US" sz="1300" dirty="0"/>
          </a:p>
        </p:txBody>
      </p:sp>
      <p:sp>
        <p:nvSpPr>
          <p:cNvPr id="12" name="Text 10"/>
          <p:cNvSpPr txBox="1"/>
          <p:nvPr/>
        </p:nvSpPr>
        <p:spPr>
          <a:xfrm>
            <a:off x="6291072" y="1938528"/>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OFFLINE WORK</a:t>
            </a:r>
            <a:endParaRPr lang="en-US" sz="1900" dirty="0"/>
          </a:p>
        </p:txBody>
      </p:sp>
      <p:sp>
        <p:nvSpPr>
          <p:cNvPr id="13" name="Text 11"/>
          <p:cNvSpPr txBox="1"/>
          <p:nvPr/>
        </p:nvSpPr>
        <p:spPr>
          <a:xfrm>
            <a:off x="6291072" y="2395728"/>
            <a:ext cx="4956048"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Once installed, the core model needs no connection.</a:t>
            </a:r>
            <a:endParaRPr lang="en-US" sz="1350" dirty="0"/>
          </a:p>
        </p:txBody>
      </p:sp>
      <p:sp>
        <p:nvSpPr>
          <p:cNvPr id="14" name="Shape 12"/>
          <p:cNvSpPr/>
          <p:nvPr/>
        </p:nvSpPr>
        <p:spPr>
          <a:xfrm>
            <a:off x="438912" y="3547872"/>
            <a:ext cx="5358384" cy="1901952"/>
          </a:xfrm>
          <a:prstGeom prst="roundRect">
            <a:avLst>
              <a:gd name="adj" fmla="val 3846"/>
            </a:avLst>
          </a:prstGeom>
          <a:solidFill>
            <a:srgbClr val="FFFFFF"/>
          </a:solidFill>
          <a:ln w="12700">
            <a:solidFill>
              <a:srgbClr val="D8D3C8"/>
            </a:solidFill>
            <a:prstDash val="solid"/>
          </a:ln>
        </p:spPr>
      </p:sp>
      <p:sp>
        <p:nvSpPr>
          <p:cNvPr id="15" name="Text 13"/>
          <p:cNvSpPr txBox="1"/>
          <p:nvPr/>
        </p:nvSpPr>
        <p:spPr>
          <a:xfrm>
            <a:off x="640080" y="3730752"/>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03</a:t>
            </a:r>
            <a:endParaRPr lang="en-US" sz="1300" dirty="0"/>
          </a:p>
        </p:txBody>
      </p:sp>
      <p:sp>
        <p:nvSpPr>
          <p:cNvPr id="16" name="Text 14"/>
          <p:cNvSpPr txBox="1"/>
          <p:nvPr/>
        </p:nvSpPr>
        <p:spPr>
          <a:xfrm>
            <a:off x="640080" y="4114800"/>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LOW-LATENCY LOOPS</a:t>
            </a:r>
            <a:endParaRPr lang="en-US" sz="1900" dirty="0"/>
          </a:p>
        </p:txBody>
      </p:sp>
      <p:sp>
        <p:nvSpPr>
          <p:cNvPr id="17" name="Text 15"/>
          <p:cNvSpPr txBox="1"/>
          <p:nvPr/>
        </p:nvSpPr>
        <p:spPr>
          <a:xfrm>
            <a:off x="640080" y="4572000"/>
            <a:ext cx="4956048"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Autocomplete and agents benefit from instant repeated calls.</a:t>
            </a:r>
            <a:endParaRPr lang="en-US" sz="1350" dirty="0"/>
          </a:p>
        </p:txBody>
      </p:sp>
      <p:sp>
        <p:nvSpPr>
          <p:cNvPr id="18" name="Shape 16"/>
          <p:cNvSpPr/>
          <p:nvPr/>
        </p:nvSpPr>
        <p:spPr>
          <a:xfrm>
            <a:off x="6089904" y="3547872"/>
            <a:ext cx="5358384" cy="1901952"/>
          </a:xfrm>
          <a:prstGeom prst="roundRect">
            <a:avLst>
              <a:gd name="adj" fmla="val 3846"/>
            </a:avLst>
          </a:prstGeom>
          <a:solidFill>
            <a:srgbClr val="FFFFFF"/>
          </a:solidFill>
          <a:ln w="12700">
            <a:solidFill>
              <a:srgbClr val="D8D3C8"/>
            </a:solidFill>
            <a:prstDash val="solid"/>
          </a:ln>
        </p:spPr>
      </p:sp>
      <p:sp>
        <p:nvSpPr>
          <p:cNvPr id="19" name="Text 17"/>
          <p:cNvSpPr txBox="1"/>
          <p:nvPr/>
        </p:nvSpPr>
        <p:spPr>
          <a:xfrm>
            <a:off x="6291072" y="3730752"/>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64C9A4"/>
                </a:solidFill>
                <a:latin typeface="Helvetica Neue" pitchFamily="34" charset="0"/>
                <a:ea typeface="Helvetica Neue" pitchFamily="34" charset="-122"/>
                <a:cs typeface="Helvetica Neue" pitchFamily="34" charset="-120"/>
              </a:rPr>
              <a:t>04</a:t>
            </a:r>
            <a:endParaRPr lang="en-US" sz="1300" dirty="0"/>
          </a:p>
        </p:txBody>
      </p:sp>
      <p:sp>
        <p:nvSpPr>
          <p:cNvPr id="20" name="Text 18"/>
          <p:cNvSpPr txBox="1"/>
          <p:nvPr/>
        </p:nvSpPr>
        <p:spPr>
          <a:xfrm>
            <a:off x="6291072" y="4114800"/>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090A10"/>
                </a:solidFill>
                <a:latin typeface="Helvetica Neue" pitchFamily="34" charset="0"/>
                <a:ea typeface="Helvetica Neue" pitchFamily="34" charset="-122"/>
                <a:cs typeface="Helvetica Neue" pitchFamily="34" charset="-120"/>
              </a:rPr>
              <a:t>HIGH-VOLUME ROUTINES</a:t>
            </a:r>
            <a:endParaRPr lang="en-US" sz="1900" dirty="0"/>
          </a:p>
        </p:txBody>
      </p:sp>
      <p:sp>
        <p:nvSpPr>
          <p:cNvPr id="21" name="Text 19"/>
          <p:cNvSpPr txBox="1"/>
          <p:nvPr/>
        </p:nvSpPr>
        <p:spPr>
          <a:xfrm>
            <a:off x="6291072" y="4572000"/>
            <a:ext cx="4956048" cy="713232"/>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6F6F7A"/>
                </a:solidFill>
                <a:latin typeface="Helvetica Neue" pitchFamily="34" charset="0"/>
                <a:ea typeface="Helvetica Neue" pitchFamily="34" charset="-122"/>
                <a:cs typeface="Helvetica Neue" pitchFamily="34" charset="-120"/>
              </a:rPr>
              <a:t>No per-request bill for narrow, repeated workloads.</a:t>
            </a:r>
            <a:endParaRPr lang="en-US" sz="1350" dirty="0"/>
          </a:p>
        </p:txBody>
      </p:sp>
      <p:sp>
        <p:nvSpPr>
          <p:cNvPr id="22" name="Shape 20"/>
          <p:cNvSpPr/>
          <p:nvPr/>
        </p:nvSpPr>
        <p:spPr>
          <a:xfrm>
            <a:off x="438912" y="5669280"/>
            <a:ext cx="11009376" cy="530352"/>
          </a:xfrm>
          <a:prstGeom prst="roundRect">
            <a:avLst>
              <a:gd name="adj" fmla="val 8621"/>
            </a:avLst>
          </a:prstGeom>
          <a:solidFill>
            <a:srgbClr val="090A10"/>
          </a:solidFill>
          <a:ln w="12700">
            <a:solidFill>
              <a:srgbClr val="090A10"/>
            </a:solidFill>
            <a:prstDash val="solid"/>
          </a:ln>
        </p:spPr>
      </p:sp>
      <p:sp>
        <p:nvSpPr>
          <p:cNvPr id="23" name="Text 21"/>
          <p:cNvSpPr txBox="1"/>
          <p:nvPr/>
        </p:nvSpPr>
        <p:spPr>
          <a:xfrm>
            <a:off x="749808" y="5769864"/>
            <a:ext cx="10387584" cy="310896"/>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FFFFFF"/>
                </a:solidFill>
                <a:latin typeface="Helvetica Neue" pitchFamily="34" charset="0"/>
                <a:ea typeface="Helvetica Neue" pitchFamily="34" charset="-122"/>
                <a:cs typeface="Helvetica Neue" pitchFamily="34" charset="-120"/>
              </a:rPr>
              <a:t>LOCAL WINS WHEN THE TASK IS REPEATED, PRIVATE, OR DISCONNECTED.</a:t>
            </a:r>
            <a:endParaRPr lang="en-US" sz="16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indefinite"/>
                      </p:stCondLst>
                      <p:childTnLst>
                        <p:par>
                          <p:cTn id="48" presetID="10" presetClass="entr" presetSubtype="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26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52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7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04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30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56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82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08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234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60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12.xml><?xml version="1.0" encoding="utf-8"?>
<p:sld xmlns:a="http://schemas.openxmlformats.org/drawingml/2006/main" xmlns:p="http://schemas.openxmlformats.org/presentationml/2006/main" xmlns:p14="http://schemas.microsoft.com/office/powerpoint/2010/main">
  <p:cSld name="Slide 12">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The sweet spot: fast, repeated loops</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12</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38912" y="1389888"/>
            <a:ext cx="5321808" cy="1755648"/>
          </a:xfrm>
          <a:prstGeom prst="roundRect">
            <a:avLst>
              <a:gd name="adj" fmla="val 3646"/>
            </a:avLst>
          </a:prstGeom>
          <a:solidFill>
            <a:srgbClr val="14151F"/>
          </a:solidFill>
          <a:ln w="12700">
            <a:solidFill>
              <a:srgbClr val="2A2B38"/>
            </a:solidFill>
            <a:prstDash val="solid"/>
          </a:ln>
        </p:spPr>
      </p:sp>
      <p:sp>
        <p:nvSpPr>
          <p:cNvPr id="7" name="Text 5"/>
          <p:cNvSpPr txBox="1"/>
          <p:nvPr/>
        </p:nvSpPr>
        <p:spPr>
          <a:xfrm>
            <a:off x="640080" y="1572768"/>
            <a:ext cx="475488"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BCA7FF"/>
                </a:solidFill>
                <a:latin typeface="Helvetica Neue" pitchFamily="34" charset="0"/>
                <a:ea typeface="Helvetica Neue" pitchFamily="34" charset="-122"/>
                <a:cs typeface="Helvetica Neue" pitchFamily="34" charset="-120"/>
              </a:rPr>
              <a:t>01</a:t>
            </a:r>
            <a:endParaRPr lang="en-US" sz="1200" dirty="0"/>
          </a:p>
        </p:txBody>
      </p:sp>
      <p:sp>
        <p:nvSpPr>
          <p:cNvPr id="8" name="Text 6"/>
          <p:cNvSpPr txBox="1"/>
          <p:nvPr/>
        </p:nvSpPr>
        <p:spPr>
          <a:xfrm>
            <a:off x="1243584" y="1591056"/>
            <a:ext cx="3310128" cy="365760"/>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AUTOCOMPLETE</a:t>
            </a:r>
            <a:endParaRPr lang="en-US" sz="2000" dirty="0"/>
          </a:p>
        </p:txBody>
      </p:sp>
      <p:sp>
        <p:nvSpPr>
          <p:cNvPr id="9" name="Text 7"/>
          <p:cNvSpPr txBox="1"/>
          <p:nvPr/>
        </p:nvSpPr>
        <p:spPr>
          <a:xfrm>
            <a:off x="1243584" y="2212848"/>
            <a:ext cx="3566160" cy="384048"/>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A8A7B3"/>
                </a:solidFill>
                <a:latin typeface="Helvetica Neue" pitchFamily="34" charset="0"/>
                <a:ea typeface="Helvetica Neue" pitchFamily="34" charset="-122"/>
                <a:cs typeface="Helvetica Neue" pitchFamily="34" charset="-120"/>
              </a:rPr>
              <a:t>dozens of tiny calls</a:t>
            </a:r>
            <a:endParaRPr lang="en-US" sz="1500" dirty="0"/>
          </a:p>
        </p:txBody>
      </p:sp>
      <p:sp>
        <p:nvSpPr>
          <p:cNvPr id="10" name="Text 8"/>
          <p:cNvSpPr txBox="1"/>
          <p:nvPr/>
        </p:nvSpPr>
        <p:spPr>
          <a:xfrm>
            <a:off x="4937760" y="1828800"/>
            <a:ext cx="512064" cy="566928"/>
          </a:xfrm>
          <a:prstGeom prst="rect">
            <a:avLst/>
          </a:prstGeom>
          <a:noFill/>
          <a:ln/>
        </p:spPr>
        <p:txBody>
          <a:bodyPr wrap="square" lIns="0" tIns="0" rIns="0" bIns="0" rtlCol="0" anchor="ctr">
            <a:normAutofit/>
          </a:bodyPr>
          <a:lstStyle/>
          <a:p>
            <a:pPr algn="ctr" indent="0" marL="0">
              <a:lnSpc>
                <a:spcPct val="100000"/>
              </a:lnSpc>
              <a:buNone/>
            </a:pPr>
            <a:r>
              <a:rPr lang="en-US" sz="3100" b="1" dirty="0">
                <a:solidFill>
                  <a:srgbClr val="BCA7FF"/>
                </a:solidFill>
                <a:latin typeface="Helvetica Neue" pitchFamily="34" charset="0"/>
                <a:ea typeface="Helvetica Neue" pitchFamily="34" charset="-122"/>
                <a:cs typeface="Helvetica Neue" pitchFamily="34" charset="-120"/>
              </a:rPr>
              <a:t>↻</a:t>
            </a:r>
            <a:endParaRPr lang="en-US" sz="3100" dirty="0"/>
          </a:p>
        </p:txBody>
      </p:sp>
      <p:sp>
        <p:nvSpPr>
          <p:cNvPr id="11" name="Shape 9"/>
          <p:cNvSpPr/>
          <p:nvPr/>
        </p:nvSpPr>
        <p:spPr>
          <a:xfrm>
            <a:off x="6089904" y="1389888"/>
            <a:ext cx="5321808" cy="1755648"/>
          </a:xfrm>
          <a:prstGeom prst="roundRect">
            <a:avLst>
              <a:gd name="adj" fmla="val 3646"/>
            </a:avLst>
          </a:prstGeom>
          <a:solidFill>
            <a:srgbClr val="14151F"/>
          </a:solidFill>
          <a:ln w="12700">
            <a:solidFill>
              <a:srgbClr val="2A2B38"/>
            </a:solidFill>
            <a:prstDash val="solid"/>
          </a:ln>
        </p:spPr>
      </p:sp>
      <p:sp>
        <p:nvSpPr>
          <p:cNvPr id="12" name="Text 10"/>
          <p:cNvSpPr txBox="1"/>
          <p:nvPr/>
        </p:nvSpPr>
        <p:spPr>
          <a:xfrm>
            <a:off x="6291072" y="1572768"/>
            <a:ext cx="475488"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4777FF"/>
                </a:solidFill>
                <a:latin typeface="Helvetica Neue" pitchFamily="34" charset="0"/>
                <a:ea typeface="Helvetica Neue" pitchFamily="34" charset="-122"/>
                <a:cs typeface="Helvetica Neue" pitchFamily="34" charset="-120"/>
              </a:rPr>
              <a:t>02</a:t>
            </a:r>
            <a:endParaRPr lang="en-US" sz="1200" dirty="0"/>
          </a:p>
        </p:txBody>
      </p:sp>
      <p:sp>
        <p:nvSpPr>
          <p:cNvPr id="13" name="Text 11"/>
          <p:cNvSpPr txBox="1"/>
          <p:nvPr/>
        </p:nvSpPr>
        <p:spPr>
          <a:xfrm>
            <a:off x="6894576" y="1591056"/>
            <a:ext cx="3310128" cy="365760"/>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CLASSIFICATION</a:t>
            </a:r>
            <a:endParaRPr lang="en-US" sz="2000" dirty="0"/>
          </a:p>
        </p:txBody>
      </p:sp>
      <p:sp>
        <p:nvSpPr>
          <p:cNvPr id="14" name="Text 12"/>
          <p:cNvSpPr txBox="1"/>
          <p:nvPr/>
        </p:nvSpPr>
        <p:spPr>
          <a:xfrm>
            <a:off x="6894576" y="2212848"/>
            <a:ext cx="3566160" cy="384048"/>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A8A7B3"/>
                </a:solidFill>
                <a:latin typeface="Helvetica Neue" pitchFamily="34" charset="0"/>
                <a:ea typeface="Helvetica Neue" pitchFamily="34" charset="-122"/>
                <a:cs typeface="Helvetica Neue" pitchFamily="34" charset="-120"/>
              </a:rPr>
              <a:t>the same narrow decision</a:t>
            </a:r>
            <a:endParaRPr lang="en-US" sz="1500" dirty="0"/>
          </a:p>
        </p:txBody>
      </p:sp>
      <p:sp>
        <p:nvSpPr>
          <p:cNvPr id="15" name="Text 13"/>
          <p:cNvSpPr txBox="1"/>
          <p:nvPr/>
        </p:nvSpPr>
        <p:spPr>
          <a:xfrm>
            <a:off x="10588752" y="1828800"/>
            <a:ext cx="512064" cy="566928"/>
          </a:xfrm>
          <a:prstGeom prst="rect">
            <a:avLst/>
          </a:prstGeom>
          <a:noFill/>
          <a:ln/>
        </p:spPr>
        <p:txBody>
          <a:bodyPr wrap="square" lIns="0" tIns="0" rIns="0" bIns="0" rtlCol="0" anchor="ctr">
            <a:normAutofit/>
          </a:bodyPr>
          <a:lstStyle/>
          <a:p>
            <a:pPr algn="ctr" indent="0" marL="0">
              <a:lnSpc>
                <a:spcPct val="100000"/>
              </a:lnSpc>
              <a:buNone/>
            </a:pPr>
            <a:r>
              <a:rPr lang="en-US" sz="3100" b="1" dirty="0">
                <a:solidFill>
                  <a:srgbClr val="4777FF"/>
                </a:solidFill>
                <a:latin typeface="Helvetica Neue" pitchFamily="34" charset="0"/>
                <a:ea typeface="Helvetica Neue" pitchFamily="34" charset="-122"/>
                <a:cs typeface="Helvetica Neue" pitchFamily="34" charset="-120"/>
              </a:rPr>
              <a:t>↻</a:t>
            </a:r>
            <a:endParaRPr lang="en-US" sz="3100" dirty="0"/>
          </a:p>
        </p:txBody>
      </p:sp>
      <p:sp>
        <p:nvSpPr>
          <p:cNvPr id="16" name="Shape 14"/>
          <p:cNvSpPr/>
          <p:nvPr/>
        </p:nvSpPr>
        <p:spPr>
          <a:xfrm>
            <a:off x="438912" y="3438144"/>
            <a:ext cx="5321808" cy="1755648"/>
          </a:xfrm>
          <a:prstGeom prst="roundRect">
            <a:avLst>
              <a:gd name="adj" fmla="val 3646"/>
            </a:avLst>
          </a:prstGeom>
          <a:solidFill>
            <a:srgbClr val="14151F"/>
          </a:solidFill>
          <a:ln w="12700">
            <a:solidFill>
              <a:srgbClr val="2A2B38"/>
            </a:solidFill>
            <a:prstDash val="solid"/>
          </a:ln>
        </p:spPr>
      </p:sp>
      <p:sp>
        <p:nvSpPr>
          <p:cNvPr id="17" name="Text 15"/>
          <p:cNvSpPr txBox="1"/>
          <p:nvPr/>
        </p:nvSpPr>
        <p:spPr>
          <a:xfrm>
            <a:off x="640080" y="3621024"/>
            <a:ext cx="475488"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D88752"/>
                </a:solidFill>
                <a:latin typeface="Helvetica Neue" pitchFamily="34" charset="0"/>
                <a:ea typeface="Helvetica Neue" pitchFamily="34" charset="-122"/>
                <a:cs typeface="Helvetica Neue" pitchFamily="34" charset="-120"/>
              </a:rPr>
              <a:t>03</a:t>
            </a:r>
            <a:endParaRPr lang="en-US" sz="1200" dirty="0"/>
          </a:p>
        </p:txBody>
      </p:sp>
      <p:sp>
        <p:nvSpPr>
          <p:cNvPr id="18" name="Text 16"/>
          <p:cNvSpPr txBox="1"/>
          <p:nvPr/>
        </p:nvSpPr>
        <p:spPr>
          <a:xfrm>
            <a:off x="1243584" y="3639312"/>
            <a:ext cx="3310128" cy="365760"/>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DRAFT CLEANUP</a:t>
            </a:r>
            <a:endParaRPr lang="en-US" sz="2000" dirty="0"/>
          </a:p>
        </p:txBody>
      </p:sp>
      <p:sp>
        <p:nvSpPr>
          <p:cNvPr id="19" name="Text 17"/>
          <p:cNvSpPr txBox="1"/>
          <p:nvPr/>
        </p:nvSpPr>
        <p:spPr>
          <a:xfrm>
            <a:off x="1243584" y="4261104"/>
            <a:ext cx="3566160" cy="384048"/>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A8A7B3"/>
                </a:solidFill>
                <a:latin typeface="Helvetica Neue" pitchFamily="34" charset="0"/>
                <a:ea typeface="Helvetica Neue" pitchFamily="34" charset="-122"/>
                <a:cs typeface="Helvetica Neue" pitchFamily="34" charset="-120"/>
              </a:rPr>
              <a:t>private text, many passes</a:t>
            </a:r>
            <a:endParaRPr lang="en-US" sz="1500" dirty="0"/>
          </a:p>
        </p:txBody>
      </p:sp>
      <p:sp>
        <p:nvSpPr>
          <p:cNvPr id="20" name="Text 18"/>
          <p:cNvSpPr txBox="1"/>
          <p:nvPr/>
        </p:nvSpPr>
        <p:spPr>
          <a:xfrm>
            <a:off x="4937760" y="3877056"/>
            <a:ext cx="512064" cy="566928"/>
          </a:xfrm>
          <a:prstGeom prst="rect">
            <a:avLst/>
          </a:prstGeom>
          <a:noFill/>
          <a:ln/>
        </p:spPr>
        <p:txBody>
          <a:bodyPr wrap="square" lIns="0" tIns="0" rIns="0" bIns="0" rtlCol="0" anchor="ctr">
            <a:normAutofit/>
          </a:bodyPr>
          <a:lstStyle/>
          <a:p>
            <a:pPr algn="ctr" indent="0" marL="0">
              <a:lnSpc>
                <a:spcPct val="100000"/>
              </a:lnSpc>
              <a:buNone/>
            </a:pPr>
            <a:r>
              <a:rPr lang="en-US" sz="3100" b="1" dirty="0">
                <a:solidFill>
                  <a:srgbClr val="D88752"/>
                </a:solidFill>
                <a:latin typeface="Helvetica Neue" pitchFamily="34" charset="0"/>
                <a:ea typeface="Helvetica Neue" pitchFamily="34" charset="-122"/>
                <a:cs typeface="Helvetica Neue" pitchFamily="34" charset="-120"/>
              </a:rPr>
              <a:t>↻</a:t>
            </a:r>
            <a:endParaRPr lang="en-US" sz="3100" dirty="0"/>
          </a:p>
        </p:txBody>
      </p:sp>
      <p:sp>
        <p:nvSpPr>
          <p:cNvPr id="21" name="Shape 19"/>
          <p:cNvSpPr/>
          <p:nvPr/>
        </p:nvSpPr>
        <p:spPr>
          <a:xfrm>
            <a:off x="6089904" y="3438144"/>
            <a:ext cx="5321808" cy="1755648"/>
          </a:xfrm>
          <a:prstGeom prst="roundRect">
            <a:avLst>
              <a:gd name="adj" fmla="val 3646"/>
            </a:avLst>
          </a:prstGeom>
          <a:solidFill>
            <a:srgbClr val="14151F"/>
          </a:solidFill>
          <a:ln w="12700">
            <a:solidFill>
              <a:srgbClr val="2A2B38"/>
            </a:solidFill>
            <a:prstDash val="solid"/>
          </a:ln>
        </p:spPr>
      </p:sp>
      <p:sp>
        <p:nvSpPr>
          <p:cNvPr id="22" name="Text 20"/>
          <p:cNvSpPr txBox="1"/>
          <p:nvPr/>
        </p:nvSpPr>
        <p:spPr>
          <a:xfrm>
            <a:off x="6291072" y="3621024"/>
            <a:ext cx="475488"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64C9A4"/>
                </a:solidFill>
                <a:latin typeface="Helvetica Neue" pitchFamily="34" charset="0"/>
                <a:ea typeface="Helvetica Neue" pitchFamily="34" charset="-122"/>
                <a:cs typeface="Helvetica Neue" pitchFamily="34" charset="-120"/>
              </a:rPr>
              <a:t>04</a:t>
            </a:r>
            <a:endParaRPr lang="en-US" sz="1200" dirty="0"/>
          </a:p>
        </p:txBody>
      </p:sp>
      <p:sp>
        <p:nvSpPr>
          <p:cNvPr id="23" name="Text 21"/>
          <p:cNvSpPr txBox="1"/>
          <p:nvPr/>
        </p:nvSpPr>
        <p:spPr>
          <a:xfrm>
            <a:off x="6894576" y="3639312"/>
            <a:ext cx="3310128" cy="365760"/>
          </a:xfrm>
          <a:prstGeom prst="rect">
            <a:avLst/>
          </a:prstGeom>
          <a:noFill/>
          <a:ln/>
        </p:spPr>
        <p:txBody>
          <a:bodyPr wrap="square" lIns="0" tIns="0" rIns="0" bIns="0" rtlCol="0" anchor="ctr">
            <a:normAutofit/>
          </a:bodyPr>
          <a:lstStyle/>
          <a:p>
            <a:pPr algn="l" indent="0" marL="0">
              <a:lnSpc>
                <a:spcPct val="100000"/>
              </a:lnSpc>
              <a:buNone/>
            </a:pPr>
            <a:r>
              <a:rPr lang="en-US" sz="2000" b="1" dirty="0">
                <a:solidFill>
                  <a:srgbClr val="FFFFFF"/>
                </a:solidFill>
                <a:latin typeface="Helvetica Neue" pitchFamily="34" charset="0"/>
                <a:ea typeface="Helvetica Neue" pitchFamily="34" charset="-122"/>
                <a:cs typeface="Helvetica Neue" pitchFamily="34" charset="-120"/>
              </a:rPr>
              <a:t>LOCAL AGENTS</a:t>
            </a:r>
            <a:endParaRPr lang="en-US" sz="2000" dirty="0"/>
          </a:p>
        </p:txBody>
      </p:sp>
      <p:sp>
        <p:nvSpPr>
          <p:cNvPr id="24" name="Text 22"/>
          <p:cNvSpPr txBox="1"/>
          <p:nvPr/>
        </p:nvSpPr>
        <p:spPr>
          <a:xfrm>
            <a:off x="6894576" y="4261104"/>
            <a:ext cx="3566160" cy="384048"/>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A8A7B3"/>
                </a:solidFill>
                <a:latin typeface="Helvetica Neue" pitchFamily="34" charset="0"/>
                <a:ea typeface="Helvetica Neue" pitchFamily="34" charset="-122"/>
                <a:cs typeface="Helvetica Neue" pitchFamily="34" charset="-120"/>
              </a:rPr>
              <a:t>short tool loops</a:t>
            </a:r>
            <a:endParaRPr lang="en-US" sz="1500" dirty="0"/>
          </a:p>
        </p:txBody>
      </p:sp>
      <p:sp>
        <p:nvSpPr>
          <p:cNvPr id="25" name="Text 23"/>
          <p:cNvSpPr txBox="1"/>
          <p:nvPr/>
        </p:nvSpPr>
        <p:spPr>
          <a:xfrm>
            <a:off x="10588752" y="3877056"/>
            <a:ext cx="512064" cy="566928"/>
          </a:xfrm>
          <a:prstGeom prst="rect">
            <a:avLst/>
          </a:prstGeom>
          <a:noFill/>
          <a:ln/>
        </p:spPr>
        <p:txBody>
          <a:bodyPr wrap="square" lIns="0" tIns="0" rIns="0" bIns="0" rtlCol="0" anchor="ctr">
            <a:normAutofit/>
          </a:bodyPr>
          <a:lstStyle/>
          <a:p>
            <a:pPr algn="ctr" indent="0" marL="0">
              <a:lnSpc>
                <a:spcPct val="100000"/>
              </a:lnSpc>
              <a:buNone/>
            </a:pPr>
            <a:r>
              <a:rPr lang="en-US" sz="3100" b="1" dirty="0">
                <a:solidFill>
                  <a:srgbClr val="64C9A4"/>
                </a:solidFill>
                <a:latin typeface="Helvetica Neue" pitchFamily="34" charset="0"/>
                <a:ea typeface="Helvetica Neue" pitchFamily="34" charset="-122"/>
                <a:cs typeface="Helvetica Neue" pitchFamily="34" charset="-120"/>
              </a:rPr>
              <a:t>↻</a:t>
            </a:r>
            <a:endParaRPr lang="en-US" sz="3100" dirty="0"/>
          </a:p>
        </p:txBody>
      </p:sp>
      <p:sp>
        <p:nvSpPr>
          <p:cNvPr id="26" name="Shape 24"/>
          <p:cNvSpPr/>
          <p:nvPr/>
        </p:nvSpPr>
        <p:spPr>
          <a:xfrm>
            <a:off x="1682496" y="5559552"/>
            <a:ext cx="8814816" cy="585216"/>
          </a:xfrm>
          <a:prstGeom prst="roundRect">
            <a:avLst>
              <a:gd name="adj" fmla="val 7813"/>
            </a:avLst>
          </a:prstGeom>
          <a:solidFill>
            <a:srgbClr val="FFFFFF"/>
          </a:solidFill>
          <a:ln w="12700">
            <a:solidFill>
              <a:srgbClr val="FFFFFF"/>
            </a:solidFill>
            <a:prstDash val="solid"/>
          </a:ln>
        </p:spPr>
      </p:sp>
      <p:sp>
        <p:nvSpPr>
          <p:cNvPr id="27" name="Text 25"/>
          <p:cNvSpPr txBox="1"/>
          <p:nvPr/>
        </p:nvSpPr>
        <p:spPr>
          <a:xfrm>
            <a:off x="1975104" y="5687568"/>
            <a:ext cx="8229600" cy="310896"/>
          </a:xfrm>
          <a:prstGeom prst="rect">
            <a:avLst/>
          </a:prstGeom>
          <a:noFill/>
          <a:ln/>
        </p:spPr>
        <p:txBody>
          <a:bodyPr wrap="square" lIns="0" tIns="0" rIns="0" bIns="0" rtlCol="0" anchor="ctr">
            <a:normAutofit/>
          </a:bodyPr>
          <a:lstStyle/>
          <a:p>
            <a:pPr algn="ctr" indent="0" marL="0">
              <a:lnSpc>
                <a:spcPct val="100000"/>
              </a:lnSpc>
              <a:buNone/>
            </a:pPr>
            <a:r>
              <a:rPr lang="en-US" sz="1650" b="1" dirty="0">
                <a:solidFill>
                  <a:srgbClr val="090A10"/>
                </a:solidFill>
                <a:latin typeface="Helvetica Neue" pitchFamily="34" charset="0"/>
                <a:ea typeface="Helvetica Neue" pitchFamily="34" charset="-122"/>
                <a:cs typeface="Helvetica Neue" pitchFamily="34" charset="-120"/>
              </a:rPr>
              <a:t>REPEATED + PREDICTABLE + PRIVATE = LOCAL ADVANTAGE</a:t>
            </a:r>
            <a:endParaRPr lang="en-US" sz="16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indefinite"/>
                      </p:stCondLst>
                      <p:childTnLst>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26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52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78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30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56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82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08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34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60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86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312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13.xml><?xml version="1.0" encoding="utf-8"?>
<p:sld xmlns:a="http://schemas.openxmlformats.org/drawingml/2006/main" xmlns:p="http://schemas.openxmlformats.org/presentationml/2006/main" xmlns:p14="http://schemas.microsoft.com/office/powerpoint/2010/main">
  <p:cSld name="Slide 13">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Where the cloud still wins</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13</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38912" y="1389888"/>
            <a:ext cx="3438144" cy="3493008"/>
          </a:xfrm>
          <a:prstGeom prst="roundRect">
            <a:avLst>
              <a:gd name="adj" fmla="val 2128"/>
            </a:avLst>
          </a:prstGeom>
          <a:solidFill>
            <a:srgbClr val="14151F"/>
          </a:solidFill>
          <a:ln w="12700">
            <a:solidFill>
              <a:srgbClr val="2A2B38"/>
            </a:solidFill>
            <a:prstDash val="solid"/>
          </a:ln>
        </p:spPr>
      </p:sp>
      <p:sp>
        <p:nvSpPr>
          <p:cNvPr id="7" name="Text 5"/>
          <p:cNvSpPr txBox="1"/>
          <p:nvPr/>
        </p:nvSpPr>
        <p:spPr>
          <a:xfrm>
            <a:off x="640080" y="157276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BCA7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1956816"/>
            <a:ext cx="30358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FRONTIER QUALITY</a:t>
            </a:r>
            <a:endParaRPr lang="en-US" sz="1900" dirty="0"/>
          </a:p>
        </p:txBody>
      </p:sp>
      <p:sp>
        <p:nvSpPr>
          <p:cNvPr id="9" name="Text 7"/>
          <p:cNvSpPr txBox="1"/>
          <p:nvPr/>
        </p:nvSpPr>
        <p:spPr>
          <a:xfrm>
            <a:off x="640080" y="2414016"/>
            <a:ext cx="3035808" cy="230428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The hardest reasoning, coding, and multimodal tasks.</a:t>
            </a:r>
            <a:endParaRPr lang="en-US" sz="1350" dirty="0"/>
          </a:p>
        </p:txBody>
      </p:sp>
      <p:sp>
        <p:nvSpPr>
          <p:cNvPr id="10" name="Text 8"/>
          <p:cNvSpPr txBox="1"/>
          <p:nvPr/>
        </p:nvSpPr>
        <p:spPr>
          <a:xfrm>
            <a:off x="640080" y="4151376"/>
            <a:ext cx="3017520" cy="384048"/>
          </a:xfrm>
          <a:prstGeom prst="rect">
            <a:avLst/>
          </a:prstGeom>
          <a:noFill/>
          <a:ln/>
        </p:spPr>
        <p:txBody>
          <a:bodyPr wrap="square" lIns="0" tIns="0" rIns="0" bIns="0" rtlCol="0" anchor="ctr">
            <a:normAutofit/>
          </a:bodyPr>
          <a:lstStyle/>
          <a:p>
            <a:pPr algn="r" indent="0" marL="0">
              <a:lnSpc>
                <a:spcPct val="100000"/>
              </a:lnSpc>
              <a:buNone/>
            </a:pPr>
            <a:r>
              <a:rPr lang="en-US" sz="2000" b="1" dirty="0">
                <a:solidFill>
                  <a:srgbClr val="BCA7FF"/>
                </a:solidFill>
                <a:latin typeface="Helvetica Neue" pitchFamily="34" charset="0"/>
                <a:ea typeface="Helvetica Neue" pitchFamily="34" charset="-122"/>
                <a:cs typeface="Helvetica Neue" pitchFamily="34" charset="-120"/>
              </a:rPr>
              <a:t>HARD</a:t>
            </a:r>
            <a:endParaRPr lang="en-US" sz="2000" dirty="0"/>
          </a:p>
        </p:txBody>
      </p:sp>
      <p:sp>
        <p:nvSpPr>
          <p:cNvPr id="11" name="Shape 9"/>
          <p:cNvSpPr/>
          <p:nvPr/>
        </p:nvSpPr>
        <p:spPr>
          <a:xfrm>
            <a:off x="4206240" y="1389888"/>
            <a:ext cx="3438144" cy="3493008"/>
          </a:xfrm>
          <a:prstGeom prst="roundRect">
            <a:avLst>
              <a:gd name="adj" fmla="val 2128"/>
            </a:avLst>
          </a:prstGeom>
          <a:solidFill>
            <a:srgbClr val="14151F"/>
          </a:solidFill>
          <a:ln w="12700">
            <a:solidFill>
              <a:srgbClr val="2A2B38"/>
            </a:solidFill>
            <a:prstDash val="solid"/>
          </a:ln>
        </p:spPr>
      </p:sp>
      <p:sp>
        <p:nvSpPr>
          <p:cNvPr id="12" name="Text 10"/>
          <p:cNvSpPr txBox="1"/>
          <p:nvPr/>
        </p:nvSpPr>
        <p:spPr>
          <a:xfrm>
            <a:off x="4407408" y="157276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02</a:t>
            </a:r>
            <a:endParaRPr lang="en-US" sz="1300" dirty="0"/>
          </a:p>
        </p:txBody>
      </p:sp>
      <p:sp>
        <p:nvSpPr>
          <p:cNvPr id="13" name="Text 11"/>
          <p:cNvSpPr txBox="1"/>
          <p:nvPr/>
        </p:nvSpPr>
        <p:spPr>
          <a:xfrm>
            <a:off x="4407408" y="1956816"/>
            <a:ext cx="30358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ELASTIC SCALE</a:t>
            </a:r>
            <a:endParaRPr lang="en-US" sz="1900" dirty="0"/>
          </a:p>
        </p:txBody>
      </p:sp>
      <p:sp>
        <p:nvSpPr>
          <p:cNvPr id="14" name="Text 12"/>
          <p:cNvSpPr txBox="1"/>
          <p:nvPr/>
        </p:nvSpPr>
        <p:spPr>
          <a:xfrm>
            <a:off x="4407408" y="2414016"/>
            <a:ext cx="3035808" cy="230428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Large bursts without buying idle hardware in advance.</a:t>
            </a:r>
            <a:endParaRPr lang="en-US" sz="1350" dirty="0"/>
          </a:p>
        </p:txBody>
      </p:sp>
      <p:sp>
        <p:nvSpPr>
          <p:cNvPr id="15" name="Text 13"/>
          <p:cNvSpPr txBox="1"/>
          <p:nvPr/>
        </p:nvSpPr>
        <p:spPr>
          <a:xfrm>
            <a:off x="4407408" y="4151376"/>
            <a:ext cx="3017520" cy="384048"/>
          </a:xfrm>
          <a:prstGeom prst="rect">
            <a:avLst/>
          </a:prstGeom>
          <a:noFill/>
          <a:ln/>
        </p:spPr>
        <p:txBody>
          <a:bodyPr wrap="square" lIns="0" tIns="0" rIns="0" bIns="0" rtlCol="0" anchor="ctr">
            <a:normAutofit/>
          </a:bodyPr>
          <a:lstStyle/>
          <a:p>
            <a:pPr algn="r" indent="0" marL="0">
              <a:lnSpc>
                <a:spcPct val="100000"/>
              </a:lnSpc>
              <a:buNone/>
            </a:pPr>
            <a:r>
              <a:rPr lang="en-US" sz="2000" b="1" dirty="0">
                <a:solidFill>
                  <a:srgbClr val="4777FF"/>
                </a:solidFill>
                <a:latin typeface="Helvetica Neue" pitchFamily="34" charset="0"/>
                <a:ea typeface="Helvetica Neue" pitchFamily="34" charset="-122"/>
                <a:cs typeface="Helvetica Neue" pitchFamily="34" charset="-120"/>
              </a:rPr>
              <a:t>BURST</a:t>
            </a:r>
            <a:endParaRPr lang="en-US" sz="2000" dirty="0"/>
          </a:p>
        </p:txBody>
      </p:sp>
      <p:sp>
        <p:nvSpPr>
          <p:cNvPr id="16" name="Shape 14"/>
          <p:cNvSpPr/>
          <p:nvPr/>
        </p:nvSpPr>
        <p:spPr>
          <a:xfrm>
            <a:off x="7973568" y="1389888"/>
            <a:ext cx="3438144" cy="3493008"/>
          </a:xfrm>
          <a:prstGeom prst="roundRect">
            <a:avLst>
              <a:gd name="adj" fmla="val 2128"/>
            </a:avLst>
          </a:prstGeom>
          <a:solidFill>
            <a:srgbClr val="14151F"/>
          </a:solidFill>
          <a:ln w="12700">
            <a:solidFill>
              <a:srgbClr val="2A2B38"/>
            </a:solidFill>
            <a:prstDash val="solid"/>
          </a:ln>
        </p:spPr>
      </p:sp>
      <p:sp>
        <p:nvSpPr>
          <p:cNvPr id="17" name="Text 15"/>
          <p:cNvSpPr txBox="1"/>
          <p:nvPr/>
        </p:nvSpPr>
        <p:spPr>
          <a:xfrm>
            <a:off x="8174736" y="157276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03</a:t>
            </a:r>
            <a:endParaRPr lang="en-US" sz="1300" dirty="0"/>
          </a:p>
        </p:txBody>
      </p:sp>
      <p:sp>
        <p:nvSpPr>
          <p:cNvPr id="18" name="Text 16"/>
          <p:cNvSpPr txBox="1"/>
          <p:nvPr/>
        </p:nvSpPr>
        <p:spPr>
          <a:xfrm>
            <a:off x="8174736" y="1956816"/>
            <a:ext cx="30358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FRESHNESS + TOOLS</a:t>
            </a:r>
            <a:endParaRPr lang="en-US" sz="1900" dirty="0"/>
          </a:p>
        </p:txBody>
      </p:sp>
      <p:sp>
        <p:nvSpPr>
          <p:cNvPr id="19" name="Text 17"/>
          <p:cNvSpPr txBox="1"/>
          <p:nvPr/>
        </p:nvSpPr>
        <p:spPr>
          <a:xfrm>
            <a:off x="8174736" y="2414016"/>
            <a:ext cx="3035808" cy="230428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Current information, managed search, and maintained integrations.</a:t>
            </a:r>
            <a:endParaRPr lang="en-US" sz="1350" dirty="0"/>
          </a:p>
        </p:txBody>
      </p:sp>
      <p:sp>
        <p:nvSpPr>
          <p:cNvPr id="20" name="Text 18"/>
          <p:cNvSpPr txBox="1"/>
          <p:nvPr/>
        </p:nvSpPr>
        <p:spPr>
          <a:xfrm>
            <a:off x="8174736" y="4151376"/>
            <a:ext cx="3017520" cy="384048"/>
          </a:xfrm>
          <a:prstGeom prst="rect">
            <a:avLst/>
          </a:prstGeom>
          <a:noFill/>
          <a:ln/>
        </p:spPr>
        <p:txBody>
          <a:bodyPr wrap="square" lIns="0" tIns="0" rIns="0" bIns="0" rtlCol="0" anchor="ctr">
            <a:normAutofit/>
          </a:bodyPr>
          <a:lstStyle/>
          <a:p>
            <a:pPr algn="r" indent="0" marL="0">
              <a:lnSpc>
                <a:spcPct val="100000"/>
              </a:lnSpc>
              <a:buNone/>
            </a:pPr>
            <a:r>
              <a:rPr lang="en-US" sz="2000" b="1" dirty="0">
                <a:solidFill>
                  <a:srgbClr val="D88752"/>
                </a:solidFill>
                <a:latin typeface="Helvetica Neue" pitchFamily="34" charset="0"/>
                <a:ea typeface="Helvetica Neue" pitchFamily="34" charset="-122"/>
                <a:cs typeface="Helvetica Neue" pitchFamily="34" charset="-120"/>
              </a:rPr>
              <a:t>CURRENT</a:t>
            </a:r>
            <a:endParaRPr lang="en-US" sz="2000" dirty="0"/>
          </a:p>
        </p:txBody>
      </p:sp>
      <p:sp>
        <p:nvSpPr>
          <p:cNvPr id="21" name="Shape 19"/>
          <p:cNvSpPr/>
          <p:nvPr/>
        </p:nvSpPr>
        <p:spPr>
          <a:xfrm>
            <a:off x="438912" y="5184648"/>
            <a:ext cx="11082528" cy="804672"/>
          </a:xfrm>
          <a:prstGeom prst="roundRect">
            <a:avLst>
              <a:gd name="adj" fmla="val 6818"/>
            </a:avLst>
          </a:prstGeom>
          <a:solidFill>
            <a:srgbClr val="20212B"/>
          </a:solidFill>
          <a:ln w="12700">
            <a:solidFill>
              <a:srgbClr val="2A2B38"/>
            </a:solidFill>
            <a:prstDash val="solid"/>
          </a:ln>
        </p:spPr>
      </p:sp>
      <p:sp>
        <p:nvSpPr>
          <p:cNvPr id="22" name="Text 20"/>
          <p:cNvSpPr txBox="1"/>
          <p:nvPr/>
        </p:nvSpPr>
        <p:spPr>
          <a:xfrm>
            <a:off x="749808" y="5394960"/>
            <a:ext cx="4846320" cy="310896"/>
          </a:xfrm>
          <a:prstGeom prst="rect">
            <a:avLst/>
          </a:prstGeom>
          <a:noFill/>
          <a:ln/>
        </p:spPr>
        <p:txBody>
          <a:bodyPr wrap="square" lIns="0" tIns="0" rIns="0" bIns="0" rtlCol="0" anchor="ctr">
            <a:normAutofit/>
          </a:bodyPr>
          <a:lstStyle/>
          <a:p>
            <a:pPr algn="l" indent="0" marL="0">
              <a:lnSpc>
                <a:spcPct val="100000"/>
              </a:lnSpc>
              <a:buNone/>
            </a:pPr>
            <a:r>
              <a:rPr lang="en-US" sz="2100" b="1" dirty="0">
                <a:solidFill>
                  <a:srgbClr val="BCA7FF"/>
                </a:solidFill>
                <a:latin typeface="Helvetica Neue" pitchFamily="34" charset="0"/>
                <a:ea typeface="Helvetica Neue" pitchFamily="34" charset="-122"/>
                <a:cs typeface="Helvetica Neue" pitchFamily="34" charset="-120"/>
              </a:rPr>
              <a:t>OWN THE ROUTINE.</a:t>
            </a:r>
            <a:endParaRPr lang="en-US" sz="2100" dirty="0"/>
          </a:p>
        </p:txBody>
      </p:sp>
      <p:sp>
        <p:nvSpPr>
          <p:cNvPr id="23" name="Text 21"/>
          <p:cNvSpPr txBox="1"/>
          <p:nvPr/>
        </p:nvSpPr>
        <p:spPr>
          <a:xfrm>
            <a:off x="6144768" y="5394960"/>
            <a:ext cx="4992624" cy="310896"/>
          </a:xfrm>
          <a:prstGeom prst="rect">
            <a:avLst/>
          </a:prstGeom>
          <a:noFill/>
          <a:ln/>
        </p:spPr>
        <p:txBody>
          <a:bodyPr wrap="square" lIns="0" tIns="0" rIns="0" bIns="0" rtlCol="0" anchor="ctr">
            <a:normAutofit/>
          </a:bodyPr>
          <a:lstStyle/>
          <a:p>
            <a:pPr algn="r" indent="0" marL="0">
              <a:lnSpc>
                <a:spcPct val="100000"/>
              </a:lnSpc>
              <a:buNone/>
            </a:pPr>
            <a:r>
              <a:rPr lang="en-US" sz="2100" b="1" dirty="0">
                <a:solidFill>
                  <a:srgbClr val="4777FF"/>
                </a:solidFill>
                <a:latin typeface="Helvetica Neue" pitchFamily="34" charset="0"/>
                <a:ea typeface="Helvetica Neue" pitchFamily="34" charset="-122"/>
                <a:cs typeface="Helvetica Neue" pitchFamily="34" charset="-120"/>
              </a:rPr>
              <a:t>RENT THE EXCEPTIONAL.</a:t>
            </a:r>
            <a:endParaRPr lang="en-US" sz="2100" dirty="0"/>
          </a:p>
        </p:txBody>
      </p:sp>
      <p:sp>
        <p:nvSpPr>
          <p:cNvPr id="24" name="Text 22"/>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Cloud is expensive when constant; local is expensive when idle.</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indefinite"/>
                      </p:stCondLst>
                      <p:childTnLst>
                        <p:par>
                          <p:cTn id="52" presetID="10"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2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52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78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04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30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5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82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208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34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60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14.xml><?xml version="1.0" encoding="utf-8"?>
<p:sld xmlns:a="http://schemas.openxmlformats.org/drawingml/2006/main" xmlns:p="http://schemas.openxmlformats.org/presentationml/2006/main" xmlns:p14="http://schemas.microsoft.com/office/powerpoint/2010/main">
  <p:cSld name="Slide 14">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The economics are fixed cost vs. variable cost</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14</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53312"/>
            <a:ext cx="3767328" cy="4498848"/>
          </a:xfrm>
          <a:prstGeom prst="roundRect">
            <a:avLst>
              <a:gd name="adj" fmla="val 1942"/>
            </a:avLst>
          </a:prstGeom>
          <a:solidFill>
            <a:srgbClr val="090A10"/>
          </a:solidFill>
          <a:ln w="12700">
            <a:solidFill>
              <a:srgbClr val="090A10"/>
            </a:solidFill>
            <a:prstDash val="solid"/>
          </a:ln>
        </p:spPr>
      </p:sp>
      <p:sp>
        <p:nvSpPr>
          <p:cNvPr id="7" name="Text 5"/>
          <p:cNvSpPr txBox="1"/>
          <p:nvPr/>
        </p:nvSpPr>
        <p:spPr>
          <a:xfrm>
            <a:off x="713232" y="1664208"/>
            <a:ext cx="10972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a:t>
            </a:r>
            <a:endParaRPr lang="en-US" sz="1050" dirty="0"/>
          </a:p>
        </p:txBody>
      </p:sp>
      <p:sp>
        <p:nvSpPr>
          <p:cNvPr id="8" name="Text 6"/>
          <p:cNvSpPr txBox="1"/>
          <p:nvPr/>
        </p:nvSpPr>
        <p:spPr>
          <a:xfrm>
            <a:off x="713232" y="2157984"/>
            <a:ext cx="3090672" cy="1664208"/>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HARDWARE</a:t>
            </a:r>
            <a:endParaRPr lang="en-US" sz="2700" dirty="0"/>
          </a:p>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 POWER</a:t>
            </a:r>
            <a:endParaRPr lang="en-US" sz="2700" dirty="0"/>
          </a:p>
          <a:p>
            <a:pPr algn="l" indent="0" marL="0">
              <a:lnSpc>
                <a:spcPct val="100000"/>
              </a:lnSpc>
              <a:buNone/>
            </a:pPr>
            <a:r>
              <a:rPr lang="en-US" sz="2700" b="1" dirty="0">
                <a:solidFill>
                  <a:srgbClr val="FFFFFF"/>
                </a:solidFill>
                <a:latin typeface="Helvetica Neue" pitchFamily="34" charset="0"/>
                <a:ea typeface="Helvetica Neue" pitchFamily="34" charset="-122"/>
                <a:cs typeface="Helvetica Neue" pitchFamily="34" charset="-120"/>
              </a:rPr>
              <a:t>+ OPERATIONS</a:t>
            </a:r>
            <a:endParaRPr lang="en-US" sz="2700" dirty="0"/>
          </a:p>
        </p:txBody>
      </p:sp>
      <p:sp>
        <p:nvSpPr>
          <p:cNvPr id="9" name="Text 7"/>
          <p:cNvSpPr txBox="1"/>
          <p:nvPr/>
        </p:nvSpPr>
        <p:spPr>
          <a:xfrm>
            <a:off x="713232" y="4334256"/>
            <a:ext cx="2926080" cy="822960"/>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7B3"/>
                </a:solidFill>
                <a:latin typeface="Helvetica Neue" pitchFamily="34" charset="0"/>
                <a:ea typeface="Helvetica Neue" pitchFamily="34" charset="-122"/>
                <a:cs typeface="Helvetica Neue" pitchFamily="34" charset="-120"/>
              </a:rPr>
              <a:t>High upfront cost</a:t>
            </a:r>
            <a:endParaRPr lang="en-US" sz="1550" dirty="0"/>
          </a:p>
          <a:p>
            <a:pPr algn="l" indent="0" marL="0">
              <a:lnSpc>
                <a:spcPct val="100000"/>
              </a:lnSpc>
              <a:buNone/>
            </a:pPr>
            <a:r>
              <a:rPr lang="en-US" sz="1550" dirty="0">
                <a:solidFill>
                  <a:srgbClr val="A8A7B3"/>
                </a:solidFill>
                <a:latin typeface="Helvetica Neue" pitchFamily="34" charset="0"/>
                <a:ea typeface="Helvetica Neue" pitchFamily="34" charset="-122"/>
                <a:cs typeface="Helvetica Neue" pitchFamily="34" charset="-120"/>
              </a:rPr>
              <a:t>Low marginal request cost</a:t>
            </a:r>
            <a:endParaRPr lang="en-US" sz="1550" dirty="0"/>
          </a:p>
        </p:txBody>
      </p:sp>
      <p:sp>
        <p:nvSpPr>
          <p:cNvPr id="10" name="Shape 8"/>
          <p:cNvSpPr/>
          <p:nvPr/>
        </p:nvSpPr>
        <p:spPr>
          <a:xfrm>
            <a:off x="4443984" y="1353312"/>
            <a:ext cx="7296912" cy="4498848"/>
          </a:xfrm>
          <a:prstGeom prst="roundRect">
            <a:avLst>
              <a:gd name="adj" fmla="val 1626"/>
            </a:avLst>
          </a:prstGeom>
          <a:solidFill>
            <a:srgbClr val="FFFFFF"/>
          </a:solidFill>
          <a:ln w="12700">
            <a:solidFill>
              <a:srgbClr val="D8D3C8"/>
            </a:solidFill>
            <a:prstDash val="solid"/>
          </a:ln>
        </p:spPr>
      </p:sp>
      <p:sp>
        <p:nvSpPr>
          <p:cNvPr id="11" name="Text 9"/>
          <p:cNvSpPr txBox="1"/>
          <p:nvPr/>
        </p:nvSpPr>
        <p:spPr>
          <a:xfrm>
            <a:off x="4736592" y="1664208"/>
            <a:ext cx="274320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4777FF"/>
                </a:solidFill>
                <a:latin typeface="Helvetica Neue" pitchFamily="34" charset="0"/>
                <a:ea typeface="Helvetica Neue" pitchFamily="34" charset="-122"/>
                <a:cs typeface="Helvetica Neue" pitchFamily="34" charset="-120"/>
              </a:rPr>
              <a:t>ILLUSTRATIVE COST CURVES</a:t>
            </a:r>
            <a:endParaRPr lang="en-US" sz="1050" dirty="0"/>
          </a:p>
        </p:txBody>
      </p:sp>
      <p:sp>
        <p:nvSpPr>
          <p:cNvPr id="12" name="Shape 10"/>
          <p:cNvSpPr/>
          <p:nvPr/>
        </p:nvSpPr>
        <p:spPr>
          <a:xfrm>
            <a:off x="4882896" y="5138928"/>
            <a:ext cx="6236208" cy="0"/>
          </a:xfrm>
          <a:prstGeom prst="line">
            <a:avLst/>
          </a:prstGeom>
          <a:noFill/>
          <a:ln w="19050">
            <a:solidFill>
              <a:srgbClr val="6F6F7A"/>
            </a:solidFill>
            <a:prstDash val="solid"/>
          </a:ln>
        </p:spPr>
      </p:sp>
      <p:sp>
        <p:nvSpPr>
          <p:cNvPr id="13" name="Shape 11"/>
          <p:cNvSpPr/>
          <p:nvPr/>
        </p:nvSpPr>
        <p:spPr>
          <a:xfrm>
            <a:off x="4882896" y="2267712"/>
            <a:ext cx="0" cy="2871216"/>
          </a:xfrm>
          <a:prstGeom prst="line">
            <a:avLst/>
          </a:prstGeom>
          <a:noFill/>
          <a:ln w="19050">
            <a:solidFill>
              <a:srgbClr val="6F6F7A"/>
            </a:solidFill>
            <a:prstDash val="solid"/>
          </a:ln>
        </p:spPr>
      </p:sp>
      <p:sp>
        <p:nvSpPr>
          <p:cNvPr id="14" name="Shape 12"/>
          <p:cNvSpPr/>
          <p:nvPr/>
        </p:nvSpPr>
        <p:spPr>
          <a:xfrm flipV="1">
            <a:off x="5138928" y="2615184"/>
            <a:ext cx="5413248" cy="2011680"/>
          </a:xfrm>
          <a:prstGeom prst="line">
            <a:avLst/>
          </a:prstGeom>
          <a:noFill/>
          <a:ln w="38100">
            <a:solidFill>
              <a:srgbClr val="4777FF"/>
            </a:solidFill>
            <a:prstDash val="solid"/>
          </a:ln>
        </p:spPr>
      </p:sp>
      <p:sp>
        <p:nvSpPr>
          <p:cNvPr id="15" name="Shape 13"/>
          <p:cNvSpPr/>
          <p:nvPr/>
        </p:nvSpPr>
        <p:spPr>
          <a:xfrm>
            <a:off x="5138928" y="3584448"/>
            <a:ext cx="5413248" cy="310896"/>
          </a:xfrm>
          <a:prstGeom prst="line">
            <a:avLst/>
          </a:prstGeom>
          <a:noFill/>
          <a:ln w="38100">
            <a:solidFill>
              <a:srgbClr val="8E63FF"/>
            </a:solidFill>
            <a:prstDash val="solid"/>
          </a:ln>
        </p:spPr>
      </p:sp>
      <p:sp>
        <p:nvSpPr>
          <p:cNvPr id="16" name="Text 14"/>
          <p:cNvSpPr txBox="1"/>
          <p:nvPr/>
        </p:nvSpPr>
        <p:spPr>
          <a:xfrm>
            <a:off x="9921240" y="2359152"/>
            <a:ext cx="960120" cy="292608"/>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4777FF"/>
                </a:solidFill>
                <a:latin typeface="Helvetica Neue" pitchFamily="34" charset="0"/>
                <a:ea typeface="Helvetica Neue" pitchFamily="34" charset="-122"/>
                <a:cs typeface="Helvetica Neue" pitchFamily="34" charset="-120"/>
              </a:rPr>
              <a:t>CLOUD</a:t>
            </a:r>
            <a:endParaRPr lang="en-US" sz="1350" dirty="0"/>
          </a:p>
        </p:txBody>
      </p:sp>
      <p:sp>
        <p:nvSpPr>
          <p:cNvPr id="17" name="Text 15"/>
          <p:cNvSpPr txBox="1"/>
          <p:nvPr/>
        </p:nvSpPr>
        <p:spPr>
          <a:xfrm>
            <a:off x="9921240" y="3858768"/>
            <a:ext cx="960120" cy="292608"/>
          </a:xfrm>
          <a:prstGeom prst="rect">
            <a:avLst/>
          </a:prstGeom>
          <a:noFill/>
          <a:ln/>
        </p:spPr>
        <p:txBody>
          <a:bodyPr wrap="square" lIns="0" tIns="0" rIns="0" bIns="0" rtlCol="0" anchor="ctr">
            <a:normAutofit/>
          </a:bodyPr>
          <a:lstStyle/>
          <a:p>
            <a:pPr algn="l" indent="0" marL="0">
              <a:lnSpc>
                <a:spcPct val="100000"/>
              </a:lnSpc>
              <a:buNone/>
            </a:pPr>
            <a:r>
              <a:rPr lang="en-US" sz="1350" b="1" dirty="0">
                <a:solidFill>
                  <a:srgbClr val="8E63FF"/>
                </a:solidFill>
                <a:latin typeface="Helvetica Neue" pitchFamily="34" charset="0"/>
                <a:ea typeface="Helvetica Neue" pitchFamily="34" charset="-122"/>
                <a:cs typeface="Helvetica Neue" pitchFamily="34" charset="-120"/>
              </a:rPr>
              <a:t>LOCAL</a:t>
            </a:r>
            <a:endParaRPr lang="en-US" sz="1350" dirty="0"/>
          </a:p>
        </p:txBody>
      </p:sp>
      <p:sp>
        <p:nvSpPr>
          <p:cNvPr id="18" name="Text 16"/>
          <p:cNvSpPr txBox="1"/>
          <p:nvPr/>
        </p:nvSpPr>
        <p:spPr>
          <a:xfrm rot="16200000">
            <a:off x="4443984" y="2816352"/>
            <a:ext cx="438912" cy="102412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6F6F7A"/>
                </a:solidFill>
                <a:latin typeface="Helvetica Neue" pitchFamily="34" charset="0"/>
                <a:ea typeface="Helvetica Neue" pitchFamily="34" charset="-122"/>
                <a:cs typeface="Helvetica Neue" pitchFamily="34" charset="-120"/>
              </a:rPr>
              <a:t>TOTAL COST</a:t>
            </a:r>
            <a:endParaRPr lang="en-US" sz="1000" dirty="0"/>
          </a:p>
        </p:txBody>
      </p:sp>
      <p:sp>
        <p:nvSpPr>
          <p:cNvPr id="19" name="Text 17"/>
          <p:cNvSpPr txBox="1"/>
          <p:nvPr/>
        </p:nvSpPr>
        <p:spPr>
          <a:xfrm>
            <a:off x="7360920" y="5248656"/>
            <a:ext cx="1517904" cy="25603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6F6F7A"/>
                </a:solidFill>
                <a:latin typeface="Helvetica Neue" pitchFamily="34" charset="0"/>
                <a:ea typeface="Helvetica Neue" pitchFamily="34" charset="-122"/>
                <a:cs typeface="Helvetica Neue" pitchFamily="34" charset="-120"/>
              </a:rPr>
              <a:t>USAGE →</a:t>
            </a:r>
            <a:endParaRPr lang="en-US" sz="1000" dirty="0"/>
          </a:p>
        </p:txBody>
      </p:sp>
      <p:sp>
        <p:nvSpPr>
          <p:cNvPr id="20" name="Text 18"/>
          <p:cNvSpPr txBox="1"/>
          <p:nvPr/>
        </p:nvSpPr>
        <p:spPr>
          <a:xfrm>
            <a:off x="6144768" y="3675888"/>
            <a:ext cx="2542032" cy="49377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090A10"/>
                </a:solidFill>
                <a:latin typeface="Helvetica Neue" pitchFamily="34" charset="0"/>
                <a:ea typeface="Helvetica Neue" pitchFamily="34" charset="-122"/>
                <a:cs typeface="Helvetica Neue" pitchFamily="34" charset="-120"/>
              </a:rPr>
              <a:t>break-even depends</a:t>
            </a:r>
            <a:endParaRPr lang="en-US" sz="1250" dirty="0"/>
          </a:p>
          <a:p>
            <a:pPr algn="ctr" indent="0" marL="0">
              <a:lnSpc>
                <a:spcPct val="100000"/>
              </a:lnSpc>
              <a:buNone/>
            </a:pPr>
            <a:r>
              <a:rPr lang="en-US" sz="1250" b="1" dirty="0">
                <a:solidFill>
                  <a:srgbClr val="090A10"/>
                </a:solidFill>
                <a:latin typeface="Helvetica Neue" pitchFamily="34" charset="0"/>
                <a:ea typeface="Helvetica Neue" pitchFamily="34" charset="-122"/>
                <a:cs typeface="Helvetica Neue" pitchFamily="34" charset="-120"/>
              </a:rPr>
              <a:t>on utilization</a:t>
            </a:r>
            <a:endParaRPr lang="en-US" sz="1250" dirty="0"/>
          </a:p>
        </p:txBody>
      </p:sp>
      <p:sp>
        <p:nvSpPr>
          <p:cNvPr id="21" name="Text 1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If hardware sits idle, local can be more expensive—not less.</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15.xml><?xml version="1.0" encoding="utf-8"?>
<p:sld xmlns:a="http://schemas.openxmlformats.org/drawingml/2006/main" xmlns:p="http://schemas.openxmlformats.org/presentationml/2006/main" xmlns:p14="http://schemas.microsoft.com/office/powerpoint/2010/main">
  <p:cSld name="Slide 15">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When does local actually pay off?</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15</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57200" y="1335024"/>
            <a:ext cx="7479792" cy="822960"/>
          </a:xfrm>
          <a:prstGeom prst="roundRect">
            <a:avLst>
              <a:gd name="adj" fmla="val 5556"/>
            </a:avLst>
          </a:prstGeom>
          <a:solidFill>
            <a:srgbClr val="FFFFFF"/>
          </a:solidFill>
          <a:ln w="12700">
            <a:solidFill>
              <a:srgbClr val="D8D3C8"/>
            </a:solidFill>
            <a:prstDash val="solid"/>
          </a:ln>
        </p:spPr>
      </p:sp>
      <p:sp>
        <p:nvSpPr>
          <p:cNvPr id="7" name="Text 5"/>
          <p:cNvSpPr txBox="1"/>
          <p:nvPr/>
        </p:nvSpPr>
        <p:spPr>
          <a:xfrm>
            <a:off x="694944" y="1481328"/>
            <a:ext cx="420624"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8E63FF"/>
                </a:solidFill>
                <a:latin typeface="Helvetica Neue" pitchFamily="34" charset="0"/>
                <a:ea typeface="Helvetica Neue" pitchFamily="34" charset="-122"/>
                <a:cs typeface="Helvetica Neue" pitchFamily="34" charset="-120"/>
              </a:rPr>
              <a:t>✓</a:t>
            </a:r>
            <a:endParaRPr lang="en-US" sz="2300" dirty="0"/>
          </a:p>
        </p:txBody>
      </p:sp>
      <p:sp>
        <p:nvSpPr>
          <p:cNvPr id="8" name="Text 6"/>
          <p:cNvSpPr txBox="1"/>
          <p:nvPr/>
        </p:nvSpPr>
        <p:spPr>
          <a:xfrm>
            <a:off x="1298448" y="1490472"/>
            <a:ext cx="2103120" cy="310896"/>
          </a:xfrm>
          <a:prstGeom prst="rect">
            <a:avLst/>
          </a:prstGeom>
          <a:noFill/>
          <a:ln/>
        </p:spPr>
        <p:txBody>
          <a:bodyPr wrap="square" lIns="0" tIns="0" rIns="0" bIns="0" rtlCol="0" anchor="ctr">
            <a:normAutofit/>
          </a:bodyPr>
          <a:lstStyle/>
          <a:p>
            <a:pPr algn="l" indent="0" marL="0">
              <a:lnSpc>
                <a:spcPct val="100000"/>
              </a:lnSpc>
              <a:buNone/>
            </a:pPr>
            <a:r>
              <a:rPr lang="en-US" sz="1750" b="1" dirty="0">
                <a:solidFill>
                  <a:srgbClr val="090A10"/>
                </a:solidFill>
                <a:latin typeface="Helvetica Neue" pitchFamily="34" charset="0"/>
                <a:ea typeface="Helvetica Neue" pitchFamily="34" charset="-122"/>
                <a:cs typeface="Helvetica Neue" pitchFamily="34" charset="-120"/>
              </a:rPr>
              <a:t>STEADY VOLUME</a:t>
            </a:r>
            <a:endParaRPr lang="en-US" sz="1750" dirty="0"/>
          </a:p>
        </p:txBody>
      </p:sp>
      <p:sp>
        <p:nvSpPr>
          <p:cNvPr id="9" name="Text 7"/>
          <p:cNvSpPr txBox="1"/>
          <p:nvPr/>
        </p:nvSpPr>
        <p:spPr>
          <a:xfrm>
            <a:off x="3602736" y="1481328"/>
            <a:ext cx="3968496" cy="3474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Will the machine stay busy?</a:t>
            </a:r>
            <a:endParaRPr lang="en-US" sz="1600" dirty="0"/>
          </a:p>
        </p:txBody>
      </p:sp>
      <p:sp>
        <p:nvSpPr>
          <p:cNvPr id="10" name="Shape 8"/>
          <p:cNvSpPr/>
          <p:nvPr/>
        </p:nvSpPr>
        <p:spPr>
          <a:xfrm>
            <a:off x="457200" y="2395728"/>
            <a:ext cx="7479792" cy="822960"/>
          </a:xfrm>
          <a:prstGeom prst="roundRect">
            <a:avLst>
              <a:gd name="adj" fmla="val 5556"/>
            </a:avLst>
          </a:prstGeom>
          <a:solidFill>
            <a:srgbClr val="F0ECE4"/>
          </a:solidFill>
          <a:ln w="12700">
            <a:solidFill>
              <a:srgbClr val="D8D3C8"/>
            </a:solidFill>
            <a:prstDash val="solid"/>
          </a:ln>
        </p:spPr>
      </p:sp>
      <p:sp>
        <p:nvSpPr>
          <p:cNvPr id="11" name="Text 9"/>
          <p:cNvSpPr txBox="1"/>
          <p:nvPr/>
        </p:nvSpPr>
        <p:spPr>
          <a:xfrm>
            <a:off x="694944" y="2542032"/>
            <a:ext cx="420624"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4777FF"/>
                </a:solidFill>
                <a:latin typeface="Helvetica Neue" pitchFamily="34" charset="0"/>
                <a:ea typeface="Helvetica Neue" pitchFamily="34" charset="-122"/>
                <a:cs typeface="Helvetica Neue" pitchFamily="34" charset="-120"/>
              </a:rPr>
              <a:t>✓</a:t>
            </a:r>
            <a:endParaRPr lang="en-US" sz="2300" dirty="0"/>
          </a:p>
        </p:txBody>
      </p:sp>
      <p:sp>
        <p:nvSpPr>
          <p:cNvPr id="12" name="Text 10"/>
          <p:cNvSpPr txBox="1"/>
          <p:nvPr/>
        </p:nvSpPr>
        <p:spPr>
          <a:xfrm>
            <a:off x="1298448" y="2551176"/>
            <a:ext cx="2103120" cy="310896"/>
          </a:xfrm>
          <a:prstGeom prst="rect">
            <a:avLst/>
          </a:prstGeom>
          <a:noFill/>
          <a:ln/>
        </p:spPr>
        <p:txBody>
          <a:bodyPr wrap="square" lIns="0" tIns="0" rIns="0" bIns="0" rtlCol="0" anchor="ctr">
            <a:normAutofit/>
          </a:bodyPr>
          <a:lstStyle/>
          <a:p>
            <a:pPr algn="l" indent="0" marL="0">
              <a:lnSpc>
                <a:spcPct val="100000"/>
              </a:lnSpc>
              <a:buNone/>
            </a:pPr>
            <a:r>
              <a:rPr lang="en-US" sz="1750" b="1" dirty="0">
                <a:solidFill>
                  <a:srgbClr val="090A10"/>
                </a:solidFill>
                <a:latin typeface="Helvetica Neue" pitchFamily="34" charset="0"/>
                <a:ea typeface="Helvetica Neue" pitchFamily="34" charset="-122"/>
                <a:cs typeface="Helvetica Neue" pitchFamily="34" charset="-120"/>
              </a:rPr>
              <a:t>MODEL FIT</a:t>
            </a:r>
            <a:endParaRPr lang="en-US" sz="1750" dirty="0"/>
          </a:p>
        </p:txBody>
      </p:sp>
      <p:sp>
        <p:nvSpPr>
          <p:cNvPr id="13" name="Text 11"/>
          <p:cNvSpPr txBox="1"/>
          <p:nvPr/>
        </p:nvSpPr>
        <p:spPr>
          <a:xfrm>
            <a:off x="3602736" y="2542032"/>
            <a:ext cx="3968496" cy="3474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Can a modest model clear the bar?</a:t>
            </a:r>
            <a:endParaRPr lang="en-US" sz="1600" dirty="0"/>
          </a:p>
        </p:txBody>
      </p:sp>
      <p:sp>
        <p:nvSpPr>
          <p:cNvPr id="14" name="Shape 12"/>
          <p:cNvSpPr/>
          <p:nvPr/>
        </p:nvSpPr>
        <p:spPr>
          <a:xfrm>
            <a:off x="457200" y="3456432"/>
            <a:ext cx="7479792" cy="822960"/>
          </a:xfrm>
          <a:prstGeom prst="roundRect">
            <a:avLst>
              <a:gd name="adj" fmla="val 5556"/>
            </a:avLst>
          </a:prstGeom>
          <a:solidFill>
            <a:srgbClr val="FFFFFF"/>
          </a:solidFill>
          <a:ln w="12700">
            <a:solidFill>
              <a:srgbClr val="D8D3C8"/>
            </a:solidFill>
            <a:prstDash val="solid"/>
          </a:ln>
        </p:spPr>
      </p:sp>
      <p:sp>
        <p:nvSpPr>
          <p:cNvPr id="15" name="Text 13"/>
          <p:cNvSpPr txBox="1"/>
          <p:nvPr/>
        </p:nvSpPr>
        <p:spPr>
          <a:xfrm>
            <a:off x="694944" y="3602736"/>
            <a:ext cx="420624"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4C9A4"/>
                </a:solidFill>
                <a:latin typeface="Helvetica Neue" pitchFamily="34" charset="0"/>
                <a:ea typeface="Helvetica Neue" pitchFamily="34" charset="-122"/>
                <a:cs typeface="Helvetica Neue" pitchFamily="34" charset="-120"/>
              </a:rPr>
              <a:t>✓</a:t>
            </a:r>
            <a:endParaRPr lang="en-US" sz="2300" dirty="0"/>
          </a:p>
        </p:txBody>
      </p:sp>
      <p:sp>
        <p:nvSpPr>
          <p:cNvPr id="16" name="Text 14"/>
          <p:cNvSpPr txBox="1"/>
          <p:nvPr/>
        </p:nvSpPr>
        <p:spPr>
          <a:xfrm>
            <a:off x="1298448" y="3611880"/>
            <a:ext cx="2103120" cy="310896"/>
          </a:xfrm>
          <a:prstGeom prst="rect">
            <a:avLst/>
          </a:prstGeom>
          <a:noFill/>
          <a:ln/>
        </p:spPr>
        <p:txBody>
          <a:bodyPr wrap="square" lIns="0" tIns="0" rIns="0" bIns="0" rtlCol="0" anchor="ctr">
            <a:normAutofit/>
          </a:bodyPr>
          <a:lstStyle/>
          <a:p>
            <a:pPr algn="l" indent="0" marL="0">
              <a:lnSpc>
                <a:spcPct val="100000"/>
              </a:lnSpc>
              <a:buNone/>
            </a:pPr>
            <a:r>
              <a:rPr lang="en-US" sz="1750" b="1" dirty="0">
                <a:solidFill>
                  <a:srgbClr val="090A10"/>
                </a:solidFill>
                <a:latin typeface="Helvetica Neue" pitchFamily="34" charset="0"/>
                <a:ea typeface="Helvetica Neue" pitchFamily="34" charset="-122"/>
                <a:cs typeface="Helvetica Neue" pitchFamily="34" charset="-120"/>
              </a:rPr>
              <a:t>PRIVACY VALUE</a:t>
            </a:r>
            <a:endParaRPr lang="en-US" sz="1750" dirty="0"/>
          </a:p>
        </p:txBody>
      </p:sp>
      <p:sp>
        <p:nvSpPr>
          <p:cNvPr id="17" name="Text 15"/>
          <p:cNvSpPr txBox="1"/>
          <p:nvPr/>
        </p:nvSpPr>
        <p:spPr>
          <a:xfrm>
            <a:off x="3602736" y="3602736"/>
            <a:ext cx="3968496" cy="3474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Is local control worth real money?</a:t>
            </a:r>
            <a:endParaRPr lang="en-US" sz="1600" dirty="0"/>
          </a:p>
        </p:txBody>
      </p:sp>
      <p:sp>
        <p:nvSpPr>
          <p:cNvPr id="18" name="Shape 16"/>
          <p:cNvSpPr/>
          <p:nvPr/>
        </p:nvSpPr>
        <p:spPr>
          <a:xfrm>
            <a:off x="457200" y="4517136"/>
            <a:ext cx="7479792" cy="822960"/>
          </a:xfrm>
          <a:prstGeom prst="roundRect">
            <a:avLst>
              <a:gd name="adj" fmla="val 5556"/>
            </a:avLst>
          </a:prstGeom>
          <a:solidFill>
            <a:srgbClr val="F0ECE4"/>
          </a:solidFill>
          <a:ln w="12700">
            <a:solidFill>
              <a:srgbClr val="D8D3C8"/>
            </a:solidFill>
            <a:prstDash val="solid"/>
          </a:ln>
        </p:spPr>
      </p:sp>
      <p:sp>
        <p:nvSpPr>
          <p:cNvPr id="19" name="Text 17"/>
          <p:cNvSpPr txBox="1"/>
          <p:nvPr/>
        </p:nvSpPr>
        <p:spPr>
          <a:xfrm>
            <a:off x="694944" y="4663440"/>
            <a:ext cx="420624"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D88752"/>
                </a:solidFill>
                <a:latin typeface="Helvetica Neue" pitchFamily="34" charset="0"/>
                <a:ea typeface="Helvetica Neue" pitchFamily="34" charset="-122"/>
                <a:cs typeface="Helvetica Neue" pitchFamily="34" charset="-120"/>
              </a:rPr>
              <a:t>✓</a:t>
            </a:r>
            <a:endParaRPr lang="en-US" sz="2300" dirty="0"/>
          </a:p>
        </p:txBody>
      </p:sp>
      <p:sp>
        <p:nvSpPr>
          <p:cNvPr id="20" name="Text 18"/>
          <p:cNvSpPr txBox="1"/>
          <p:nvPr/>
        </p:nvSpPr>
        <p:spPr>
          <a:xfrm>
            <a:off x="1298448" y="4672584"/>
            <a:ext cx="2103120" cy="310896"/>
          </a:xfrm>
          <a:prstGeom prst="rect">
            <a:avLst/>
          </a:prstGeom>
          <a:noFill/>
          <a:ln/>
        </p:spPr>
        <p:txBody>
          <a:bodyPr wrap="square" lIns="0" tIns="0" rIns="0" bIns="0" rtlCol="0" anchor="ctr">
            <a:normAutofit/>
          </a:bodyPr>
          <a:lstStyle/>
          <a:p>
            <a:pPr algn="l" indent="0" marL="0">
              <a:lnSpc>
                <a:spcPct val="100000"/>
              </a:lnSpc>
              <a:buNone/>
            </a:pPr>
            <a:r>
              <a:rPr lang="en-US" sz="1750" b="1" dirty="0">
                <a:solidFill>
                  <a:srgbClr val="090A10"/>
                </a:solidFill>
                <a:latin typeface="Helvetica Neue" pitchFamily="34" charset="0"/>
                <a:ea typeface="Helvetica Neue" pitchFamily="34" charset="-122"/>
                <a:cs typeface="Helvetica Neue" pitchFamily="34" charset="-120"/>
              </a:rPr>
              <a:t>OPS CAPACITY</a:t>
            </a:r>
            <a:endParaRPr lang="en-US" sz="1750" dirty="0"/>
          </a:p>
        </p:txBody>
      </p:sp>
      <p:sp>
        <p:nvSpPr>
          <p:cNvPr id="21" name="Text 19"/>
          <p:cNvSpPr txBox="1"/>
          <p:nvPr/>
        </p:nvSpPr>
        <p:spPr>
          <a:xfrm>
            <a:off x="3602736" y="4663440"/>
            <a:ext cx="3968496" cy="3474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6F6F7A"/>
                </a:solidFill>
                <a:latin typeface="Helvetica Neue" pitchFamily="34" charset="0"/>
                <a:ea typeface="Helvetica Neue" pitchFamily="34" charset="-122"/>
                <a:cs typeface="Helvetica Neue" pitchFamily="34" charset="-120"/>
              </a:rPr>
              <a:t>Can someone maintain the stack?</a:t>
            </a:r>
            <a:endParaRPr lang="en-US" sz="1600" dirty="0"/>
          </a:p>
        </p:txBody>
      </p:sp>
      <p:sp>
        <p:nvSpPr>
          <p:cNvPr id="22" name="Shape 20"/>
          <p:cNvSpPr/>
          <p:nvPr/>
        </p:nvSpPr>
        <p:spPr>
          <a:xfrm>
            <a:off x="8284464" y="1335024"/>
            <a:ext cx="3456432" cy="4407408"/>
          </a:xfrm>
          <a:prstGeom prst="roundRect">
            <a:avLst>
              <a:gd name="adj" fmla="val 2116"/>
            </a:avLst>
          </a:prstGeom>
          <a:solidFill>
            <a:srgbClr val="090A10"/>
          </a:solidFill>
          <a:ln w="12700">
            <a:solidFill>
              <a:srgbClr val="090A10"/>
            </a:solidFill>
            <a:prstDash val="solid"/>
          </a:ln>
        </p:spPr>
      </p:sp>
      <p:sp>
        <p:nvSpPr>
          <p:cNvPr id="23" name="Text 21"/>
          <p:cNvSpPr txBox="1"/>
          <p:nvPr/>
        </p:nvSpPr>
        <p:spPr>
          <a:xfrm>
            <a:off x="8595360" y="1682496"/>
            <a:ext cx="182880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DECISION RULE</a:t>
            </a:r>
            <a:endParaRPr lang="en-US" sz="1050" dirty="0"/>
          </a:p>
        </p:txBody>
      </p:sp>
      <p:sp>
        <p:nvSpPr>
          <p:cNvPr id="24" name="Text 22"/>
          <p:cNvSpPr txBox="1"/>
          <p:nvPr/>
        </p:nvSpPr>
        <p:spPr>
          <a:xfrm>
            <a:off x="8595360" y="2340864"/>
            <a:ext cx="2816352" cy="566928"/>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64C9A4"/>
                </a:solidFill>
                <a:latin typeface="Helvetica Neue" pitchFamily="34" charset="0"/>
                <a:ea typeface="Helvetica Neue" pitchFamily="34" charset="-122"/>
                <a:cs typeface="Helvetica Neue" pitchFamily="34" charset="-120"/>
              </a:rPr>
              <a:t>3–4 YES</a:t>
            </a:r>
            <a:endParaRPr lang="en-US" sz="3300" dirty="0"/>
          </a:p>
        </p:txBody>
      </p:sp>
      <p:sp>
        <p:nvSpPr>
          <p:cNvPr id="25" name="Text 23"/>
          <p:cNvSpPr txBox="1"/>
          <p:nvPr/>
        </p:nvSpPr>
        <p:spPr>
          <a:xfrm>
            <a:off x="8595360" y="2907792"/>
            <a:ext cx="2651760" cy="402336"/>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local is worth testing</a:t>
            </a:r>
            <a:endParaRPr lang="en-US" sz="1600" dirty="0"/>
          </a:p>
        </p:txBody>
      </p:sp>
      <p:sp>
        <p:nvSpPr>
          <p:cNvPr id="26" name="Shape 24"/>
          <p:cNvSpPr/>
          <p:nvPr/>
        </p:nvSpPr>
        <p:spPr>
          <a:xfrm>
            <a:off x="8595360" y="3602736"/>
            <a:ext cx="2761488" cy="0"/>
          </a:xfrm>
          <a:prstGeom prst="line">
            <a:avLst/>
          </a:prstGeom>
          <a:noFill/>
          <a:ln w="12700">
            <a:solidFill>
              <a:srgbClr val="2A2B38"/>
            </a:solidFill>
            <a:prstDash val="solid"/>
          </a:ln>
        </p:spPr>
      </p:sp>
      <p:sp>
        <p:nvSpPr>
          <p:cNvPr id="27" name="Text 25"/>
          <p:cNvSpPr txBox="1"/>
          <p:nvPr/>
        </p:nvSpPr>
        <p:spPr>
          <a:xfrm>
            <a:off x="8595360" y="3968496"/>
            <a:ext cx="2816352" cy="512064"/>
          </a:xfrm>
          <a:prstGeom prst="rect">
            <a:avLst/>
          </a:prstGeom>
          <a:noFill/>
          <a:ln/>
        </p:spPr>
        <p:txBody>
          <a:bodyPr wrap="square" lIns="0" tIns="0" rIns="0" bIns="0" rtlCol="0" anchor="ctr">
            <a:normAutofit/>
          </a:bodyPr>
          <a:lstStyle/>
          <a:p>
            <a:pPr algn="l" indent="0" marL="0">
              <a:lnSpc>
                <a:spcPct val="100000"/>
              </a:lnSpc>
              <a:buNone/>
            </a:pPr>
            <a:r>
              <a:rPr lang="en-US" sz="2900" b="1" dirty="0">
                <a:solidFill>
                  <a:srgbClr val="D88752"/>
                </a:solidFill>
                <a:latin typeface="Helvetica Neue" pitchFamily="34" charset="0"/>
                <a:ea typeface="Helvetica Neue" pitchFamily="34" charset="-122"/>
                <a:cs typeface="Helvetica Neue" pitchFamily="34" charset="-120"/>
              </a:rPr>
              <a:t>0–2 YES</a:t>
            </a:r>
            <a:endParaRPr lang="en-US" sz="2900" dirty="0"/>
          </a:p>
        </p:txBody>
      </p:sp>
      <p:sp>
        <p:nvSpPr>
          <p:cNvPr id="28" name="Text 26"/>
          <p:cNvSpPr txBox="1"/>
          <p:nvPr/>
        </p:nvSpPr>
        <p:spPr>
          <a:xfrm>
            <a:off x="8595360" y="4517136"/>
            <a:ext cx="2651760" cy="402336"/>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FFFFFF"/>
                </a:solidFill>
                <a:latin typeface="Helvetica Neue" pitchFamily="34" charset="0"/>
                <a:ea typeface="Helvetica Neue" pitchFamily="34" charset="-122"/>
                <a:cs typeface="Helvetica Neue" pitchFamily="34" charset="-120"/>
              </a:rPr>
              <a:t>cloud probably wins</a:t>
            </a:r>
            <a:endParaRPr lang="en-US" sz="1600" dirty="0"/>
          </a:p>
        </p:txBody>
      </p:sp>
      <p:sp>
        <p:nvSpPr>
          <p:cNvPr id="29" name="Text 27"/>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Free is a workload pattern, not a universal price.</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indefinite"/>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26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5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78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04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30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56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8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08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34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60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86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312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par>
                    <p:cTn id="111" fill="hold">
                      <p:stCondLst>
                        <p:cond delay="3380"/>
                      </p:stCondLst>
                      <p:childTnLst>
                        <p:par>
                          <p:cTn id="112" presetID="10" presetClass="entr" presetSubtype="0"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22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6.xml><?xml version="1.0" encoding="utf-8"?>
<p:sld xmlns:a="http://schemas.openxmlformats.org/drawingml/2006/main" xmlns:p="http://schemas.openxmlformats.org/presentationml/2006/main" xmlns:p14="http://schemas.microsoft.com/office/powerpoint/2010/main">
  <p:cSld name="Slide 16">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Free weights can create a paid operations job</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16</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38912" y="4133088"/>
            <a:ext cx="1938528" cy="1335024"/>
          </a:xfrm>
          <a:prstGeom prst="roundRect">
            <a:avLst>
              <a:gd name="adj" fmla="val 3425"/>
            </a:avLst>
          </a:prstGeom>
          <a:solidFill>
            <a:srgbClr val="14151F"/>
          </a:solidFill>
          <a:ln w="12700">
            <a:solidFill>
              <a:srgbClr val="2A2B38"/>
            </a:solidFill>
            <a:prstDash val="solid"/>
          </a:ln>
        </p:spPr>
      </p:sp>
      <p:sp>
        <p:nvSpPr>
          <p:cNvPr id="7" name="Text 5"/>
          <p:cNvSpPr txBox="1"/>
          <p:nvPr/>
        </p:nvSpPr>
        <p:spPr>
          <a:xfrm>
            <a:off x="603504" y="4279392"/>
            <a:ext cx="384048"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BCA7FF"/>
                </a:solidFill>
                <a:latin typeface="Helvetica Neue" pitchFamily="34" charset="0"/>
                <a:ea typeface="Helvetica Neue" pitchFamily="34" charset="-122"/>
                <a:cs typeface="Helvetica Neue" pitchFamily="34" charset="-120"/>
              </a:rPr>
              <a:t>01</a:t>
            </a:r>
            <a:endParaRPr lang="en-US" sz="1100" dirty="0"/>
          </a:p>
        </p:txBody>
      </p:sp>
      <p:sp>
        <p:nvSpPr>
          <p:cNvPr id="8" name="Text 6"/>
          <p:cNvSpPr txBox="1"/>
          <p:nvPr/>
        </p:nvSpPr>
        <p:spPr>
          <a:xfrm>
            <a:off x="603504" y="4572000"/>
            <a:ext cx="155448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Helvetica Neue" pitchFamily="34" charset="0"/>
                <a:ea typeface="Helvetica Neue" pitchFamily="34" charset="-122"/>
                <a:cs typeface="Helvetica Neue" pitchFamily="34" charset="-120"/>
              </a:rPr>
              <a:t>DEPLOY</a:t>
            </a:r>
            <a:endParaRPr lang="en-US" sz="1700" dirty="0"/>
          </a:p>
        </p:txBody>
      </p:sp>
      <p:sp>
        <p:nvSpPr>
          <p:cNvPr id="9" name="Text 7"/>
          <p:cNvSpPr txBox="1"/>
          <p:nvPr/>
        </p:nvSpPr>
        <p:spPr>
          <a:xfrm>
            <a:off x="603504" y="4937760"/>
            <a:ext cx="1572768" cy="457200"/>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A8A7B3"/>
                </a:solidFill>
                <a:latin typeface="Helvetica Neue" pitchFamily="34" charset="0"/>
                <a:ea typeface="Helvetica Neue" pitchFamily="34" charset="-122"/>
                <a:cs typeface="Helvetica Neue" pitchFamily="34" charset="-120"/>
              </a:rPr>
              <a:t>Install + configure</a:t>
            </a:r>
            <a:endParaRPr lang="en-US" sz="1250" dirty="0"/>
          </a:p>
        </p:txBody>
      </p:sp>
      <p:sp>
        <p:nvSpPr>
          <p:cNvPr id="10" name="Shape 8"/>
          <p:cNvSpPr/>
          <p:nvPr/>
        </p:nvSpPr>
        <p:spPr>
          <a:xfrm>
            <a:off x="2697480" y="3602736"/>
            <a:ext cx="1938528" cy="1865376"/>
          </a:xfrm>
          <a:prstGeom prst="roundRect">
            <a:avLst>
              <a:gd name="adj" fmla="val 2451"/>
            </a:avLst>
          </a:prstGeom>
          <a:solidFill>
            <a:srgbClr val="14151F"/>
          </a:solidFill>
          <a:ln w="12700">
            <a:solidFill>
              <a:srgbClr val="2A2B38"/>
            </a:solidFill>
            <a:prstDash val="solid"/>
          </a:ln>
        </p:spPr>
      </p:sp>
      <p:sp>
        <p:nvSpPr>
          <p:cNvPr id="11" name="Text 9"/>
          <p:cNvSpPr txBox="1"/>
          <p:nvPr/>
        </p:nvSpPr>
        <p:spPr>
          <a:xfrm>
            <a:off x="2862072" y="3749040"/>
            <a:ext cx="384048"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4777FF"/>
                </a:solidFill>
                <a:latin typeface="Helvetica Neue" pitchFamily="34" charset="0"/>
                <a:ea typeface="Helvetica Neue" pitchFamily="34" charset="-122"/>
                <a:cs typeface="Helvetica Neue" pitchFamily="34" charset="-120"/>
              </a:rPr>
              <a:t>02</a:t>
            </a:r>
            <a:endParaRPr lang="en-US" sz="1100" dirty="0"/>
          </a:p>
        </p:txBody>
      </p:sp>
      <p:sp>
        <p:nvSpPr>
          <p:cNvPr id="12" name="Text 10"/>
          <p:cNvSpPr txBox="1"/>
          <p:nvPr/>
        </p:nvSpPr>
        <p:spPr>
          <a:xfrm>
            <a:off x="2862072" y="4041648"/>
            <a:ext cx="155448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Helvetica Neue" pitchFamily="34" charset="0"/>
                <a:ea typeface="Helvetica Neue" pitchFamily="34" charset="-122"/>
                <a:cs typeface="Helvetica Neue" pitchFamily="34" charset="-120"/>
              </a:rPr>
              <a:t>UPDATE</a:t>
            </a:r>
            <a:endParaRPr lang="en-US" sz="1700" dirty="0"/>
          </a:p>
        </p:txBody>
      </p:sp>
      <p:sp>
        <p:nvSpPr>
          <p:cNvPr id="13" name="Text 11"/>
          <p:cNvSpPr txBox="1"/>
          <p:nvPr/>
        </p:nvSpPr>
        <p:spPr>
          <a:xfrm>
            <a:off x="2862072" y="4407408"/>
            <a:ext cx="1572768" cy="457200"/>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A8A7B3"/>
                </a:solidFill>
                <a:latin typeface="Helvetica Neue" pitchFamily="34" charset="0"/>
                <a:ea typeface="Helvetica Neue" pitchFamily="34" charset="-122"/>
                <a:cs typeface="Helvetica Neue" pitchFamily="34" charset="-120"/>
              </a:rPr>
              <a:t>Models + runtimes</a:t>
            </a:r>
            <a:endParaRPr lang="en-US" sz="1250" dirty="0"/>
          </a:p>
        </p:txBody>
      </p:sp>
      <p:sp>
        <p:nvSpPr>
          <p:cNvPr id="14" name="Shape 12"/>
          <p:cNvSpPr/>
          <p:nvPr/>
        </p:nvSpPr>
        <p:spPr>
          <a:xfrm>
            <a:off x="4956048" y="3072384"/>
            <a:ext cx="1938528" cy="2395728"/>
          </a:xfrm>
          <a:prstGeom prst="roundRect">
            <a:avLst>
              <a:gd name="adj" fmla="val 2358"/>
            </a:avLst>
          </a:prstGeom>
          <a:solidFill>
            <a:srgbClr val="14151F"/>
          </a:solidFill>
          <a:ln w="12700">
            <a:solidFill>
              <a:srgbClr val="2A2B38"/>
            </a:solidFill>
            <a:prstDash val="solid"/>
          </a:ln>
        </p:spPr>
      </p:sp>
      <p:sp>
        <p:nvSpPr>
          <p:cNvPr id="15" name="Text 13"/>
          <p:cNvSpPr txBox="1"/>
          <p:nvPr/>
        </p:nvSpPr>
        <p:spPr>
          <a:xfrm>
            <a:off x="5120640" y="3218688"/>
            <a:ext cx="384048"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64C9A4"/>
                </a:solidFill>
                <a:latin typeface="Helvetica Neue" pitchFamily="34" charset="0"/>
                <a:ea typeface="Helvetica Neue" pitchFamily="34" charset="-122"/>
                <a:cs typeface="Helvetica Neue" pitchFamily="34" charset="-120"/>
              </a:rPr>
              <a:t>03</a:t>
            </a:r>
            <a:endParaRPr lang="en-US" sz="1100" dirty="0"/>
          </a:p>
        </p:txBody>
      </p:sp>
      <p:sp>
        <p:nvSpPr>
          <p:cNvPr id="16" name="Text 14"/>
          <p:cNvSpPr txBox="1"/>
          <p:nvPr/>
        </p:nvSpPr>
        <p:spPr>
          <a:xfrm>
            <a:off x="5120640" y="3511296"/>
            <a:ext cx="155448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Helvetica Neue" pitchFamily="34" charset="0"/>
                <a:ea typeface="Helvetica Neue" pitchFamily="34" charset="-122"/>
                <a:cs typeface="Helvetica Neue" pitchFamily="34" charset="-120"/>
              </a:rPr>
              <a:t>EVALUATE</a:t>
            </a:r>
            <a:endParaRPr lang="en-US" sz="1700" dirty="0"/>
          </a:p>
        </p:txBody>
      </p:sp>
      <p:sp>
        <p:nvSpPr>
          <p:cNvPr id="17" name="Text 15"/>
          <p:cNvSpPr txBox="1"/>
          <p:nvPr/>
        </p:nvSpPr>
        <p:spPr>
          <a:xfrm>
            <a:off x="5120640" y="3877056"/>
            <a:ext cx="1572768" cy="457200"/>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A8A7B3"/>
                </a:solidFill>
                <a:latin typeface="Helvetica Neue" pitchFamily="34" charset="0"/>
                <a:ea typeface="Helvetica Neue" pitchFamily="34" charset="-122"/>
                <a:cs typeface="Helvetica Neue" pitchFamily="34" charset="-120"/>
              </a:rPr>
              <a:t>Quality + regressions</a:t>
            </a:r>
            <a:endParaRPr lang="en-US" sz="1250" dirty="0"/>
          </a:p>
        </p:txBody>
      </p:sp>
      <p:sp>
        <p:nvSpPr>
          <p:cNvPr id="18" name="Shape 16"/>
          <p:cNvSpPr/>
          <p:nvPr/>
        </p:nvSpPr>
        <p:spPr>
          <a:xfrm>
            <a:off x="7214616" y="2542032"/>
            <a:ext cx="1938528" cy="2926080"/>
          </a:xfrm>
          <a:prstGeom prst="roundRect">
            <a:avLst>
              <a:gd name="adj" fmla="val 2358"/>
            </a:avLst>
          </a:prstGeom>
          <a:solidFill>
            <a:srgbClr val="14151F"/>
          </a:solidFill>
          <a:ln w="12700">
            <a:solidFill>
              <a:srgbClr val="2A2B38"/>
            </a:solidFill>
            <a:prstDash val="solid"/>
          </a:ln>
        </p:spPr>
      </p:sp>
      <p:sp>
        <p:nvSpPr>
          <p:cNvPr id="19" name="Text 17"/>
          <p:cNvSpPr txBox="1"/>
          <p:nvPr/>
        </p:nvSpPr>
        <p:spPr>
          <a:xfrm>
            <a:off x="7379208" y="2688336"/>
            <a:ext cx="384048"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D88752"/>
                </a:solidFill>
                <a:latin typeface="Helvetica Neue" pitchFamily="34" charset="0"/>
                <a:ea typeface="Helvetica Neue" pitchFamily="34" charset="-122"/>
                <a:cs typeface="Helvetica Neue" pitchFamily="34" charset="-120"/>
              </a:rPr>
              <a:t>04</a:t>
            </a:r>
            <a:endParaRPr lang="en-US" sz="1100" dirty="0"/>
          </a:p>
        </p:txBody>
      </p:sp>
      <p:sp>
        <p:nvSpPr>
          <p:cNvPr id="20" name="Text 18"/>
          <p:cNvSpPr txBox="1"/>
          <p:nvPr/>
        </p:nvSpPr>
        <p:spPr>
          <a:xfrm>
            <a:off x="7379208" y="2980944"/>
            <a:ext cx="155448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Helvetica Neue" pitchFamily="34" charset="0"/>
                <a:ea typeface="Helvetica Neue" pitchFamily="34" charset="-122"/>
                <a:cs typeface="Helvetica Neue" pitchFamily="34" charset="-120"/>
              </a:rPr>
              <a:t>SECURE</a:t>
            </a:r>
            <a:endParaRPr lang="en-US" sz="1700" dirty="0"/>
          </a:p>
        </p:txBody>
      </p:sp>
      <p:sp>
        <p:nvSpPr>
          <p:cNvPr id="21" name="Text 19"/>
          <p:cNvSpPr txBox="1"/>
          <p:nvPr/>
        </p:nvSpPr>
        <p:spPr>
          <a:xfrm>
            <a:off x="7379208" y="3346704"/>
            <a:ext cx="1572768" cy="457200"/>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A8A7B3"/>
                </a:solidFill>
                <a:latin typeface="Helvetica Neue" pitchFamily="34" charset="0"/>
                <a:ea typeface="Helvetica Neue" pitchFamily="34" charset="-122"/>
                <a:cs typeface="Helvetica Neue" pitchFamily="34" charset="-120"/>
              </a:rPr>
              <a:t>Access + supply chain</a:t>
            </a:r>
            <a:endParaRPr lang="en-US" sz="1250" dirty="0"/>
          </a:p>
        </p:txBody>
      </p:sp>
      <p:sp>
        <p:nvSpPr>
          <p:cNvPr id="22" name="Shape 20"/>
          <p:cNvSpPr/>
          <p:nvPr/>
        </p:nvSpPr>
        <p:spPr>
          <a:xfrm>
            <a:off x="9473184" y="2011680"/>
            <a:ext cx="1938528" cy="3456432"/>
          </a:xfrm>
          <a:prstGeom prst="roundRect">
            <a:avLst>
              <a:gd name="adj" fmla="val 2358"/>
            </a:avLst>
          </a:prstGeom>
          <a:solidFill>
            <a:srgbClr val="14151F"/>
          </a:solidFill>
          <a:ln w="12700">
            <a:solidFill>
              <a:srgbClr val="2A2B38"/>
            </a:solidFill>
            <a:prstDash val="solid"/>
          </a:ln>
        </p:spPr>
      </p:sp>
      <p:sp>
        <p:nvSpPr>
          <p:cNvPr id="23" name="Text 21"/>
          <p:cNvSpPr txBox="1"/>
          <p:nvPr/>
        </p:nvSpPr>
        <p:spPr>
          <a:xfrm>
            <a:off x="9637776" y="2157984"/>
            <a:ext cx="384048" cy="219456"/>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EB6A68"/>
                </a:solidFill>
                <a:latin typeface="Helvetica Neue" pitchFamily="34" charset="0"/>
                <a:ea typeface="Helvetica Neue" pitchFamily="34" charset="-122"/>
                <a:cs typeface="Helvetica Neue" pitchFamily="34" charset="-120"/>
              </a:rPr>
              <a:t>05</a:t>
            </a:r>
            <a:endParaRPr lang="en-US" sz="1100" dirty="0"/>
          </a:p>
        </p:txBody>
      </p:sp>
      <p:sp>
        <p:nvSpPr>
          <p:cNvPr id="24" name="Text 22"/>
          <p:cNvSpPr txBox="1"/>
          <p:nvPr/>
        </p:nvSpPr>
        <p:spPr>
          <a:xfrm>
            <a:off x="9637776" y="2450592"/>
            <a:ext cx="1554480" cy="310896"/>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Helvetica Neue" pitchFamily="34" charset="0"/>
                <a:ea typeface="Helvetica Neue" pitchFamily="34" charset="-122"/>
                <a:cs typeface="Helvetica Neue" pitchFamily="34" charset="-120"/>
              </a:rPr>
              <a:t>SUPPORT</a:t>
            </a:r>
            <a:endParaRPr lang="en-US" sz="1700" dirty="0"/>
          </a:p>
        </p:txBody>
      </p:sp>
      <p:sp>
        <p:nvSpPr>
          <p:cNvPr id="25" name="Text 23"/>
          <p:cNvSpPr txBox="1"/>
          <p:nvPr/>
        </p:nvSpPr>
        <p:spPr>
          <a:xfrm>
            <a:off x="9637776" y="2816352"/>
            <a:ext cx="1572768" cy="457200"/>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A8A7B3"/>
                </a:solidFill>
                <a:latin typeface="Helvetica Neue" pitchFamily="34" charset="0"/>
                <a:ea typeface="Helvetica Neue" pitchFamily="34" charset="-122"/>
                <a:cs typeface="Helvetica Neue" pitchFamily="34" charset="-120"/>
              </a:rPr>
              <a:t>Users + failures</a:t>
            </a:r>
            <a:endParaRPr lang="en-US" sz="1250" dirty="0"/>
          </a:p>
        </p:txBody>
      </p:sp>
      <p:sp>
        <p:nvSpPr>
          <p:cNvPr id="26" name="Text 24"/>
          <p:cNvSpPr txBox="1"/>
          <p:nvPr/>
        </p:nvSpPr>
        <p:spPr>
          <a:xfrm>
            <a:off x="457200" y="1408176"/>
            <a:ext cx="5852160" cy="512064"/>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THE MODEL FILE IS NOT THE SERVICE.</a:t>
            </a:r>
            <a:endParaRPr lang="en-US" sz="2600" dirty="0"/>
          </a:p>
        </p:txBody>
      </p:sp>
      <p:sp>
        <p:nvSpPr>
          <p:cNvPr id="27" name="Text 25"/>
          <p:cNvSpPr txBox="1"/>
          <p:nvPr/>
        </p:nvSpPr>
        <p:spPr>
          <a:xfrm>
            <a:off x="457200" y="1965960"/>
            <a:ext cx="4754880" cy="329184"/>
          </a:xfrm>
          <a:prstGeom prst="rect">
            <a:avLst/>
          </a:prstGeom>
          <a:noFill/>
          <a:ln/>
        </p:spPr>
        <p:txBody>
          <a:bodyPr wrap="square" lIns="0" tIns="0" rIns="0" bIns="0" rtlCol="0" anchor="ctr">
            <a:normAutofit/>
          </a:bodyPr>
          <a:lstStyle/>
          <a:p>
            <a:pPr algn="l" indent="0" marL="0">
              <a:lnSpc>
                <a:spcPct val="100000"/>
              </a:lnSpc>
              <a:buNone/>
            </a:pPr>
            <a:r>
              <a:rPr lang="en-US" sz="1700" dirty="0">
                <a:solidFill>
                  <a:srgbClr val="BCA7FF"/>
                </a:solidFill>
                <a:latin typeface="Helvetica Neue" pitchFamily="34" charset="0"/>
                <a:ea typeface="Helvetica Neue" pitchFamily="34" charset="-122"/>
                <a:cs typeface="Helvetica Neue" pitchFamily="34" charset="-120"/>
              </a:rPr>
              <a:t>Someone still owns reliability.</a:t>
            </a:r>
            <a:endParaRPr lang="en-US" sz="1700" dirty="0"/>
          </a:p>
        </p:txBody>
      </p:sp>
      <p:sp>
        <p:nvSpPr>
          <p:cNvPr id="28" name="Text 26"/>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The cheaper the inference gets, the more visible the surrounding work becomes.</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indefinite"/>
                      </p:stCondLst>
                      <p:childTnLst>
                        <p:par>
                          <p:cTn id="60" presetID="10"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26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5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78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04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30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56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8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08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34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60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86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312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17.xml><?xml version="1.0" encoding="utf-8"?>
<p:sld xmlns:a="http://schemas.openxmlformats.org/drawingml/2006/main" xmlns:p="http://schemas.openxmlformats.org/presentationml/2006/main" xmlns:p14="http://schemas.microsoft.com/office/powerpoint/2010/main">
  <p:cSld name="Slide 17">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What local privacy can protect</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17</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57200" y="1828800"/>
            <a:ext cx="2468880" cy="2231136"/>
          </a:xfrm>
          <a:prstGeom prst="roundRect">
            <a:avLst>
              <a:gd name="adj" fmla="val 2869"/>
            </a:avLst>
          </a:prstGeom>
          <a:solidFill>
            <a:srgbClr val="ECE5FF"/>
          </a:solidFill>
          <a:ln w="12700">
            <a:solidFill>
              <a:srgbClr val="D8D3C8"/>
            </a:solidFill>
            <a:prstDash val="solid"/>
          </a:ln>
        </p:spPr>
      </p:sp>
      <p:sp>
        <p:nvSpPr>
          <p:cNvPr id="7" name="Text 5"/>
          <p:cNvSpPr txBox="1"/>
          <p:nvPr/>
        </p:nvSpPr>
        <p:spPr>
          <a:xfrm>
            <a:off x="640080" y="2048256"/>
            <a:ext cx="45720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8E63FF"/>
                </a:solidFill>
                <a:latin typeface="Helvetica Neue" pitchFamily="34" charset="0"/>
                <a:ea typeface="Helvetica Neue" pitchFamily="34" charset="-122"/>
                <a:cs typeface="Helvetica Neue" pitchFamily="34" charset="-120"/>
              </a:rPr>
              <a:t>01</a:t>
            </a:r>
            <a:endParaRPr lang="en-US" sz="1200" dirty="0"/>
          </a:p>
        </p:txBody>
      </p:sp>
      <p:sp>
        <p:nvSpPr>
          <p:cNvPr id="8" name="Text 6"/>
          <p:cNvSpPr txBox="1"/>
          <p:nvPr/>
        </p:nvSpPr>
        <p:spPr>
          <a:xfrm>
            <a:off x="640080" y="2578608"/>
            <a:ext cx="208483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PROMPT</a:t>
            </a:r>
            <a:endParaRPr lang="en-US" sz="1850" dirty="0"/>
          </a:p>
        </p:txBody>
      </p:sp>
      <p:sp>
        <p:nvSpPr>
          <p:cNvPr id="9" name="Text 7"/>
          <p:cNvSpPr txBox="1"/>
          <p:nvPr/>
        </p:nvSpPr>
        <p:spPr>
          <a:xfrm>
            <a:off x="640080" y="3200400"/>
            <a:ext cx="2084832" cy="384048"/>
          </a:xfrm>
          <a:prstGeom prst="rect">
            <a:avLst/>
          </a:prstGeom>
          <a:noFill/>
          <a:ln/>
        </p:spPr>
        <p:txBody>
          <a:bodyPr wrap="square" lIns="0" tIns="0" rIns="0" bIns="0" rtlCol="0" anchor="ctr">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what you ask</a:t>
            </a:r>
            <a:endParaRPr lang="en-US" sz="1450" dirty="0"/>
          </a:p>
        </p:txBody>
      </p:sp>
      <p:sp>
        <p:nvSpPr>
          <p:cNvPr id="10" name="Text 8"/>
          <p:cNvSpPr txBox="1"/>
          <p:nvPr/>
        </p:nvSpPr>
        <p:spPr>
          <a:xfrm>
            <a:off x="2926080" y="2670048"/>
            <a:ext cx="347472"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11" name="Shape 9"/>
          <p:cNvSpPr/>
          <p:nvPr/>
        </p:nvSpPr>
        <p:spPr>
          <a:xfrm>
            <a:off x="3264408" y="1828800"/>
            <a:ext cx="2468880" cy="2231136"/>
          </a:xfrm>
          <a:prstGeom prst="roundRect">
            <a:avLst>
              <a:gd name="adj" fmla="val 2869"/>
            </a:avLst>
          </a:prstGeom>
          <a:solidFill>
            <a:srgbClr val="FFFFFF"/>
          </a:solidFill>
          <a:ln w="12700">
            <a:solidFill>
              <a:srgbClr val="D8D3C8"/>
            </a:solidFill>
            <a:prstDash val="solid"/>
          </a:ln>
        </p:spPr>
      </p:sp>
      <p:sp>
        <p:nvSpPr>
          <p:cNvPr id="12" name="Text 10"/>
          <p:cNvSpPr txBox="1"/>
          <p:nvPr/>
        </p:nvSpPr>
        <p:spPr>
          <a:xfrm>
            <a:off x="3447288" y="2048256"/>
            <a:ext cx="45720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4777FF"/>
                </a:solidFill>
                <a:latin typeface="Helvetica Neue" pitchFamily="34" charset="0"/>
                <a:ea typeface="Helvetica Neue" pitchFamily="34" charset="-122"/>
                <a:cs typeface="Helvetica Neue" pitchFamily="34" charset="-120"/>
              </a:rPr>
              <a:t>02</a:t>
            </a:r>
            <a:endParaRPr lang="en-US" sz="1200" dirty="0"/>
          </a:p>
        </p:txBody>
      </p:sp>
      <p:sp>
        <p:nvSpPr>
          <p:cNvPr id="13" name="Text 11"/>
          <p:cNvSpPr txBox="1"/>
          <p:nvPr/>
        </p:nvSpPr>
        <p:spPr>
          <a:xfrm>
            <a:off x="3447288" y="2578608"/>
            <a:ext cx="208483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FILES</a:t>
            </a:r>
            <a:endParaRPr lang="en-US" sz="1850" dirty="0"/>
          </a:p>
        </p:txBody>
      </p:sp>
      <p:sp>
        <p:nvSpPr>
          <p:cNvPr id="14" name="Text 12"/>
          <p:cNvSpPr txBox="1"/>
          <p:nvPr/>
        </p:nvSpPr>
        <p:spPr>
          <a:xfrm>
            <a:off x="3447288" y="3200400"/>
            <a:ext cx="2084832" cy="384048"/>
          </a:xfrm>
          <a:prstGeom prst="rect">
            <a:avLst/>
          </a:prstGeom>
          <a:noFill/>
          <a:ln/>
        </p:spPr>
        <p:txBody>
          <a:bodyPr wrap="square" lIns="0" tIns="0" rIns="0" bIns="0" rtlCol="0" anchor="ctr">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what you attach</a:t>
            </a:r>
            <a:endParaRPr lang="en-US" sz="1450" dirty="0"/>
          </a:p>
        </p:txBody>
      </p:sp>
      <p:sp>
        <p:nvSpPr>
          <p:cNvPr id="15" name="Text 13"/>
          <p:cNvSpPr txBox="1"/>
          <p:nvPr/>
        </p:nvSpPr>
        <p:spPr>
          <a:xfrm>
            <a:off x="5733288" y="2670048"/>
            <a:ext cx="347472"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16" name="Shape 14"/>
          <p:cNvSpPr/>
          <p:nvPr/>
        </p:nvSpPr>
        <p:spPr>
          <a:xfrm>
            <a:off x="6071616" y="1828800"/>
            <a:ext cx="2468880" cy="2231136"/>
          </a:xfrm>
          <a:prstGeom prst="roundRect">
            <a:avLst>
              <a:gd name="adj" fmla="val 2869"/>
            </a:avLst>
          </a:prstGeom>
          <a:solidFill>
            <a:srgbClr val="FFFFFF"/>
          </a:solidFill>
          <a:ln w="12700">
            <a:solidFill>
              <a:srgbClr val="D8D3C8"/>
            </a:solidFill>
            <a:prstDash val="solid"/>
          </a:ln>
        </p:spPr>
      </p:sp>
      <p:sp>
        <p:nvSpPr>
          <p:cNvPr id="17" name="Text 15"/>
          <p:cNvSpPr txBox="1"/>
          <p:nvPr/>
        </p:nvSpPr>
        <p:spPr>
          <a:xfrm>
            <a:off x="6254496" y="2048256"/>
            <a:ext cx="45720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D88752"/>
                </a:solidFill>
                <a:latin typeface="Helvetica Neue" pitchFamily="34" charset="0"/>
                <a:ea typeface="Helvetica Neue" pitchFamily="34" charset="-122"/>
                <a:cs typeface="Helvetica Neue" pitchFamily="34" charset="-120"/>
              </a:rPr>
              <a:t>03</a:t>
            </a:r>
            <a:endParaRPr lang="en-US" sz="1200" dirty="0"/>
          </a:p>
        </p:txBody>
      </p:sp>
      <p:sp>
        <p:nvSpPr>
          <p:cNvPr id="18" name="Text 16"/>
          <p:cNvSpPr txBox="1"/>
          <p:nvPr/>
        </p:nvSpPr>
        <p:spPr>
          <a:xfrm>
            <a:off x="6254496" y="2578608"/>
            <a:ext cx="208483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EMBEDDINGS</a:t>
            </a:r>
            <a:endParaRPr lang="en-US" sz="1850" dirty="0"/>
          </a:p>
        </p:txBody>
      </p:sp>
      <p:sp>
        <p:nvSpPr>
          <p:cNvPr id="19" name="Text 17"/>
          <p:cNvSpPr txBox="1"/>
          <p:nvPr/>
        </p:nvSpPr>
        <p:spPr>
          <a:xfrm>
            <a:off x="6254496" y="3200400"/>
            <a:ext cx="2084832" cy="384048"/>
          </a:xfrm>
          <a:prstGeom prst="rect">
            <a:avLst/>
          </a:prstGeom>
          <a:noFill/>
          <a:ln/>
        </p:spPr>
        <p:txBody>
          <a:bodyPr wrap="square" lIns="0" tIns="0" rIns="0" bIns="0" rtlCol="0" anchor="ctr">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what gets indexed</a:t>
            </a:r>
            <a:endParaRPr lang="en-US" sz="1450" dirty="0"/>
          </a:p>
        </p:txBody>
      </p:sp>
      <p:sp>
        <p:nvSpPr>
          <p:cNvPr id="20" name="Text 18"/>
          <p:cNvSpPr txBox="1"/>
          <p:nvPr/>
        </p:nvSpPr>
        <p:spPr>
          <a:xfrm>
            <a:off x="8540496" y="2670048"/>
            <a:ext cx="347472" cy="384048"/>
          </a:xfrm>
          <a:prstGeom prst="rect">
            <a:avLst/>
          </a:prstGeom>
          <a:noFill/>
          <a:ln/>
        </p:spPr>
        <p:txBody>
          <a:bodyPr wrap="square" lIns="0" tIns="0" rIns="0" bIns="0" rtlCol="0" anchor="ctr">
            <a:normAutofit/>
          </a:bodyPr>
          <a:lstStyle/>
          <a:p>
            <a:pPr algn="ctr" indent="0" marL="0">
              <a:lnSpc>
                <a:spcPct val="100000"/>
              </a:lnSpc>
              <a:buNone/>
            </a:pPr>
            <a:r>
              <a:rPr lang="en-US" sz="2300" b="1" dirty="0">
                <a:solidFill>
                  <a:srgbClr val="6F6F7A"/>
                </a:solidFill>
                <a:latin typeface="Helvetica Neue" pitchFamily="34" charset="0"/>
                <a:ea typeface="Helvetica Neue" pitchFamily="34" charset="-122"/>
                <a:cs typeface="Helvetica Neue" pitchFamily="34" charset="-120"/>
              </a:rPr>
              <a:t>→</a:t>
            </a:r>
            <a:endParaRPr lang="en-US" sz="2300" dirty="0"/>
          </a:p>
        </p:txBody>
      </p:sp>
      <p:sp>
        <p:nvSpPr>
          <p:cNvPr id="21" name="Shape 19"/>
          <p:cNvSpPr/>
          <p:nvPr/>
        </p:nvSpPr>
        <p:spPr>
          <a:xfrm>
            <a:off x="8878824" y="1828800"/>
            <a:ext cx="2468880" cy="2231136"/>
          </a:xfrm>
          <a:prstGeom prst="roundRect">
            <a:avLst>
              <a:gd name="adj" fmla="val 2869"/>
            </a:avLst>
          </a:prstGeom>
          <a:solidFill>
            <a:srgbClr val="FFFFFF"/>
          </a:solidFill>
          <a:ln w="12700">
            <a:solidFill>
              <a:srgbClr val="D8D3C8"/>
            </a:solidFill>
            <a:prstDash val="solid"/>
          </a:ln>
        </p:spPr>
      </p:sp>
      <p:sp>
        <p:nvSpPr>
          <p:cNvPr id="22" name="Text 20"/>
          <p:cNvSpPr txBox="1"/>
          <p:nvPr/>
        </p:nvSpPr>
        <p:spPr>
          <a:xfrm>
            <a:off x="9061704" y="2048256"/>
            <a:ext cx="457200" cy="256032"/>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64C9A4"/>
                </a:solidFill>
                <a:latin typeface="Helvetica Neue" pitchFamily="34" charset="0"/>
                <a:ea typeface="Helvetica Neue" pitchFamily="34" charset="-122"/>
                <a:cs typeface="Helvetica Neue" pitchFamily="34" charset="-120"/>
              </a:rPr>
              <a:t>04</a:t>
            </a:r>
            <a:endParaRPr lang="en-US" sz="1200" dirty="0"/>
          </a:p>
        </p:txBody>
      </p:sp>
      <p:sp>
        <p:nvSpPr>
          <p:cNvPr id="23" name="Text 21"/>
          <p:cNvSpPr txBox="1"/>
          <p:nvPr/>
        </p:nvSpPr>
        <p:spPr>
          <a:xfrm>
            <a:off x="9061704" y="2578608"/>
            <a:ext cx="208483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OUTPUT</a:t>
            </a:r>
            <a:endParaRPr lang="en-US" sz="1850" dirty="0"/>
          </a:p>
        </p:txBody>
      </p:sp>
      <p:sp>
        <p:nvSpPr>
          <p:cNvPr id="24" name="Text 22"/>
          <p:cNvSpPr txBox="1"/>
          <p:nvPr/>
        </p:nvSpPr>
        <p:spPr>
          <a:xfrm>
            <a:off x="9061704" y="3200400"/>
            <a:ext cx="2084832" cy="384048"/>
          </a:xfrm>
          <a:prstGeom prst="rect">
            <a:avLst/>
          </a:prstGeom>
          <a:noFill/>
          <a:ln/>
        </p:spPr>
        <p:txBody>
          <a:bodyPr wrap="square" lIns="0" tIns="0" rIns="0" bIns="0" rtlCol="0" anchor="ctr">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what the model writes</a:t>
            </a:r>
            <a:endParaRPr lang="en-US" sz="1450" dirty="0"/>
          </a:p>
        </p:txBody>
      </p:sp>
      <p:sp>
        <p:nvSpPr>
          <p:cNvPr id="25" name="Shape 23"/>
          <p:cNvSpPr/>
          <p:nvPr/>
        </p:nvSpPr>
        <p:spPr>
          <a:xfrm>
            <a:off x="1024128" y="4882896"/>
            <a:ext cx="10168128" cy="768096"/>
          </a:xfrm>
          <a:prstGeom prst="roundRect">
            <a:avLst>
              <a:gd name="adj" fmla="val 7143"/>
            </a:avLst>
          </a:prstGeom>
          <a:solidFill>
            <a:srgbClr val="E8F6F0"/>
          </a:solidFill>
          <a:ln w="12700">
            <a:solidFill>
              <a:srgbClr val="B8DDCF"/>
            </a:solidFill>
            <a:prstDash val="solid"/>
          </a:ln>
        </p:spPr>
      </p:sp>
      <p:sp>
        <p:nvSpPr>
          <p:cNvPr id="26" name="Text 24"/>
          <p:cNvSpPr txBox="1"/>
          <p:nvPr/>
        </p:nvSpPr>
        <p:spPr>
          <a:xfrm>
            <a:off x="1353312" y="5084064"/>
            <a:ext cx="9509760" cy="36576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090A10"/>
                </a:solidFill>
                <a:latin typeface="Helvetica Neue" pitchFamily="34" charset="0"/>
                <a:ea typeface="Helvetica Neue" pitchFamily="34" charset="-122"/>
                <a:cs typeface="Helvetica Neue" pitchFamily="34" charset="-120"/>
              </a:rPr>
              <a:t>WHEN THE ENTIRE PATH IS LOCAL, THE PROVIDER DOES NOT SEE EVERY REQUEST.</a:t>
            </a:r>
            <a:endParaRPr lang="en-US" sz="1800" dirty="0"/>
          </a:p>
        </p:txBody>
      </p:sp>
      <p:sp>
        <p:nvSpPr>
          <p:cNvPr id="27" name="Text 25"/>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Location reduces exposure; policy determines whether the route stays local.</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indefinite"/>
                      </p:stCondLst>
                      <p:childTnLst>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26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52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78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30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56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82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08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34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60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86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312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18.xml><?xml version="1.0" encoding="utf-8"?>
<p:sld xmlns:a="http://schemas.openxmlformats.org/drawingml/2006/main" xmlns:p="http://schemas.openxmlformats.org/presentationml/2006/main" xmlns:p14="http://schemas.microsoft.com/office/powerpoint/2010/main">
  <p:cSld name="Slide 18">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Privacy has an asterisk</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18</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71600"/>
            <a:ext cx="2743200" cy="4517136"/>
          </a:xfrm>
          <a:prstGeom prst="roundRect">
            <a:avLst>
              <a:gd name="adj" fmla="val 2667"/>
            </a:avLst>
          </a:prstGeom>
          <a:solidFill>
            <a:srgbClr val="E8F6F0"/>
          </a:solidFill>
          <a:ln w="12700">
            <a:solidFill>
              <a:srgbClr val="B8DDCF"/>
            </a:solidFill>
            <a:prstDash val="solid"/>
          </a:ln>
        </p:spPr>
      </p:sp>
      <p:sp>
        <p:nvSpPr>
          <p:cNvPr id="7" name="Text 5"/>
          <p:cNvSpPr txBox="1"/>
          <p:nvPr/>
        </p:nvSpPr>
        <p:spPr>
          <a:xfrm>
            <a:off x="713232" y="1682496"/>
            <a:ext cx="210312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64C9A4"/>
                </a:solidFill>
                <a:latin typeface="Helvetica Neue" pitchFamily="34" charset="0"/>
                <a:ea typeface="Helvetica Neue" pitchFamily="34" charset="-122"/>
                <a:cs typeface="Helvetica Neue" pitchFamily="34" charset="-120"/>
              </a:rPr>
              <a:t>CAN STAY LOCAL</a:t>
            </a:r>
            <a:endParaRPr lang="en-US" sz="1050" dirty="0"/>
          </a:p>
        </p:txBody>
      </p:sp>
      <p:sp>
        <p:nvSpPr>
          <p:cNvPr id="8" name="Text 6"/>
          <p:cNvSpPr txBox="1"/>
          <p:nvPr/>
        </p:nvSpPr>
        <p:spPr>
          <a:xfrm>
            <a:off x="713232" y="2240280"/>
            <a:ext cx="2139696" cy="1920240"/>
          </a:xfrm>
          <a:prstGeom prst="rect">
            <a:avLst/>
          </a:prstGeom>
          <a:noFill/>
          <a:ln/>
        </p:spPr>
        <p:txBody>
          <a:bodyPr wrap="square" lIns="0" tIns="0" rIns="0" bIns="0" rtlCol="0" anchor="t">
            <a:normAutofit/>
          </a:bodyPr>
          <a:lstStyle/>
          <a:p>
            <a:pPr algn="l" indent="0" marL="0">
              <a:lnSpc>
                <a:spcPct val="100000"/>
              </a:lnSpc>
              <a:buNone/>
            </a:pPr>
            <a:r>
              <a:rPr lang="en-US" sz="2400" b="1" dirty="0">
                <a:solidFill>
                  <a:srgbClr val="090A10"/>
                </a:solidFill>
                <a:latin typeface="Helvetica Neue" pitchFamily="34" charset="0"/>
                <a:ea typeface="Helvetica Neue" pitchFamily="34" charset="-122"/>
                <a:cs typeface="Helvetica Neue" pitchFamily="34" charset="-120"/>
              </a:rPr>
              <a:t>PROMPTS</a:t>
            </a:r>
            <a:endParaRPr lang="en-US" sz="2400" dirty="0"/>
          </a:p>
          <a:p>
            <a:pPr algn="l" indent="0" marL="0">
              <a:lnSpc>
                <a:spcPct val="100000"/>
              </a:lnSpc>
              <a:buNone/>
            </a:pPr>
            <a:r>
              <a:rPr lang="en-US" sz="2400" b="1" dirty="0">
                <a:solidFill>
                  <a:srgbClr val="090A10"/>
                </a:solidFill>
                <a:latin typeface="Helvetica Neue" pitchFamily="34" charset="0"/>
                <a:ea typeface="Helvetica Neue" pitchFamily="34" charset="-122"/>
                <a:cs typeface="Helvetica Neue" pitchFamily="34" charset="-120"/>
              </a:rPr>
              <a:t>FILES</a:t>
            </a:r>
            <a:endParaRPr lang="en-US" sz="2400" dirty="0"/>
          </a:p>
          <a:p>
            <a:pPr algn="l" indent="0" marL="0">
              <a:lnSpc>
                <a:spcPct val="100000"/>
              </a:lnSpc>
              <a:buNone/>
            </a:pPr>
            <a:r>
              <a:rPr lang="en-US" sz="2400" b="1" dirty="0">
                <a:solidFill>
                  <a:srgbClr val="090A10"/>
                </a:solidFill>
                <a:latin typeface="Helvetica Neue" pitchFamily="34" charset="0"/>
                <a:ea typeface="Helvetica Neue" pitchFamily="34" charset="-122"/>
                <a:cs typeface="Helvetica Neue" pitchFamily="34" charset="-120"/>
              </a:rPr>
              <a:t>EMBEDDINGS</a:t>
            </a:r>
            <a:endParaRPr lang="en-US" sz="2400" dirty="0"/>
          </a:p>
          <a:p>
            <a:pPr algn="l" indent="0" marL="0">
              <a:lnSpc>
                <a:spcPct val="100000"/>
              </a:lnSpc>
              <a:buNone/>
            </a:pPr>
            <a:r>
              <a:rPr lang="en-US" sz="2400" b="1" dirty="0">
                <a:solidFill>
                  <a:srgbClr val="090A10"/>
                </a:solidFill>
                <a:latin typeface="Helvetica Neue" pitchFamily="34" charset="0"/>
                <a:ea typeface="Helvetica Neue" pitchFamily="34" charset="-122"/>
                <a:cs typeface="Helvetica Neue" pitchFamily="34" charset="-120"/>
              </a:rPr>
              <a:t>OUTPUTS</a:t>
            </a:r>
            <a:endParaRPr lang="en-US" sz="2400" dirty="0"/>
          </a:p>
        </p:txBody>
      </p:sp>
      <p:sp>
        <p:nvSpPr>
          <p:cNvPr id="9" name="Text 7"/>
          <p:cNvSpPr txBox="1"/>
          <p:nvPr/>
        </p:nvSpPr>
        <p:spPr>
          <a:xfrm>
            <a:off x="713232" y="4846320"/>
            <a:ext cx="2011680" cy="475488"/>
          </a:xfrm>
          <a:prstGeom prst="rect">
            <a:avLst/>
          </a:prstGeom>
          <a:noFill/>
          <a:ln/>
        </p:spPr>
        <p:txBody>
          <a:bodyPr wrap="square" lIns="0" tIns="0" rIns="0" bIns="0" rtlCol="0" anchor="ctr">
            <a:normAutofit/>
          </a:bodyPr>
          <a:lstStyle/>
          <a:p>
            <a:pPr algn="l" indent="0" marL="0">
              <a:lnSpc>
                <a:spcPct val="100000"/>
              </a:lnSpc>
              <a:buNone/>
            </a:pPr>
            <a:r>
              <a:rPr lang="en-US" sz="1400" dirty="0">
                <a:solidFill>
                  <a:srgbClr val="6F6F7A"/>
                </a:solidFill>
                <a:latin typeface="Helvetica Neue" pitchFamily="34" charset="0"/>
                <a:ea typeface="Helvetica Neue" pitchFamily="34" charset="-122"/>
                <a:cs typeface="Helvetica Neue" pitchFamily="34" charset="-120"/>
              </a:rPr>
              <a:t>when the entire path is local</a:t>
            </a:r>
            <a:endParaRPr lang="en-US" sz="1400" dirty="0"/>
          </a:p>
        </p:txBody>
      </p:sp>
      <p:sp>
        <p:nvSpPr>
          <p:cNvPr id="10" name="Text 8"/>
          <p:cNvSpPr txBox="1"/>
          <p:nvPr/>
        </p:nvSpPr>
        <p:spPr>
          <a:xfrm>
            <a:off x="3401568" y="3108960"/>
            <a:ext cx="548640" cy="438912"/>
          </a:xfrm>
          <a:prstGeom prst="rect">
            <a:avLst/>
          </a:prstGeom>
          <a:noFill/>
          <a:ln/>
        </p:spPr>
        <p:txBody>
          <a:bodyPr wrap="square" lIns="0" tIns="0" rIns="0" bIns="0" rtlCol="0" anchor="ctr">
            <a:normAutofit/>
          </a:bodyPr>
          <a:lstStyle/>
          <a:p>
            <a:pPr algn="ctr" indent="0" marL="0">
              <a:lnSpc>
                <a:spcPct val="100000"/>
              </a:lnSpc>
              <a:buNone/>
            </a:pPr>
            <a:r>
              <a:rPr lang="en-US" sz="3200" b="1" dirty="0">
                <a:solidFill>
                  <a:srgbClr val="6F6F7A"/>
                </a:solidFill>
                <a:latin typeface="Helvetica Neue" pitchFamily="34" charset="0"/>
                <a:ea typeface="Helvetica Neue" pitchFamily="34" charset="-122"/>
                <a:cs typeface="Helvetica Neue" pitchFamily="34" charset="-120"/>
              </a:rPr>
              <a:t>→</a:t>
            </a:r>
            <a:endParaRPr lang="en-US" sz="3200" dirty="0"/>
          </a:p>
        </p:txBody>
      </p:sp>
      <p:sp>
        <p:nvSpPr>
          <p:cNvPr id="11" name="Shape 9"/>
          <p:cNvSpPr/>
          <p:nvPr/>
        </p:nvSpPr>
        <p:spPr>
          <a:xfrm>
            <a:off x="4169664" y="1371600"/>
            <a:ext cx="7552944" cy="4517136"/>
          </a:xfrm>
          <a:prstGeom prst="roundRect">
            <a:avLst>
              <a:gd name="adj" fmla="val 1619"/>
            </a:avLst>
          </a:prstGeom>
          <a:solidFill>
            <a:srgbClr val="090A10"/>
          </a:solidFill>
          <a:ln w="12700">
            <a:solidFill>
              <a:srgbClr val="090A10"/>
            </a:solidFill>
            <a:prstDash val="solid"/>
          </a:ln>
        </p:spPr>
      </p:sp>
      <p:sp>
        <p:nvSpPr>
          <p:cNvPr id="12" name="Text 10"/>
          <p:cNvSpPr txBox="1"/>
          <p:nvPr/>
        </p:nvSpPr>
        <p:spPr>
          <a:xfrm>
            <a:off x="4480560" y="1682496"/>
            <a:ext cx="23774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D88752"/>
                </a:solidFill>
                <a:latin typeface="Helvetica Neue" pitchFamily="34" charset="0"/>
                <a:ea typeface="Helvetica Neue" pitchFamily="34" charset="-122"/>
                <a:cs typeface="Helvetica Neue" pitchFamily="34" charset="-120"/>
              </a:rPr>
              <a:t>COMMON LEAK POINTS</a:t>
            </a:r>
            <a:endParaRPr lang="en-US" sz="1050" dirty="0"/>
          </a:p>
        </p:txBody>
      </p:sp>
      <p:sp>
        <p:nvSpPr>
          <p:cNvPr id="13" name="Shape 11"/>
          <p:cNvSpPr/>
          <p:nvPr/>
        </p:nvSpPr>
        <p:spPr>
          <a:xfrm>
            <a:off x="4480560" y="2212848"/>
            <a:ext cx="3090672" cy="987552"/>
          </a:xfrm>
          <a:prstGeom prst="roundRect">
            <a:avLst>
              <a:gd name="adj" fmla="val 4630"/>
            </a:avLst>
          </a:prstGeom>
          <a:solidFill>
            <a:srgbClr val="20212B"/>
          </a:solidFill>
          <a:ln w="12700">
            <a:solidFill>
              <a:srgbClr val="2A2B38"/>
            </a:solidFill>
            <a:prstDash val="solid"/>
          </a:ln>
        </p:spPr>
      </p:sp>
      <p:sp>
        <p:nvSpPr>
          <p:cNvPr id="14" name="Text 12"/>
          <p:cNvSpPr txBox="1"/>
          <p:nvPr/>
        </p:nvSpPr>
        <p:spPr>
          <a:xfrm>
            <a:off x="4645152" y="2359152"/>
            <a:ext cx="347472" cy="34747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D88752"/>
                </a:solidFill>
                <a:latin typeface="Helvetica Neue" pitchFamily="34" charset="0"/>
                <a:ea typeface="Helvetica Neue" pitchFamily="34" charset="-122"/>
                <a:cs typeface="Helvetica Neue" pitchFamily="34" charset="-120"/>
              </a:rPr>
              <a:t>*</a:t>
            </a:r>
            <a:endParaRPr lang="en-US" sz="2600" dirty="0"/>
          </a:p>
        </p:txBody>
      </p:sp>
      <p:sp>
        <p:nvSpPr>
          <p:cNvPr id="15" name="Text 13"/>
          <p:cNvSpPr txBox="1"/>
          <p:nvPr/>
        </p:nvSpPr>
        <p:spPr>
          <a:xfrm>
            <a:off x="5084064" y="2377440"/>
            <a:ext cx="2267712" cy="34747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FFFFFF"/>
                </a:solidFill>
                <a:latin typeface="Helvetica Neue" pitchFamily="34" charset="0"/>
                <a:ea typeface="Helvetica Neue" pitchFamily="34" charset="-122"/>
                <a:cs typeface="Helvetica Neue" pitchFamily="34" charset="-120"/>
              </a:rPr>
              <a:t>PLUGINS + TOOLS</a:t>
            </a:r>
            <a:endParaRPr lang="en-US" sz="1650" dirty="0"/>
          </a:p>
        </p:txBody>
      </p:sp>
      <p:sp>
        <p:nvSpPr>
          <p:cNvPr id="16" name="Shape 14"/>
          <p:cNvSpPr/>
          <p:nvPr/>
        </p:nvSpPr>
        <p:spPr>
          <a:xfrm>
            <a:off x="7918704" y="2212848"/>
            <a:ext cx="3090672" cy="987552"/>
          </a:xfrm>
          <a:prstGeom prst="roundRect">
            <a:avLst>
              <a:gd name="adj" fmla="val 4630"/>
            </a:avLst>
          </a:prstGeom>
          <a:solidFill>
            <a:srgbClr val="20212B"/>
          </a:solidFill>
          <a:ln w="12700">
            <a:solidFill>
              <a:srgbClr val="2A2B38"/>
            </a:solidFill>
            <a:prstDash val="solid"/>
          </a:ln>
        </p:spPr>
      </p:sp>
      <p:sp>
        <p:nvSpPr>
          <p:cNvPr id="17" name="Text 15"/>
          <p:cNvSpPr txBox="1"/>
          <p:nvPr/>
        </p:nvSpPr>
        <p:spPr>
          <a:xfrm>
            <a:off x="8083296" y="2359152"/>
            <a:ext cx="347472" cy="34747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D88752"/>
                </a:solidFill>
                <a:latin typeface="Helvetica Neue" pitchFamily="34" charset="0"/>
                <a:ea typeface="Helvetica Neue" pitchFamily="34" charset="-122"/>
                <a:cs typeface="Helvetica Neue" pitchFamily="34" charset="-120"/>
              </a:rPr>
              <a:t>*</a:t>
            </a:r>
            <a:endParaRPr lang="en-US" sz="2600" dirty="0"/>
          </a:p>
        </p:txBody>
      </p:sp>
      <p:sp>
        <p:nvSpPr>
          <p:cNvPr id="18" name="Text 16"/>
          <p:cNvSpPr txBox="1"/>
          <p:nvPr/>
        </p:nvSpPr>
        <p:spPr>
          <a:xfrm>
            <a:off x="8522208" y="2377440"/>
            <a:ext cx="2267712" cy="34747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FFFFFF"/>
                </a:solidFill>
                <a:latin typeface="Helvetica Neue" pitchFamily="34" charset="0"/>
                <a:ea typeface="Helvetica Neue" pitchFamily="34" charset="-122"/>
                <a:cs typeface="Helvetica Neue" pitchFamily="34" charset="-120"/>
              </a:rPr>
              <a:t>TELEMETRY</a:t>
            </a:r>
            <a:endParaRPr lang="en-US" sz="1650" dirty="0"/>
          </a:p>
        </p:txBody>
      </p:sp>
      <p:sp>
        <p:nvSpPr>
          <p:cNvPr id="19" name="Shape 17"/>
          <p:cNvSpPr/>
          <p:nvPr/>
        </p:nvSpPr>
        <p:spPr>
          <a:xfrm>
            <a:off x="4480560" y="3547872"/>
            <a:ext cx="3090672" cy="987552"/>
          </a:xfrm>
          <a:prstGeom prst="roundRect">
            <a:avLst>
              <a:gd name="adj" fmla="val 4630"/>
            </a:avLst>
          </a:prstGeom>
          <a:solidFill>
            <a:srgbClr val="20212B"/>
          </a:solidFill>
          <a:ln w="12700">
            <a:solidFill>
              <a:srgbClr val="2A2B38"/>
            </a:solidFill>
            <a:prstDash val="solid"/>
          </a:ln>
        </p:spPr>
      </p:sp>
      <p:sp>
        <p:nvSpPr>
          <p:cNvPr id="20" name="Text 18"/>
          <p:cNvSpPr txBox="1"/>
          <p:nvPr/>
        </p:nvSpPr>
        <p:spPr>
          <a:xfrm>
            <a:off x="4645152" y="3694176"/>
            <a:ext cx="347472" cy="34747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D88752"/>
                </a:solidFill>
                <a:latin typeface="Helvetica Neue" pitchFamily="34" charset="0"/>
                <a:ea typeface="Helvetica Neue" pitchFamily="34" charset="-122"/>
                <a:cs typeface="Helvetica Neue" pitchFamily="34" charset="-120"/>
              </a:rPr>
              <a:t>*</a:t>
            </a:r>
            <a:endParaRPr lang="en-US" sz="2600" dirty="0"/>
          </a:p>
        </p:txBody>
      </p:sp>
      <p:sp>
        <p:nvSpPr>
          <p:cNvPr id="21" name="Text 19"/>
          <p:cNvSpPr txBox="1"/>
          <p:nvPr/>
        </p:nvSpPr>
        <p:spPr>
          <a:xfrm>
            <a:off x="5084064" y="3712464"/>
            <a:ext cx="2267712" cy="34747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FFFFFF"/>
                </a:solidFill>
                <a:latin typeface="Helvetica Neue" pitchFamily="34" charset="0"/>
                <a:ea typeface="Helvetica Neue" pitchFamily="34" charset="-122"/>
                <a:cs typeface="Helvetica Neue" pitchFamily="34" charset="-120"/>
              </a:rPr>
              <a:t>LOGS + BACKUPS</a:t>
            </a:r>
            <a:endParaRPr lang="en-US" sz="1650" dirty="0"/>
          </a:p>
        </p:txBody>
      </p:sp>
      <p:sp>
        <p:nvSpPr>
          <p:cNvPr id="22" name="Shape 20"/>
          <p:cNvSpPr/>
          <p:nvPr/>
        </p:nvSpPr>
        <p:spPr>
          <a:xfrm>
            <a:off x="7918704" y="3547872"/>
            <a:ext cx="3090672" cy="987552"/>
          </a:xfrm>
          <a:prstGeom prst="roundRect">
            <a:avLst>
              <a:gd name="adj" fmla="val 4630"/>
            </a:avLst>
          </a:prstGeom>
          <a:solidFill>
            <a:srgbClr val="20212B"/>
          </a:solidFill>
          <a:ln w="12700">
            <a:solidFill>
              <a:srgbClr val="2A2B38"/>
            </a:solidFill>
            <a:prstDash val="solid"/>
          </a:ln>
        </p:spPr>
      </p:sp>
      <p:sp>
        <p:nvSpPr>
          <p:cNvPr id="23" name="Text 21"/>
          <p:cNvSpPr txBox="1"/>
          <p:nvPr/>
        </p:nvSpPr>
        <p:spPr>
          <a:xfrm>
            <a:off x="8083296" y="3694176"/>
            <a:ext cx="347472" cy="34747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D88752"/>
                </a:solidFill>
                <a:latin typeface="Helvetica Neue" pitchFamily="34" charset="0"/>
                <a:ea typeface="Helvetica Neue" pitchFamily="34" charset="-122"/>
                <a:cs typeface="Helvetica Neue" pitchFamily="34" charset="-120"/>
              </a:rPr>
              <a:t>*</a:t>
            </a:r>
            <a:endParaRPr lang="en-US" sz="2600" dirty="0"/>
          </a:p>
        </p:txBody>
      </p:sp>
      <p:sp>
        <p:nvSpPr>
          <p:cNvPr id="24" name="Text 22"/>
          <p:cNvSpPr txBox="1"/>
          <p:nvPr/>
        </p:nvSpPr>
        <p:spPr>
          <a:xfrm>
            <a:off x="8522208" y="3712464"/>
            <a:ext cx="2267712" cy="347472"/>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FFFFFF"/>
                </a:solidFill>
                <a:latin typeface="Helvetica Neue" pitchFamily="34" charset="0"/>
                <a:ea typeface="Helvetica Neue" pitchFamily="34" charset="-122"/>
                <a:cs typeface="Helvetica Neue" pitchFamily="34" charset="-120"/>
              </a:rPr>
              <a:t>MODEL DOWNLOADS</a:t>
            </a:r>
            <a:endParaRPr lang="en-US" sz="1650" dirty="0"/>
          </a:p>
        </p:txBody>
      </p:sp>
      <p:sp>
        <p:nvSpPr>
          <p:cNvPr id="25" name="Text 23"/>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Local inference improves privacy; it does not automatically secure the workflow.</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indefinite"/>
                      </p:stCondLst>
                      <p:childTnLst>
                        <p:par>
                          <p:cTn id="52" presetID="10"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2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52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78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04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30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5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82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208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234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260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86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Lst>
  </p:timing>
</p:sld>
</file>

<file path=ppt/slides/slide19.xml><?xml version="1.0" encoding="utf-8"?>
<p:sld xmlns:a="http://schemas.openxmlformats.org/drawingml/2006/main" xmlns:p="http://schemas.openxmlformats.org/presentationml/2006/main" xmlns:p14="http://schemas.microsoft.com/office/powerpoint/2010/main">
  <p:cSld name="Slide 19">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Open weights are not automatically open source</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19</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71600"/>
            <a:ext cx="2578608" cy="4407408"/>
          </a:xfrm>
          <a:prstGeom prst="roundRect">
            <a:avLst>
              <a:gd name="adj" fmla="val 2128"/>
            </a:avLst>
          </a:prstGeom>
          <a:solidFill>
            <a:srgbClr val="E8F6F0"/>
          </a:solidFill>
          <a:ln w="12700">
            <a:solidFill>
              <a:srgbClr val="D8D3C8"/>
            </a:solidFill>
            <a:prstDash val="solid"/>
          </a:ln>
        </p:spPr>
      </p:sp>
      <p:sp>
        <p:nvSpPr>
          <p:cNvPr id="7" name="Text 5"/>
          <p:cNvSpPr txBox="1"/>
          <p:nvPr/>
        </p:nvSpPr>
        <p:spPr>
          <a:xfrm>
            <a:off x="621792" y="1609344"/>
            <a:ext cx="566928"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64C9A4"/>
                </a:solidFill>
                <a:latin typeface="Helvetica Neue" pitchFamily="34" charset="0"/>
                <a:ea typeface="Helvetica Neue" pitchFamily="34" charset="-122"/>
                <a:cs typeface="Helvetica Neue" pitchFamily="34" charset="-120"/>
              </a:rPr>
              <a:t>✓</a:t>
            </a:r>
            <a:endParaRPr lang="en-US" sz="2700" dirty="0"/>
          </a:p>
        </p:txBody>
      </p:sp>
      <p:sp>
        <p:nvSpPr>
          <p:cNvPr id="8" name="Text 6"/>
          <p:cNvSpPr txBox="1"/>
          <p:nvPr/>
        </p:nvSpPr>
        <p:spPr>
          <a:xfrm>
            <a:off x="621792" y="2212848"/>
            <a:ext cx="217627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DOWNLOAD</a:t>
            </a:r>
            <a:endParaRPr lang="en-US" sz="1850" dirty="0"/>
          </a:p>
        </p:txBody>
      </p:sp>
      <p:sp>
        <p:nvSpPr>
          <p:cNvPr id="9" name="Text 7"/>
          <p:cNvSpPr txBox="1"/>
          <p:nvPr/>
        </p:nvSpPr>
        <p:spPr>
          <a:xfrm>
            <a:off x="621792" y="2798064"/>
            <a:ext cx="2176272" cy="987552"/>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Can you obtain the parameters?</a:t>
            </a:r>
            <a:endParaRPr lang="en-US" sz="1450" dirty="0"/>
          </a:p>
        </p:txBody>
      </p:sp>
      <p:sp>
        <p:nvSpPr>
          <p:cNvPr id="10" name="Shape 8"/>
          <p:cNvSpPr/>
          <p:nvPr/>
        </p:nvSpPr>
        <p:spPr>
          <a:xfrm>
            <a:off x="621792" y="4160520"/>
            <a:ext cx="2176272" cy="0"/>
          </a:xfrm>
          <a:prstGeom prst="line">
            <a:avLst/>
          </a:prstGeom>
          <a:noFill/>
          <a:ln w="12700">
            <a:solidFill>
              <a:srgbClr val="D8D3C8"/>
            </a:solidFill>
            <a:prstDash val="solid"/>
          </a:ln>
        </p:spPr>
      </p:sp>
      <p:sp>
        <p:nvSpPr>
          <p:cNvPr id="11" name="Text 9"/>
          <p:cNvSpPr txBox="1"/>
          <p:nvPr/>
        </p:nvSpPr>
        <p:spPr>
          <a:xfrm>
            <a:off x="621792" y="4480560"/>
            <a:ext cx="2176272" cy="402336"/>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64C9A4"/>
                </a:solidFill>
                <a:latin typeface="Helvetica Neue" pitchFamily="34" charset="0"/>
                <a:ea typeface="Helvetica Neue" pitchFamily="34" charset="-122"/>
                <a:cs typeface="Helvetica Neue" pitchFamily="34" charset="-120"/>
              </a:rPr>
              <a:t>OFTEN</a:t>
            </a:r>
            <a:endParaRPr lang="en-US" sz="2000" dirty="0"/>
          </a:p>
        </p:txBody>
      </p:sp>
      <p:sp>
        <p:nvSpPr>
          <p:cNvPr id="12" name="Shape 10"/>
          <p:cNvSpPr/>
          <p:nvPr/>
        </p:nvSpPr>
        <p:spPr>
          <a:xfrm>
            <a:off x="3255264" y="1371600"/>
            <a:ext cx="2578608" cy="4407408"/>
          </a:xfrm>
          <a:prstGeom prst="roundRect">
            <a:avLst>
              <a:gd name="adj" fmla="val 2128"/>
            </a:avLst>
          </a:prstGeom>
          <a:solidFill>
            <a:srgbClr val="FFFFFF"/>
          </a:solidFill>
          <a:ln w="12700">
            <a:solidFill>
              <a:srgbClr val="D8D3C8"/>
            </a:solidFill>
            <a:prstDash val="solid"/>
          </a:ln>
        </p:spPr>
      </p:sp>
      <p:sp>
        <p:nvSpPr>
          <p:cNvPr id="13" name="Text 11"/>
          <p:cNvSpPr txBox="1"/>
          <p:nvPr/>
        </p:nvSpPr>
        <p:spPr>
          <a:xfrm>
            <a:off x="3438144" y="1609344"/>
            <a:ext cx="566928"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8E63FF"/>
                </a:solidFill>
                <a:latin typeface="Helvetica Neue" pitchFamily="34" charset="0"/>
                <a:ea typeface="Helvetica Neue" pitchFamily="34" charset="-122"/>
                <a:cs typeface="Helvetica Neue" pitchFamily="34" charset="-120"/>
              </a:rPr>
              <a:t>?</a:t>
            </a:r>
            <a:endParaRPr lang="en-US" sz="2700" dirty="0"/>
          </a:p>
        </p:txBody>
      </p:sp>
      <p:sp>
        <p:nvSpPr>
          <p:cNvPr id="14" name="Text 12"/>
          <p:cNvSpPr txBox="1"/>
          <p:nvPr/>
        </p:nvSpPr>
        <p:spPr>
          <a:xfrm>
            <a:off x="3438144" y="2212848"/>
            <a:ext cx="217627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MODIFY</a:t>
            </a:r>
            <a:endParaRPr lang="en-US" sz="1850" dirty="0"/>
          </a:p>
        </p:txBody>
      </p:sp>
      <p:sp>
        <p:nvSpPr>
          <p:cNvPr id="15" name="Text 13"/>
          <p:cNvSpPr txBox="1"/>
          <p:nvPr/>
        </p:nvSpPr>
        <p:spPr>
          <a:xfrm>
            <a:off x="3438144" y="2798064"/>
            <a:ext cx="2176272" cy="987552"/>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Can you fine-tune and redistribute?</a:t>
            </a:r>
            <a:endParaRPr lang="en-US" sz="1450" dirty="0"/>
          </a:p>
        </p:txBody>
      </p:sp>
      <p:sp>
        <p:nvSpPr>
          <p:cNvPr id="16" name="Shape 14"/>
          <p:cNvSpPr/>
          <p:nvPr/>
        </p:nvSpPr>
        <p:spPr>
          <a:xfrm>
            <a:off x="3438144" y="4160520"/>
            <a:ext cx="2176272" cy="0"/>
          </a:xfrm>
          <a:prstGeom prst="line">
            <a:avLst/>
          </a:prstGeom>
          <a:noFill/>
          <a:ln w="12700">
            <a:solidFill>
              <a:srgbClr val="D8D3C8"/>
            </a:solidFill>
            <a:prstDash val="solid"/>
          </a:ln>
        </p:spPr>
      </p:sp>
      <p:sp>
        <p:nvSpPr>
          <p:cNvPr id="17" name="Text 15"/>
          <p:cNvSpPr txBox="1"/>
          <p:nvPr/>
        </p:nvSpPr>
        <p:spPr>
          <a:xfrm>
            <a:off x="3438144" y="4480560"/>
            <a:ext cx="2176272" cy="402336"/>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8E63FF"/>
                </a:solidFill>
                <a:latin typeface="Helvetica Neue" pitchFamily="34" charset="0"/>
                <a:ea typeface="Helvetica Neue" pitchFamily="34" charset="-122"/>
                <a:cs typeface="Helvetica Neue" pitchFamily="34" charset="-120"/>
              </a:rPr>
              <a:t>VARIES</a:t>
            </a:r>
            <a:endParaRPr lang="en-US" sz="2000" dirty="0"/>
          </a:p>
        </p:txBody>
      </p:sp>
      <p:sp>
        <p:nvSpPr>
          <p:cNvPr id="18" name="Shape 16"/>
          <p:cNvSpPr/>
          <p:nvPr/>
        </p:nvSpPr>
        <p:spPr>
          <a:xfrm>
            <a:off x="6071616" y="1371600"/>
            <a:ext cx="2578608" cy="4407408"/>
          </a:xfrm>
          <a:prstGeom prst="roundRect">
            <a:avLst>
              <a:gd name="adj" fmla="val 2128"/>
            </a:avLst>
          </a:prstGeom>
          <a:solidFill>
            <a:srgbClr val="FFFFFF"/>
          </a:solidFill>
          <a:ln w="12700">
            <a:solidFill>
              <a:srgbClr val="D8D3C8"/>
            </a:solidFill>
            <a:prstDash val="solid"/>
          </a:ln>
        </p:spPr>
      </p:sp>
      <p:sp>
        <p:nvSpPr>
          <p:cNvPr id="19" name="Text 17"/>
          <p:cNvSpPr txBox="1"/>
          <p:nvPr/>
        </p:nvSpPr>
        <p:spPr>
          <a:xfrm>
            <a:off x="6254496" y="1609344"/>
            <a:ext cx="566928"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D88752"/>
                </a:solidFill>
                <a:latin typeface="Helvetica Neue" pitchFamily="34" charset="0"/>
                <a:ea typeface="Helvetica Neue" pitchFamily="34" charset="-122"/>
                <a:cs typeface="Helvetica Neue" pitchFamily="34" charset="-120"/>
              </a:rPr>
              <a:t>?</a:t>
            </a:r>
            <a:endParaRPr lang="en-US" sz="2700" dirty="0"/>
          </a:p>
        </p:txBody>
      </p:sp>
      <p:sp>
        <p:nvSpPr>
          <p:cNvPr id="20" name="Text 18"/>
          <p:cNvSpPr txBox="1"/>
          <p:nvPr/>
        </p:nvSpPr>
        <p:spPr>
          <a:xfrm>
            <a:off x="6254496" y="2212848"/>
            <a:ext cx="217627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COMMERCIAL</a:t>
            </a:r>
            <a:endParaRPr lang="en-US" sz="1850" dirty="0"/>
          </a:p>
        </p:txBody>
      </p:sp>
      <p:sp>
        <p:nvSpPr>
          <p:cNvPr id="21" name="Text 19"/>
          <p:cNvSpPr txBox="1"/>
          <p:nvPr/>
        </p:nvSpPr>
        <p:spPr>
          <a:xfrm>
            <a:off x="6254496" y="2798064"/>
            <a:ext cx="2176272" cy="987552"/>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Can a business use the model?</a:t>
            </a:r>
            <a:endParaRPr lang="en-US" sz="1450" dirty="0"/>
          </a:p>
        </p:txBody>
      </p:sp>
      <p:sp>
        <p:nvSpPr>
          <p:cNvPr id="22" name="Shape 20"/>
          <p:cNvSpPr/>
          <p:nvPr/>
        </p:nvSpPr>
        <p:spPr>
          <a:xfrm>
            <a:off x="6254496" y="4160520"/>
            <a:ext cx="2176272" cy="0"/>
          </a:xfrm>
          <a:prstGeom prst="line">
            <a:avLst/>
          </a:prstGeom>
          <a:noFill/>
          <a:ln w="12700">
            <a:solidFill>
              <a:srgbClr val="D8D3C8"/>
            </a:solidFill>
            <a:prstDash val="solid"/>
          </a:ln>
        </p:spPr>
      </p:sp>
      <p:sp>
        <p:nvSpPr>
          <p:cNvPr id="23" name="Text 21"/>
          <p:cNvSpPr txBox="1"/>
          <p:nvPr/>
        </p:nvSpPr>
        <p:spPr>
          <a:xfrm>
            <a:off x="6254496" y="4480560"/>
            <a:ext cx="2176272" cy="402336"/>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D88752"/>
                </a:solidFill>
                <a:latin typeface="Helvetica Neue" pitchFamily="34" charset="0"/>
                <a:ea typeface="Helvetica Neue" pitchFamily="34" charset="-122"/>
                <a:cs typeface="Helvetica Neue" pitchFamily="34" charset="-120"/>
              </a:rPr>
              <a:t>CHECK</a:t>
            </a:r>
            <a:endParaRPr lang="en-US" sz="2000" dirty="0"/>
          </a:p>
        </p:txBody>
      </p:sp>
      <p:sp>
        <p:nvSpPr>
          <p:cNvPr id="24" name="Shape 22"/>
          <p:cNvSpPr/>
          <p:nvPr/>
        </p:nvSpPr>
        <p:spPr>
          <a:xfrm>
            <a:off x="8887968" y="1371600"/>
            <a:ext cx="2578608" cy="4407408"/>
          </a:xfrm>
          <a:prstGeom prst="roundRect">
            <a:avLst>
              <a:gd name="adj" fmla="val 2128"/>
            </a:avLst>
          </a:prstGeom>
          <a:solidFill>
            <a:srgbClr val="FFFFFF"/>
          </a:solidFill>
          <a:ln w="12700">
            <a:solidFill>
              <a:srgbClr val="D8D3C8"/>
            </a:solidFill>
            <a:prstDash val="solid"/>
          </a:ln>
        </p:spPr>
      </p:sp>
      <p:sp>
        <p:nvSpPr>
          <p:cNvPr id="25" name="Text 23"/>
          <p:cNvSpPr txBox="1"/>
          <p:nvPr/>
        </p:nvSpPr>
        <p:spPr>
          <a:xfrm>
            <a:off x="9070848" y="1609344"/>
            <a:ext cx="566928" cy="457200"/>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EB6A68"/>
                </a:solidFill>
                <a:latin typeface="Helvetica Neue" pitchFamily="34" charset="0"/>
                <a:ea typeface="Helvetica Neue" pitchFamily="34" charset="-122"/>
                <a:cs typeface="Helvetica Neue" pitchFamily="34" charset="-120"/>
              </a:rPr>
              <a:t>?</a:t>
            </a:r>
            <a:endParaRPr lang="en-US" sz="2700" dirty="0"/>
          </a:p>
        </p:txBody>
      </p:sp>
      <p:sp>
        <p:nvSpPr>
          <p:cNvPr id="26" name="Text 24"/>
          <p:cNvSpPr txBox="1"/>
          <p:nvPr/>
        </p:nvSpPr>
        <p:spPr>
          <a:xfrm>
            <a:off x="9070848" y="2212848"/>
            <a:ext cx="2176272" cy="384048"/>
          </a:xfrm>
          <a:prstGeom prst="rect">
            <a:avLst/>
          </a:prstGeom>
          <a:noFill/>
          <a:ln/>
        </p:spPr>
        <p:txBody>
          <a:bodyPr wrap="square" lIns="0" tIns="0" rIns="0" bIns="0" rtlCol="0" anchor="ctr">
            <a:normAutofit/>
          </a:bodyPr>
          <a:lstStyle/>
          <a:p>
            <a:pPr algn="l" indent="0" marL="0">
              <a:lnSpc>
                <a:spcPct val="100000"/>
              </a:lnSpc>
              <a:buNone/>
            </a:pPr>
            <a:r>
              <a:rPr lang="en-US" sz="1850" b="1" dirty="0">
                <a:solidFill>
                  <a:srgbClr val="090A10"/>
                </a:solidFill>
                <a:latin typeface="Helvetica Neue" pitchFamily="34" charset="0"/>
                <a:ea typeface="Helvetica Neue" pitchFamily="34" charset="-122"/>
                <a:cs typeface="Helvetica Neue" pitchFamily="34" charset="-120"/>
              </a:rPr>
              <a:t>REPRODUCE</a:t>
            </a:r>
            <a:endParaRPr lang="en-US" sz="1850" dirty="0"/>
          </a:p>
        </p:txBody>
      </p:sp>
      <p:sp>
        <p:nvSpPr>
          <p:cNvPr id="27" name="Text 25"/>
          <p:cNvSpPr txBox="1"/>
          <p:nvPr/>
        </p:nvSpPr>
        <p:spPr>
          <a:xfrm>
            <a:off x="9070848" y="2798064"/>
            <a:ext cx="2176272" cy="987552"/>
          </a:xfrm>
          <a:prstGeom prst="rect">
            <a:avLst/>
          </a:prstGeom>
          <a:noFill/>
          <a:ln/>
        </p:spPr>
        <p:txBody>
          <a:bodyPr wrap="square" lIns="0" tIns="0" rIns="0" bIns="0" rtlCol="0" anchor="t">
            <a:normAutofit/>
          </a:bodyPr>
          <a:lstStyle/>
          <a:p>
            <a:pPr algn="l" indent="0" marL="0">
              <a:lnSpc>
                <a:spcPct val="100000"/>
              </a:lnSpc>
              <a:buNone/>
            </a:pPr>
            <a:r>
              <a:rPr lang="en-US" sz="1450" dirty="0">
                <a:solidFill>
                  <a:srgbClr val="6F6F7A"/>
                </a:solidFill>
                <a:latin typeface="Helvetica Neue" pitchFamily="34" charset="0"/>
                <a:ea typeface="Helvetica Neue" pitchFamily="34" charset="-122"/>
                <a:cs typeface="Helvetica Neue" pitchFamily="34" charset="-120"/>
              </a:rPr>
              <a:t>Do you have training data + code?</a:t>
            </a:r>
            <a:endParaRPr lang="en-US" sz="1450" dirty="0"/>
          </a:p>
        </p:txBody>
      </p:sp>
      <p:sp>
        <p:nvSpPr>
          <p:cNvPr id="28" name="Shape 26"/>
          <p:cNvSpPr/>
          <p:nvPr/>
        </p:nvSpPr>
        <p:spPr>
          <a:xfrm>
            <a:off x="9070848" y="4160520"/>
            <a:ext cx="2176272" cy="0"/>
          </a:xfrm>
          <a:prstGeom prst="line">
            <a:avLst/>
          </a:prstGeom>
          <a:noFill/>
          <a:ln w="12700">
            <a:solidFill>
              <a:srgbClr val="D8D3C8"/>
            </a:solidFill>
            <a:prstDash val="solid"/>
          </a:ln>
        </p:spPr>
      </p:sp>
      <p:sp>
        <p:nvSpPr>
          <p:cNvPr id="29" name="Text 27"/>
          <p:cNvSpPr txBox="1"/>
          <p:nvPr/>
        </p:nvSpPr>
        <p:spPr>
          <a:xfrm>
            <a:off x="9070848" y="4480560"/>
            <a:ext cx="2176272" cy="402336"/>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EB6A68"/>
                </a:solidFill>
                <a:latin typeface="Helvetica Neue" pitchFamily="34" charset="0"/>
                <a:ea typeface="Helvetica Neue" pitchFamily="34" charset="-122"/>
                <a:cs typeface="Helvetica Neue" pitchFamily="34" charset="-120"/>
              </a:rPr>
              <a:t>RARE</a:t>
            </a:r>
            <a:endParaRPr lang="en-US" sz="2000" dirty="0"/>
          </a:p>
        </p:txBody>
      </p:sp>
      <p:sp>
        <p:nvSpPr>
          <p:cNvPr id="30" name="Text 28"/>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Read the model card and license before building a product.</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8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31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33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36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indefinite"/>
                      </p:stCondLst>
                      <p:childTnLst>
                        <p:par>
                          <p:cTn id="64" presetID="10" presetClass="entr" presetSubtype="0"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2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5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7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10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13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par>
                    <p:cTn id="87" fill="hold">
                      <p:stCondLst>
                        <p:cond delay="156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220"/>
                                  <p:tgtEl>
                                    <p:spTgt spid="23"/>
                                  </p:tgtEl>
                                </p:cBhvr>
                              </p:animEffect>
                            </p:childTnLst>
                          </p:cTn>
                        </p:par>
                      </p:childTnLst>
                    </p:cTn>
                  </p:par>
                  <p:par>
                    <p:cTn id="91" fill="hold">
                      <p:stCondLst>
                        <p:cond delay="182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20"/>
                                  <p:tgtEl>
                                    <p:spTgt spid="24"/>
                                  </p:tgtEl>
                                </p:cBhvr>
                              </p:animEffect>
                            </p:childTnLst>
                          </p:cTn>
                        </p:par>
                      </p:childTnLst>
                    </p:cTn>
                  </p:par>
                  <p:par>
                    <p:cTn id="95" fill="hold">
                      <p:stCondLst>
                        <p:cond delay="208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220"/>
                                  <p:tgtEl>
                                    <p:spTgt spid="25"/>
                                  </p:tgtEl>
                                </p:cBhvr>
                              </p:animEffect>
                            </p:childTnLst>
                          </p:cTn>
                        </p:par>
                      </p:childTnLst>
                    </p:cTn>
                  </p:par>
                  <p:par>
                    <p:cTn id="99" fill="hold">
                      <p:stCondLst>
                        <p:cond delay="234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220"/>
                                  <p:tgtEl>
                                    <p:spTgt spid="26"/>
                                  </p:tgtEl>
                                </p:cBhvr>
                              </p:animEffect>
                            </p:childTnLst>
                          </p:cTn>
                        </p:par>
                      </p:childTnLst>
                    </p:cTn>
                  </p:par>
                  <p:par>
                    <p:cTn id="103" fill="hold">
                      <p:stCondLst>
                        <p:cond delay="260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220"/>
                                  <p:tgtEl>
                                    <p:spTgt spid="27"/>
                                  </p:tgtEl>
                                </p:cBhvr>
                              </p:animEffect>
                            </p:childTnLst>
                          </p:cTn>
                        </p:par>
                      </p:childTnLst>
                    </p:cTn>
                  </p:par>
                  <p:par>
                    <p:cTn id="107" fill="hold">
                      <p:stCondLst>
                        <p:cond delay="286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220"/>
                                  <p:tgtEl>
                                    <p:spTgt spid="28"/>
                                  </p:tgtEl>
                                </p:cBhvr>
                              </p:animEffect>
                            </p:childTnLst>
                          </p:cTn>
                        </p:par>
                      </p:childTnLst>
                    </p:cTn>
                  </p:par>
                  <p:par>
                    <p:cTn id="111" fill="hold">
                      <p:stCondLst>
                        <p:cond delay="3120"/>
                      </p:stCondLst>
                      <p:childTnLst>
                        <p:par>
                          <p:cTn id="112" presetID="10" presetClass="entr" presetSubtype="0"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220"/>
                                  <p:tgtEl>
                                    <p:spTgt spid="29"/>
                                  </p:tgtEl>
                                </p:cBhvr>
                              </p:animEffect>
                            </p:childTnLst>
                          </p:cTn>
                        </p:par>
                      </p:childTnLst>
                    </p:cTn>
                  </p:par>
                  <p:par>
                    <p:cTn id="115" fill="hold">
                      <p:stCondLst>
                        <p:cond delay="3380"/>
                      </p:stCondLst>
                      <p:childTnLst>
                        <p:par>
                          <p:cTn id="116" presetID="10" presetClass="entr" presetSubtype="0" fill="hold" nodeType="after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220"/>
                                  <p:tgtEl>
                                    <p:spTgt spid="3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0.xml><?xml version="1.0" encoding="utf-8"?>
<p:sld xmlns:a="http://schemas.openxmlformats.org/drawingml/2006/main" xmlns:p="http://schemas.openxmlformats.org/presentationml/2006/main" xmlns:p14="http://schemas.microsoft.com/office/powerpoint/2010/main">
  <p:cSld name="Slide 20">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FFFFFF"/>
                </a:solidFill>
                <a:latin typeface="Helvetica Neue" pitchFamily="34" charset="0"/>
                <a:ea typeface="Helvetica Neue" pitchFamily="34" charset="-122"/>
                <a:cs typeface="Helvetica Neue" pitchFamily="34" charset="-120"/>
              </a:rPr>
              <a:t>The bad side: access spreads risk too</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20</a:t>
            </a:r>
            <a:endParaRPr lang="en-US" sz="1000" dirty="0"/>
          </a:p>
        </p:txBody>
      </p:sp>
      <p:sp>
        <p:nvSpPr>
          <p:cNvPr id="5" name="Shape 3"/>
          <p:cNvSpPr/>
          <p:nvPr/>
        </p:nvSpPr>
        <p:spPr>
          <a:xfrm>
            <a:off x="402336" y="1024128"/>
            <a:ext cx="11338560" cy="0"/>
          </a:xfrm>
          <a:prstGeom prst="line">
            <a:avLst/>
          </a:prstGeom>
          <a:noFill/>
          <a:ln w="12700">
            <a:solidFill>
              <a:srgbClr val="2A2B38"/>
            </a:solidFill>
            <a:prstDash val="solid"/>
          </a:ln>
        </p:spPr>
      </p:sp>
      <p:sp>
        <p:nvSpPr>
          <p:cNvPr id="6" name="Shape 4"/>
          <p:cNvSpPr/>
          <p:nvPr/>
        </p:nvSpPr>
        <p:spPr>
          <a:xfrm>
            <a:off x="438912" y="1371600"/>
            <a:ext cx="5358384" cy="1938528"/>
          </a:xfrm>
          <a:prstGeom prst="roundRect">
            <a:avLst>
              <a:gd name="adj" fmla="val 3774"/>
            </a:avLst>
          </a:prstGeom>
          <a:solidFill>
            <a:srgbClr val="14151F"/>
          </a:solidFill>
          <a:ln w="12700">
            <a:solidFill>
              <a:srgbClr val="2A2B38"/>
            </a:solidFill>
            <a:prstDash val="solid"/>
          </a:ln>
        </p:spPr>
      </p:sp>
      <p:sp>
        <p:nvSpPr>
          <p:cNvPr id="7" name="Text 5"/>
          <p:cNvSpPr txBox="1"/>
          <p:nvPr/>
        </p:nvSpPr>
        <p:spPr>
          <a:xfrm>
            <a:off x="640080" y="1554480"/>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EB6A68"/>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40080" y="1938528"/>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MISUSE AT SCALE</a:t>
            </a:r>
            <a:endParaRPr lang="en-US" sz="1900" dirty="0"/>
          </a:p>
        </p:txBody>
      </p:sp>
      <p:sp>
        <p:nvSpPr>
          <p:cNvPr id="9" name="Text 7"/>
          <p:cNvSpPr txBox="1"/>
          <p:nvPr/>
        </p:nvSpPr>
        <p:spPr>
          <a:xfrm>
            <a:off x="640080" y="2395728"/>
            <a:ext cx="4956048" cy="74980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Cheap private generation lowers the cost of spam, scams, and harmful automation.</a:t>
            </a:r>
            <a:endParaRPr lang="en-US" sz="1350" dirty="0"/>
          </a:p>
        </p:txBody>
      </p:sp>
      <p:sp>
        <p:nvSpPr>
          <p:cNvPr id="10" name="Shape 8"/>
          <p:cNvSpPr/>
          <p:nvPr/>
        </p:nvSpPr>
        <p:spPr>
          <a:xfrm>
            <a:off x="6089904" y="1371600"/>
            <a:ext cx="5358384" cy="1938528"/>
          </a:xfrm>
          <a:prstGeom prst="roundRect">
            <a:avLst>
              <a:gd name="adj" fmla="val 3774"/>
            </a:avLst>
          </a:prstGeom>
          <a:solidFill>
            <a:srgbClr val="14151F"/>
          </a:solidFill>
          <a:ln w="12700">
            <a:solidFill>
              <a:srgbClr val="2A2B38"/>
            </a:solidFill>
            <a:prstDash val="solid"/>
          </a:ln>
        </p:spPr>
      </p:sp>
      <p:sp>
        <p:nvSpPr>
          <p:cNvPr id="11" name="Text 9"/>
          <p:cNvSpPr txBox="1"/>
          <p:nvPr/>
        </p:nvSpPr>
        <p:spPr>
          <a:xfrm>
            <a:off x="6291072" y="1554480"/>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02</a:t>
            </a:r>
            <a:endParaRPr lang="en-US" sz="1300" dirty="0"/>
          </a:p>
        </p:txBody>
      </p:sp>
      <p:sp>
        <p:nvSpPr>
          <p:cNvPr id="12" name="Text 10"/>
          <p:cNvSpPr txBox="1"/>
          <p:nvPr/>
        </p:nvSpPr>
        <p:spPr>
          <a:xfrm>
            <a:off x="6291072" y="1938528"/>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SHADOW AI</a:t>
            </a:r>
            <a:endParaRPr lang="en-US" sz="1900" dirty="0"/>
          </a:p>
        </p:txBody>
      </p:sp>
      <p:sp>
        <p:nvSpPr>
          <p:cNvPr id="13" name="Text 11"/>
          <p:cNvSpPr txBox="1"/>
          <p:nvPr/>
        </p:nvSpPr>
        <p:spPr>
          <a:xfrm>
            <a:off x="6291072" y="2395728"/>
            <a:ext cx="4956048" cy="74980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Employees may run unapproved models on sensitive company data.</a:t>
            </a:r>
            <a:endParaRPr lang="en-US" sz="1350" dirty="0"/>
          </a:p>
        </p:txBody>
      </p:sp>
      <p:sp>
        <p:nvSpPr>
          <p:cNvPr id="14" name="Shape 12"/>
          <p:cNvSpPr/>
          <p:nvPr/>
        </p:nvSpPr>
        <p:spPr>
          <a:xfrm>
            <a:off x="438912" y="3584448"/>
            <a:ext cx="5358384" cy="1938528"/>
          </a:xfrm>
          <a:prstGeom prst="roundRect">
            <a:avLst>
              <a:gd name="adj" fmla="val 3774"/>
            </a:avLst>
          </a:prstGeom>
          <a:solidFill>
            <a:srgbClr val="14151F"/>
          </a:solidFill>
          <a:ln w="12700">
            <a:solidFill>
              <a:srgbClr val="2A2B38"/>
            </a:solidFill>
            <a:prstDash val="solid"/>
          </a:ln>
        </p:spPr>
      </p:sp>
      <p:sp>
        <p:nvSpPr>
          <p:cNvPr id="15" name="Text 13"/>
          <p:cNvSpPr txBox="1"/>
          <p:nvPr/>
        </p:nvSpPr>
        <p:spPr>
          <a:xfrm>
            <a:off x="640080" y="376732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BCA7FF"/>
                </a:solidFill>
                <a:latin typeface="Helvetica Neue" pitchFamily="34" charset="0"/>
                <a:ea typeface="Helvetica Neue" pitchFamily="34" charset="-122"/>
                <a:cs typeface="Helvetica Neue" pitchFamily="34" charset="-120"/>
              </a:rPr>
              <a:t>03</a:t>
            </a:r>
            <a:endParaRPr lang="en-US" sz="1300" dirty="0"/>
          </a:p>
        </p:txBody>
      </p:sp>
      <p:sp>
        <p:nvSpPr>
          <p:cNvPr id="16" name="Text 14"/>
          <p:cNvSpPr txBox="1"/>
          <p:nvPr/>
        </p:nvSpPr>
        <p:spPr>
          <a:xfrm>
            <a:off x="640080" y="4151376"/>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SUPPLY CHAIN</a:t>
            </a:r>
            <a:endParaRPr lang="en-US" sz="1900" dirty="0"/>
          </a:p>
        </p:txBody>
      </p:sp>
      <p:sp>
        <p:nvSpPr>
          <p:cNvPr id="17" name="Text 15"/>
          <p:cNvSpPr txBox="1"/>
          <p:nvPr/>
        </p:nvSpPr>
        <p:spPr>
          <a:xfrm>
            <a:off x="640080" y="4608576"/>
            <a:ext cx="4956048" cy="74980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Model files, runtimes, and plugins become another path for malicious code.</a:t>
            </a:r>
            <a:endParaRPr lang="en-US" sz="1350" dirty="0"/>
          </a:p>
        </p:txBody>
      </p:sp>
      <p:sp>
        <p:nvSpPr>
          <p:cNvPr id="18" name="Shape 16"/>
          <p:cNvSpPr/>
          <p:nvPr/>
        </p:nvSpPr>
        <p:spPr>
          <a:xfrm>
            <a:off x="6089904" y="3584448"/>
            <a:ext cx="5358384" cy="1938528"/>
          </a:xfrm>
          <a:prstGeom prst="roundRect">
            <a:avLst>
              <a:gd name="adj" fmla="val 3774"/>
            </a:avLst>
          </a:prstGeom>
          <a:solidFill>
            <a:srgbClr val="14151F"/>
          </a:solidFill>
          <a:ln w="12700">
            <a:solidFill>
              <a:srgbClr val="2A2B38"/>
            </a:solidFill>
            <a:prstDash val="solid"/>
          </a:ln>
        </p:spPr>
      </p:sp>
      <p:sp>
        <p:nvSpPr>
          <p:cNvPr id="19" name="Text 17"/>
          <p:cNvSpPr txBox="1"/>
          <p:nvPr/>
        </p:nvSpPr>
        <p:spPr>
          <a:xfrm>
            <a:off x="6291072" y="3767328"/>
            <a:ext cx="502920" cy="256032"/>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4777FF"/>
                </a:solidFill>
                <a:latin typeface="Helvetica Neue" pitchFamily="34" charset="0"/>
                <a:ea typeface="Helvetica Neue" pitchFamily="34" charset="-122"/>
                <a:cs typeface="Helvetica Neue" pitchFamily="34" charset="-120"/>
              </a:rPr>
              <a:t>04</a:t>
            </a:r>
            <a:endParaRPr lang="en-US" sz="1300" dirty="0"/>
          </a:p>
        </p:txBody>
      </p:sp>
      <p:sp>
        <p:nvSpPr>
          <p:cNvPr id="20" name="Text 18"/>
          <p:cNvSpPr txBox="1"/>
          <p:nvPr/>
        </p:nvSpPr>
        <p:spPr>
          <a:xfrm>
            <a:off x="6291072" y="4151376"/>
            <a:ext cx="495604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FFFFFF"/>
                </a:solidFill>
                <a:latin typeface="Helvetica Neue" pitchFamily="34" charset="0"/>
                <a:ea typeface="Helvetica Neue" pitchFamily="34" charset="-122"/>
                <a:cs typeface="Helvetica Neue" pitchFamily="34" charset="-120"/>
              </a:rPr>
              <a:t>ACCOUNTABILITY GAP</a:t>
            </a:r>
            <a:endParaRPr lang="en-US" sz="1900" dirty="0"/>
          </a:p>
        </p:txBody>
      </p:sp>
      <p:sp>
        <p:nvSpPr>
          <p:cNvPr id="21" name="Text 19"/>
          <p:cNvSpPr txBox="1"/>
          <p:nvPr/>
        </p:nvSpPr>
        <p:spPr>
          <a:xfrm>
            <a:off x="6291072" y="4608576"/>
            <a:ext cx="4956048" cy="74980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A8A7B3"/>
                </a:solidFill>
                <a:latin typeface="Helvetica Neue" pitchFamily="34" charset="0"/>
                <a:ea typeface="Helvetica Neue" pitchFamily="34" charset="-122"/>
                <a:cs typeface="Helvetica Neue" pitchFamily="34" charset="-120"/>
              </a:rPr>
              <a:t>When a local system causes harm, responsibility can be harder to trace.</a:t>
            </a:r>
            <a:endParaRPr lang="en-US" sz="1350" dirty="0"/>
          </a:p>
        </p:txBody>
      </p:sp>
      <p:sp>
        <p:nvSpPr>
          <p:cNvPr id="22" name="Text 20"/>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A8A7B3"/>
                </a:solidFill>
                <a:latin typeface="Helvetica Neue" pitchFamily="34" charset="0"/>
                <a:ea typeface="Helvetica Neue" pitchFamily="34" charset="-122"/>
                <a:cs typeface="Helvetica Neue" pitchFamily="34" charset="-120"/>
              </a:rPr>
              <a:t>Democratizing capability also democratizes responsibility.</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indefinite"/>
                      </p:stCondLst>
                      <p:childTnLst>
                        <p:par>
                          <p:cTn id="48" presetID="10" presetClass="entr" presetSubtype="0"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26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52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7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04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30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56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182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08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par>
                    <p:cTn id="83" fill="hold">
                      <p:stCondLst>
                        <p:cond delay="234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220"/>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21.xml><?xml version="1.0" encoding="utf-8"?>
<p:sld xmlns:a="http://schemas.openxmlformats.org/drawingml/2006/main" xmlns:p="http://schemas.openxmlformats.org/presentationml/2006/main" xmlns:p14="http://schemas.microsoft.com/office/powerpoint/2010/main">
  <p:cSld name="Slide 21">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LLMS</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The risks that hide below the interface</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21</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57200" y="1389888"/>
            <a:ext cx="3456432" cy="4352544"/>
          </a:xfrm>
          <a:prstGeom prst="roundRect">
            <a:avLst>
              <a:gd name="adj" fmla="val 1852"/>
            </a:avLst>
          </a:prstGeom>
          <a:solidFill>
            <a:srgbClr val="FFFFFF"/>
          </a:solidFill>
          <a:ln w="12700">
            <a:solidFill>
              <a:srgbClr val="D8D3C8"/>
            </a:solidFill>
            <a:prstDash val="solid"/>
          </a:ln>
        </p:spPr>
      </p:sp>
      <p:sp>
        <p:nvSpPr>
          <p:cNvPr id="7" name="Text 5"/>
          <p:cNvSpPr txBox="1"/>
          <p:nvPr/>
        </p:nvSpPr>
        <p:spPr>
          <a:xfrm>
            <a:off x="676656" y="1664208"/>
            <a:ext cx="530352"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8E63FF"/>
                </a:solidFill>
                <a:latin typeface="Helvetica Neue" pitchFamily="34" charset="0"/>
                <a:ea typeface="Helvetica Neue" pitchFamily="34" charset="-122"/>
                <a:cs typeface="Helvetica Neue" pitchFamily="34" charset="-120"/>
              </a:rPr>
              <a:t>01</a:t>
            </a:r>
            <a:endParaRPr lang="en-US" sz="1300" dirty="0"/>
          </a:p>
        </p:txBody>
      </p:sp>
      <p:sp>
        <p:nvSpPr>
          <p:cNvPr id="8" name="Text 6"/>
          <p:cNvSpPr txBox="1"/>
          <p:nvPr/>
        </p:nvSpPr>
        <p:spPr>
          <a:xfrm>
            <a:off x="676656" y="2176272"/>
            <a:ext cx="2907792" cy="658368"/>
          </a:xfrm>
          <a:prstGeom prst="rect">
            <a:avLst/>
          </a:prstGeom>
          <a:noFill/>
          <a:ln/>
        </p:spPr>
        <p:txBody>
          <a:bodyPr wrap="square" lIns="0" tIns="0" rIns="0" bIns="0" rtlCol="0" anchor="t">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SUPPLY CHAIN</a:t>
            </a:r>
            <a:endParaRPr lang="en-US" sz="2100" dirty="0"/>
          </a:p>
        </p:txBody>
      </p:sp>
      <p:sp>
        <p:nvSpPr>
          <p:cNvPr id="9" name="Shape 7"/>
          <p:cNvSpPr/>
          <p:nvPr/>
        </p:nvSpPr>
        <p:spPr>
          <a:xfrm>
            <a:off x="676656" y="2999232"/>
            <a:ext cx="2852928" cy="0"/>
          </a:xfrm>
          <a:prstGeom prst="line">
            <a:avLst/>
          </a:prstGeom>
          <a:noFill/>
          <a:ln w="25400">
            <a:solidFill>
              <a:srgbClr val="8E63FF"/>
            </a:solidFill>
            <a:prstDash val="solid"/>
          </a:ln>
        </p:spPr>
      </p:sp>
      <p:sp>
        <p:nvSpPr>
          <p:cNvPr id="10" name="Text 8"/>
          <p:cNvSpPr txBox="1"/>
          <p:nvPr/>
        </p:nvSpPr>
        <p:spPr>
          <a:xfrm>
            <a:off x="676656" y="3310128"/>
            <a:ext cx="2852928" cy="1481328"/>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6F6F7A"/>
                </a:solidFill>
                <a:latin typeface="Helvetica Neue" pitchFamily="34" charset="0"/>
                <a:ea typeface="Helvetica Neue" pitchFamily="34" charset="-122"/>
                <a:cs typeface="Helvetica Neue" pitchFamily="34" charset="-120"/>
              </a:rPr>
              <a:t>Models, runtimes, and plugins can all carry compromised code or unexpected behavior.</a:t>
            </a:r>
            <a:endParaRPr lang="en-US" sz="1500" dirty="0"/>
          </a:p>
        </p:txBody>
      </p:sp>
      <p:sp>
        <p:nvSpPr>
          <p:cNvPr id="11" name="Shape 9"/>
          <p:cNvSpPr/>
          <p:nvPr/>
        </p:nvSpPr>
        <p:spPr>
          <a:xfrm>
            <a:off x="4242816" y="1389888"/>
            <a:ext cx="3456432" cy="4352544"/>
          </a:xfrm>
          <a:prstGeom prst="roundRect">
            <a:avLst>
              <a:gd name="adj" fmla="val 1852"/>
            </a:avLst>
          </a:prstGeom>
          <a:solidFill>
            <a:srgbClr val="F5E9DF"/>
          </a:solidFill>
          <a:ln w="12700">
            <a:solidFill>
              <a:srgbClr val="D8D3C8"/>
            </a:solidFill>
            <a:prstDash val="solid"/>
          </a:ln>
        </p:spPr>
      </p:sp>
      <p:sp>
        <p:nvSpPr>
          <p:cNvPr id="12" name="Text 10"/>
          <p:cNvSpPr txBox="1"/>
          <p:nvPr/>
        </p:nvSpPr>
        <p:spPr>
          <a:xfrm>
            <a:off x="4462272" y="1664208"/>
            <a:ext cx="530352"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D88752"/>
                </a:solidFill>
                <a:latin typeface="Helvetica Neue" pitchFamily="34" charset="0"/>
                <a:ea typeface="Helvetica Neue" pitchFamily="34" charset="-122"/>
                <a:cs typeface="Helvetica Neue" pitchFamily="34" charset="-120"/>
              </a:rPr>
              <a:t>02</a:t>
            </a:r>
            <a:endParaRPr lang="en-US" sz="1300" dirty="0"/>
          </a:p>
        </p:txBody>
      </p:sp>
      <p:sp>
        <p:nvSpPr>
          <p:cNvPr id="13" name="Text 11"/>
          <p:cNvSpPr txBox="1"/>
          <p:nvPr/>
        </p:nvSpPr>
        <p:spPr>
          <a:xfrm>
            <a:off x="4462272" y="2176272"/>
            <a:ext cx="2907792" cy="658368"/>
          </a:xfrm>
          <a:prstGeom prst="rect">
            <a:avLst/>
          </a:prstGeom>
          <a:noFill/>
          <a:ln/>
        </p:spPr>
        <p:txBody>
          <a:bodyPr wrap="square" lIns="0" tIns="0" rIns="0" bIns="0" rtlCol="0" anchor="t">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REBOUND EFFECT</a:t>
            </a:r>
            <a:endParaRPr lang="en-US" sz="2100" dirty="0"/>
          </a:p>
        </p:txBody>
      </p:sp>
      <p:sp>
        <p:nvSpPr>
          <p:cNvPr id="14" name="Shape 12"/>
          <p:cNvSpPr/>
          <p:nvPr/>
        </p:nvSpPr>
        <p:spPr>
          <a:xfrm>
            <a:off x="4462272" y="2999232"/>
            <a:ext cx="2852928" cy="0"/>
          </a:xfrm>
          <a:prstGeom prst="line">
            <a:avLst/>
          </a:prstGeom>
          <a:noFill/>
          <a:ln w="25400">
            <a:solidFill>
              <a:srgbClr val="D88752"/>
            </a:solidFill>
            <a:prstDash val="solid"/>
          </a:ln>
        </p:spPr>
      </p:sp>
      <p:sp>
        <p:nvSpPr>
          <p:cNvPr id="15" name="Text 13"/>
          <p:cNvSpPr txBox="1"/>
          <p:nvPr/>
        </p:nvSpPr>
        <p:spPr>
          <a:xfrm>
            <a:off x="4462272" y="3310128"/>
            <a:ext cx="2852928" cy="1481328"/>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6F6F7A"/>
                </a:solidFill>
                <a:latin typeface="Helvetica Neue" pitchFamily="34" charset="0"/>
                <a:ea typeface="Helvetica Neue" pitchFamily="34" charset="-122"/>
                <a:cs typeface="Helvetica Neue" pitchFamily="34" charset="-120"/>
              </a:rPr>
              <a:t>Cheaper inference can increase total use, so efficiency does not guarantee less energy.</a:t>
            </a:r>
            <a:endParaRPr lang="en-US" sz="1500" dirty="0"/>
          </a:p>
        </p:txBody>
      </p:sp>
      <p:sp>
        <p:nvSpPr>
          <p:cNvPr id="16" name="Shape 14"/>
          <p:cNvSpPr/>
          <p:nvPr/>
        </p:nvSpPr>
        <p:spPr>
          <a:xfrm>
            <a:off x="8028432" y="1389888"/>
            <a:ext cx="3456432" cy="4352544"/>
          </a:xfrm>
          <a:prstGeom prst="roundRect">
            <a:avLst>
              <a:gd name="adj" fmla="val 1852"/>
            </a:avLst>
          </a:prstGeom>
          <a:solidFill>
            <a:srgbClr val="FFFFFF"/>
          </a:solidFill>
          <a:ln w="12700">
            <a:solidFill>
              <a:srgbClr val="D8D3C8"/>
            </a:solidFill>
            <a:prstDash val="solid"/>
          </a:ln>
        </p:spPr>
      </p:sp>
      <p:sp>
        <p:nvSpPr>
          <p:cNvPr id="17" name="Text 15"/>
          <p:cNvSpPr txBox="1"/>
          <p:nvPr/>
        </p:nvSpPr>
        <p:spPr>
          <a:xfrm>
            <a:off x="8247888" y="1664208"/>
            <a:ext cx="530352" cy="274320"/>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EB6A68"/>
                </a:solidFill>
                <a:latin typeface="Helvetica Neue" pitchFamily="34" charset="0"/>
                <a:ea typeface="Helvetica Neue" pitchFamily="34" charset="-122"/>
                <a:cs typeface="Helvetica Neue" pitchFamily="34" charset="-120"/>
              </a:rPr>
              <a:t>03</a:t>
            </a:r>
            <a:endParaRPr lang="en-US" sz="1300" dirty="0"/>
          </a:p>
        </p:txBody>
      </p:sp>
      <p:sp>
        <p:nvSpPr>
          <p:cNvPr id="18" name="Text 16"/>
          <p:cNvSpPr txBox="1"/>
          <p:nvPr/>
        </p:nvSpPr>
        <p:spPr>
          <a:xfrm>
            <a:off x="8247888" y="2176272"/>
            <a:ext cx="2907792" cy="658368"/>
          </a:xfrm>
          <a:prstGeom prst="rect">
            <a:avLst/>
          </a:prstGeom>
          <a:noFill/>
          <a:ln/>
        </p:spPr>
        <p:txBody>
          <a:bodyPr wrap="square" lIns="0" tIns="0" rIns="0" bIns="0" rtlCol="0" anchor="t">
            <a:normAutofit/>
          </a:bodyPr>
          <a:lstStyle/>
          <a:p>
            <a:pPr algn="l" indent="0" marL="0">
              <a:lnSpc>
                <a:spcPct val="100000"/>
              </a:lnSpc>
              <a:buNone/>
            </a:pPr>
            <a:r>
              <a:rPr lang="en-US" sz="2100" b="1" dirty="0">
                <a:solidFill>
                  <a:srgbClr val="090A10"/>
                </a:solidFill>
                <a:latin typeface="Helvetica Neue" pitchFamily="34" charset="0"/>
                <a:ea typeface="Helvetica Neue" pitchFamily="34" charset="-122"/>
                <a:cs typeface="Helvetica Neue" pitchFamily="34" charset="-120"/>
              </a:rPr>
              <a:t>ACCOUNTABILITY</a:t>
            </a:r>
            <a:endParaRPr lang="en-US" sz="2100" dirty="0"/>
          </a:p>
        </p:txBody>
      </p:sp>
      <p:sp>
        <p:nvSpPr>
          <p:cNvPr id="19" name="Shape 17"/>
          <p:cNvSpPr/>
          <p:nvPr/>
        </p:nvSpPr>
        <p:spPr>
          <a:xfrm>
            <a:off x="8247888" y="2999232"/>
            <a:ext cx="2852928" cy="0"/>
          </a:xfrm>
          <a:prstGeom prst="line">
            <a:avLst/>
          </a:prstGeom>
          <a:noFill/>
          <a:ln w="25400">
            <a:solidFill>
              <a:srgbClr val="EB6A68"/>
            </a:solidFill>
            <a:prstDash val="solid"/>
          </a:ln>
        </p:spPr>
      </p:sp>
      <p:sp>
        <p:nvSpPr>
          <p:cNvPr id="20" name="Text 18"/>
          <p:cNvSpPr txBox="1"/>
          <p:nvPr/>
        </p:nvSpPr>
        <p:spPr>
          <a:xfrm>
            <a:off x="8247888" y="3310128"/>
            <a:ext cx="2852928" cy="1481328"/>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6F6F7A"/>
                </a:solidFill>
                <a:latin typeface="Helvetica Neue" pitchFamily="34" charset="0"/>
                <a:ea typeface="Helvetica Neue" pitchFamily="34" charset="-122"/>
                <a:cs typeface="Helvetica Neue" pitchFamily="34" charset="-120"/>
              </a:rPr>
              <a:t>Decentralized systems make responsibility and incident tracing harder to centralize.</a:t>
            </a:r>
            <a:endParaRPr lang="en-US" sz="1500" dirty="0"/>
          </a:p>
        </p:txBody>
      </p:sp>
      <p:sp>
        <p:nvSpPr>
          <p:cNvPr id="21" name="Text 1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Lower cost moves risk outward—from providers to devices, teams, and users.</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22.xml><?xml version="1.0" encoding="utf-8"?>
<p:sld xmlns:a="http://schemas.openxmlformats.org/drawingml/2006/main" xmlns:p="http://schemas.openxmlformats.org/presentationml/2006/main" xmlns:p14="http://schemas.microsoft.com/office/powerpoint/2010/main">
  <p:cSld name="Slide 22">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FORECAST</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Three things I expect by 2030</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22</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371600"/>
            <a:ext cx="3438144" cy="4498848"/>
          </a:xfrm>
          <a:prstGeom prst="roundRect">
            <a:avLst>
              <a:gd name="adj" fmla="val 2128"/>
            </a:avLst>
          </a:prstGeom>
          <a:solidFill>
            <a:srgbClr val="FFFFFF"/>
          </a:solidFill>
          <a:ln w="12700">
            <a:solidFill>
              <a:srgbClr val="D8D3C8"/>
            </a:solidFill>
            <a:prstDash val="solid"/>
          </a:ln>
        </p:spPr>
      </p:sp>
      <p:sp>
        <p:nvSpPr>
          <p:cNvPr id="7" name="Text 5"/>
          <p:cNvSpPr txBox="1"/>
          <p:nvPr/>
        </p:nvSpPr>
        <p:spPr>
          <a:xfrm>
            <a:off x="658368" y="1627632"/>
            <a:ext cx="548640" cy="310896"/>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8E63FF"/>
                </a:solidFill>
                <a:latin typeface="Helvetica Neue" pitchFamily="34" charset="0"/>
                <a:ea typeface="Helvetica Neue" pitchFamily="34" charset="-122"/>
                <a:cs typeface="Helvetica Neue" pitchFamily="34" charset="-120"/>
              </a:rPr>
              <a:t>01</a:t>
            </a:r>
            <a:endParaRPr lang="en-US" sz="1400" dirty="0"/>
          </a:p>
        </p:txBody>
      </p:sp>
      <p:sp>
        <p:nvSpPr>
          <p:cNvPr id="8" name="Text 6"/>
          <p:cNvSpPr txBox="1"/>
          <p:nvPr/>
        </p:nvSpPr>
        <p:spPr>
          <a:xfrm>
            <a:off x="658368" y="2157984"/>
            <a:ext cx="2944368" cy="914400"/>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090A10"/>
                </a:solidFill>
                <a:latin typeface="Helvetica Neue" pitchFamily="34" charset="0"/>
                <a:ea typeface="Helvetica Neue" pitchFamily="34" charset="-122"/>
                <a:cs typeface="Helvetica Neue" pitchFamily="34" charset="-120"/>
              </a:rPr>
              <a:t>SMALL GETS SURPRISING</a:t>
            </a:r>
            <a:endParaRPr lang="en-US" sz="2300" dirty="0"/>
          </a:p>
        </p:txBody>
      </p:sp>
      <p:sp>
        <p:nvSpPr>
          <p:cNvPr id="9" name="Shape 7"/>
          <p:cNvSpPr/>
          <p:nvPr/>
        </p:nvSpPr>
        <p:spPr>
          <a:xfrm>
            <a:off x="658368" y="3273552"/>
            <a:ext cx="2944368" cy="0"/>
          </a:xfrm>
          <a:prstGeom prst="line">
            <a:avLst/>
          </a:prstGeom>
          <a:noFill/>
          <a:ln w="25400">
            <a:solidFill>
              <a:srgbClr val="8E63FF"/>
            </a:solidFill>
            <a:prstDash val="solid"/>
          </a:ln>
        </p:spPr>
      </p:sp>
      <p:sp>
        <p:nvSpPr>
          <p:cNvPr id="10" name="Text 8"/>
          <p:cNvSpPr txBox="1"/>
          <p:nvPr/>
        </p:nvSpPr>
        <p:spPr>
          <a:xfrm>
            <a:off x="658368" y="3584448"/>
            <a:ext cx="2944368"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Better training and compression make modest models useful for more daily work.</a:t>
            </a:r>
            <a:endParaRPr lang="en-US" sz="1550" dirty="0"/>
          </a:p>
        </p:txBody>
      </p:sp>
      <p:sp>
        <p:nvSpPr>
          <p:cNvPr id="11" name="Shape 9"/>
          <p:cNvSpPr/>
          <p:nvPr/>
        </p:nvSpPr>
        <p:spPr>
          <a:xfrm>
            <a:off x="4206240" y="1371600"/>
            <a:ext cx="3438144" cy="4498848"/>
          </a:xfrm>
          <a:prstGeom prst="roundRect">
            <a:avLst>
              <a:gd name="adj" fmla="val 2128"/>
            </a:avLst>
          </a:prstGeom>
          <a:solidFill>
            <a:srgbClr val="ECE5FF"/>
          </a:solidFill>
          <a:ln w="12700">
            <a:solidFill>
              <a:srgbClr val="D8D3C8"/>
            </a:solidFill>
            <a:prstDash val="solid"/>
          </a:ln>
        </p:spPr>
      </p:sp>
      <p:sp>
        <p:nvSpPr>
          <p:cNvPr id="12" name="Text 10"/>
          <p:cNvSpPr txBox="1"/>
          <p:nvPr/>
        </p:nvSpPr>
        <p:spPr>
          <a:xfrm>
            <a:off x="4425696" y="1627632"/>
            <a:ext cx="548640" cy="310896"/>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4777FF"/>
                </a:solidFill>
                <a:latin typeface="Helvetica Neue" pitchFamily="34" charset="0"/>
                <a:ea typeface="Helvetica Neue" pitchFamily="34" charset="-122"/>
                <a:cs typeface="Helvetica Neue" pitchFamily="34" charset="-120"/>
              </a:rPr>
              <a:t>02</a:t>
            </a:r>
            <a:endParaRPr lang="en-US" sz="1400" dirty="0"/>
          </a:p>
        </p:txBody>
      </p:sp>
      <p:sp>
        <p:nvSpPr>
          <p:cNvPr id="13" name="Text 11"/>
          <p:cNvSpPr txBox="1"/>
          <p:nvPr/>
        </p:nvSpPr>
        <p:spPr>
          <a:xfrm>
            <a:off x="4425696" y="2157984"/>
            <a:ext cx="2944368" cy="914400"/>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090A10"/>
                </a:solidFill>
                <a:latin typeface="Helvetica Neue" pitchFamily="34" charset="0"/>
                <a:ea typeface="Helvetica Neue" pitchFamily="34" charset="-122"/>
                <a:cs typeface="Helvetica Neue" pitchFamily="34" charset="-120"/>
              </a:rPr>
              <a:t>LOCAL BECOMES A FEATURE</a:t>
            </a:r>
            <a:endParaRPr lang="en-US" sz="2300" dirty="0"/>
          </a:p>
        </p:txBody>
      </p:sp>
      <p:sp>
        <p:nvSpPr>
          <p:cNvPr id="14" name="Shape 12"/>
          <p:cNvSpPr/>
          <p:nvPr/>
        </p:nvSpPr>
        <p:spPr>
          <a:xfrm>
            <a:off x="4425696" y="3273552"/>
            <a:ext cx="2944368" cy="0"/>
          </a:xfrm>
          <a:prstGeom prst="line">
            <a:avLst/>
          </a:prstGeom>
          <a:noFill/>
          <a:ln w="25400">
            <a:solidFill>
              <a:srgbClr val="4777FF"/>
            </a:solidFill>
            <a:prstDash val="solid"/>
          </a:ln>
        </p:spPr>
      </p:sp>
      <p:sp>
        <p:nvSpPr>
          <p:cNvPr id="15" name="Text 13"/>
          <p:cNvSpPr txBox="1"/>
          <p:nvPr/>
        </p:nvSpPr>
        <p:spPr>
          <a:xfrm>
            <a:off x="4425696" y="3584448"/>
            <a:ext cx="2944368"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Operating systems and apps route routine tasks to on-device models by default.</a:t>
            </a:r>
            <a:endParaRPr lang="en-US" sz="1550" dirty="0"/>
          </a:p>
        </p:txBody>
      </p:sp>
      <p:sp>
        <p:nvSpPr>
          <p:cNvPr id="16" name="Shape 14"/>
          <p:cNvSpPr/>
          <p:nvPr/>
        </p:nvSpPr>
        <p:spPr>
          <a:xfrm>
            <a:off x="7973568" y="1371600"/>
            <a:ext cx="3438144" cy="4498848"/>
          </a:xfrm>
          <a:prstGeom prst="roundRect">
            <a:avLst>
              <a:gd name="adj" fmla="val 2128"/>
            </a:avLst>
          </a:prstGeom>
          <a:solidFill>
            <a:srgbClr val="FFFFFF"/>
          </a:solidFill>
          <a:ln w="12700">
            <a:solidFill>
              <a:srgbClr val="D8D3C8"/>
            </a:solidFill>
            <a:prstDash val="solid"/>
          </a:ln>
        </p:spPr>
      </p:sp>
      <p:sp>
        <p:nvSpPr>
          <p:cNvPr id="17" name="Text 15"/>
          <p:cNvSpPr txBox="1"/>
          <p:nvPr/>
        </p:nvSpPr>
        <p:spPr>
          <a:xfrm>
            <a:off x="8193024" y="1627632"/>
            <a:ext cx="548640" cy="310896"/>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D88752"/>
                </a:solidFill>
                <a:latin typeface="Helvetica Neue" pitchFamily="34" charset="0"/>
                <a:ea typeface="Helvetica Neue" pitchFamily="34" charset="-122"/>
                <a:cs typeface="Helvetica Neue" pitchFamily="34" charset="-120"/>
              </a:rPr>
              <a:t>03</a:t>
            </a:r>
            <a:endParaRPr lang="en-US" sz="1400" dirty="0"/>
          </a:p>
        </p:txBody>
      </p:sp>
      <p:sp>
        <p:nvSpPr>
          <p:cNvPr id="18" name="Text 16"/>
          <p:cNvSpPr txBox="1"/>
          <p:nvPr/>
        </p:nvSpPr>
        <p:spPr>
          <a:xfrm>
            <a:off x="8193024" y="2157984"/>
            <a:ext cx="2944368" cy="914400"/>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090A10"/>
                </a:solidFill>
                <a:latin typeface="Helvetica Neue" pitchFamily="34" charset="0"/>
                <a:ea typeface="Helvetica Neue" pitchFamily="34" charset="-122"/>
                <a:cs typeface="Helvetica Neue" pitchFamily="34" charset="-120"/>
              </a:rPr>
              <a:t>CLOUD STAYS PREMIUM</a:t>
            </a:r>
            <a:endParaRPr lang="en-US" sz="2300" dirty="0"/>
          </a:p>
        </p:txBody>
      </p:sp>
      <p:sp>
        <p:nvSpPr>
          <p:cNvPr id="19" name="Shape 17"/>
          <p:cNvSpPr/>
          <p:nvPr/>
        </p:nvSpPr>
        <p:spPr>
          <a:xfrm>
            <a:off x="8193024" y="3273552"/>
            <a:ext cx="2944368" cy="0"/>
          </a:xfrm>
          <a:prstGeom prst="line">
            <a:avLst/>
          </a:prstGeom>
          <a:noFill/>
          <a:ln w="25400">
            <a:solidFill>
              <a:srgbClr val="D88752"/>
            </a:solidFill>
            <a:prstDash val="solid"/>
          </a:ln>
        </p:spPr>
      </p:sp>
      <p:sp>
        <p:nvSpPr>
          <p:cNvPr id="20" name="Text 18"/>
          <p:cNvSpPr txBox="1"/>
          <p:nvPr/>
        </p:nvSpPr>
        <p:spPr>
          <a:xfrm>
            <a:off x="8193024" y="3584448"/>
            <a:ext cx="2944368" cy="12618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6F6F7A"/>
                </a:solidFill>
                <a:latin typeface="Helvetica Neue" pitchFamily="34" charset="0"/>
                <a:ea typeface="Helvetica Neue" pitchFamily="34" charset="-122"/>
                <a:cs typeface="Helvetica Neue" pitchFamily="34" charset="-120"/>
              </a:rPr>
              <a:t>The freshest, hardest, and largest jobs continue to justify remote compute.</a:t>
            </a:r>
            <a:endParaRPr lang="en-US" sz="1550" dirty="0"/>
          </a:p>
        </p:txBody>
      </p:sp>
      <p:sp>
        <p:nvSpPr>
          <p:cNvPr id="21" name="Text 19"/>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This is a forecast, not a certainty: hardware, regulation, and model progress can change the path.</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208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34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indefinite"/>
                      </p:stCondLst>
                      <p:childTnLst>
                        <p:par>
                          <p:cTn id="44" presetID="10"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26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52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78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04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3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par>
                    <p:cTn id="67" fill="hold">
                      <p:stCondLst>
                        <p:cond delay="156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p:tgtEl>
                                    <p:spTgt spid="18"/>
                                  </p:tgtEl>
                                </p:cBhvr>
                              </p:animEffect>
                            </p:childTnLst>
                          </p:cTn>
                        </p:par>
                      </p:childTnLst>
                    </p:cTn>
                  </p:par>
                  <p:par>
                    <p:cTn id="71" fill="hold">
                      <p:stCondLst>
                        <p:cond delay="182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220"/>
                                  <p:tgtEl>
                                    <p:spTgt spid="19"/>
                                  </p:tgtEl>
                                </p:cBhvr>
                              </p:animEffect>
                            </p:childTnLst>
                          </p:cTn>
                        </p:par>
                      </p:childTnLst>
                    </p:cTn>
                  </p:par>
                  <p:par>
                    <p:cTn id="75" fill="hold">
                      <p:stCondLst>
                        <p:cond delay="208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220"/>
                                  <p:tgtEl>
                                    <p:spTgt spid="20"/>
                                  </p:tgtEl>
                                </p:cBhvr>
                              </p:animEffect>
                            </p:childTnLst>
                          </p:cTn>
                        </p:par>
                      </p:childTnLst>
                    </p:cTn>
                  </p:par>
                  <p:par>
                    <p:cTn id="79" fill="hold">
                      <p:stCondLst>
                        <p:cond delay="234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220"/>
                                  <p:tgtEl>
                                    <p:spTgt spid="2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slides/slide23.xml><?xml version="1.0" encoding="utf-8"?>
<p:sld xmlns:a="http://schemas.openxmlformats.org/drawingml/2006/main" xmlns:p="http://schemas.openxmlformats.org/presentationml/2006/main" xmlns:p14="http://schemas.microsoft.com/office/powerpoint/2010/main">
  <p:cSld name="Slide 23">
    <p:bg>
      <p:bgPr>
        <a:solidFill>
          <a:srgbClr val="FBF9F3"/>
        </a:solidFill>
      </p:bgPr>
    </p:bg>
    <p:spTree>
      <p:nvGrpSpPr>
        <p:cNvPr id="1" name=""/>
        <p:cNvGrpSpPr/>
        <p:nvPr/>
      </p:nvGrpSpPr>
      <p:grpSpPr>
        <a:xfrm>
          <a:off x="0" y="0"/>
          <a:ext cx="0" cy="0"/>
          <a:chOff x="0" y="0"/>
          <a:chExt cx="0" cy="0"/>
        </a:xfrm>
      </p:grpSpPr>
      <p:sp>
        <p:nvSpPr>
          <p:cNvPr id="2" name="Text 0"/>
          <p:cNvSpPr txBox="1"/>
          <p:nvPr/>
        </p:nvSpPr>
        <p:spPr>
          <a:xfrm>
            <a:off x="402336" y="219456"/>
            <a:ext cx="19202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FORECAST</a:t>
            </a:r>
            <a:endParaRPr lang="en-US" sz="1050" dirty="0"/>
          </a:p>
        </p:txBody>
      </p:sp>
      <p:sp>
        <p:nvSpPr>
          <p:cNvPr id="3" name="Text 1"/>
          <p:cNvSpPr txBox="1"/>
          <p:nvPr/>
        </p:nvSpPr>
        <p:spPr>
          <a:xfrm>
            <a:off x="402336" y="484632"/>
            <a:ext cx="10652760" cy="438912"/>
          </a:xfrm>
          <a:prstGeom prst="rect">
            <a:avLst/>
          </a:prstGeom>
          <a:noFill/>
          <a:ln/>
        </p:spPr>
        <p:txBody>
          <a:bodyPr wrap="square" lIns="0" tIns="0" rIns="0" bIns="0" rtlCol="0" anchor="ctr">
            <a:normAutofit/>
          </a:bodyPr>
          <a:lstStyle/>
          <a:p>
            <a:pPr algn="l" indent="0" marL="0">
              <a:lnSpc>
                <a:spcPct val="100000"/>
              </a:lnSpc>
              <a:buNone/>
            </a:pPr>
            <a:r>
              <a:rPr lang="en-US" sz="2600" b="1" dirty="0">
                <a:solidFill>
                  <a:srgbClr val="090A10"/>
                </a:solidFill>
                <a:latin typeface="Helvetica Neue" pitchFamily="34" charset="0"/>
                <a:ea typeface="Helvetica Neue" pitchFamily="34" charset="-122"/>
                <a:cs typeface="Helvetica Neue" pitchFamily="34" charset="-120"/>
              </a:rPr>
              <a:t>The likely future is a hybrid router</a:t>
            </a:r>
            <a:endParaRPr lang="en-US" sz="2600" dirty="0"/>
          </a:p>
        </p:txBody>
      </p:sp>
      <p:sp>
        <p:nvSpPr>
          <p:cNvPr id="4" name="Text 2"/>
          <p:cNvSpPr txBox="1"/>
          <p:nvPr/>
        </p:nvSpPr>
        <p:spPr>
          <a:xfrm>
            <a:off x="11210544" y="2286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6F6F7A"/>
                </a:solidFill>
                <a:latin typeface="Helvetica Neue" pitchFamily="34" charset="0"/>
                <a:ea typeface="Helvetica Neue" pitchFamily="34" charset="-122"/>
                <a:cs typeface="Helvetica Neue" pitchFamily="34" charset="-120"/>
              </a:rPr>
              <a:t>23</a:t>
            </a:r>
            <a:endParaRPr lang="en-US" sz="1000" dirty="0"/>
          </a:p>
        </p:txBody>
      </p:sp>
      <p:sp>
        <p:nvSpPr>
          <p:cNvPr id="5" name="Shape 3"/>
          <p:cNvSpPr/>
          <p:nvPr/>
        </p:nvSpPr>
        <p:spPr>
          <a:xfrm>
            <a:off x="402336" y="1024128"/>
            <a:ext cx="11338560" cy="0"/>
          </a:xfrm>
          <a:prstGeom prst="line">
            <a:avLst/>
          </a:prstGeom>
          <a:noFill/>
          <a:ln w="12700">
            <a:solidFill>
              <a:srgbClr val="D8D3C8"/>
            </a:solidFill>
            <a:prstDash val="solid"/>
          </a:ln>
        </p:spPr>
      </p:sp>
      <p:sp>
        <p:nvSpPr>
          <p:cNvPr id="6" name="Shape 4"/>
          <p:cNvSpPr/>
          <p:nvPr/>
        </p:nvSpPr>
        <p:spPr>
          <a:xfrm>
            <a:off x="438912" y="1408176"/>
            <a:ext cx="3840480" cy="4425696"/>
          </a:xfrm>
          <a:prstGeom prst="roundRect">
            <a:avLst>
              <a:gd name="adj" fmla="val 1905"/>
            </a:avLst>
          </a:prstGeom>
          <a:solidFill>
            <a:srgbClr val="ECE5FF"/>
          </a:solidFill>
          <a:ln w="12700">
            <a:solidFill>
              <a:srgbClr val="CFC2FF"/>
            </a:solidFill>
            <a:prstDash val="solid"/>
          </a:ln>
        </p:spPr>
      </p:sp>
      <p:sp>
        <p:nvSpPr>
          <p:cNvPr id="7" name="Text 5"/>
          <p:cNvSpPr txBox="1"/>
          <p:nvPr/>
        </p:nvSpPr>
        <p:spPr>
          <a:xfrm>
            <a:off x="731520" y="1737360"/>
            <a:ext cx="20116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8E63FF"/>
                </a:solidFill>
                <a:latin typeface="Helvetica Neue" pitchFamily="34" charset="0"/>
                <a:ea typeface="Helvetica Neue" pitchFamily="34" charset="-122"/>
                <a:cs typeface="Helvetica Neue" pitchFamily="34" charset="-120"/>
              </a:rPr>
              <a:t>LOCAL DEFAULT</a:t>
            </a:r>
            <a:endParaRPr lang="en-US" sz="1050" dirty="0"/>
          </a:p>
        </p:txBody>
      </p:sp>
      <p:sp>
        <p:nvSpPr>
          <p:cNvPr id="8" name="Text 6"/>
          <p:cNvSpPr txBox="1"/>
          <p:nvPr/>
        </p:nvSpPr>
        <p:spPr>
          <a:xfrm>
            <a:off x="731520" y="2286000"/>
            <a:ext cx="3054096" cy="1920240"/>
          </a:xfrm>
          <a:prstGeom prst="rect">
            <a:avLst/>
          </a:prstGeom>
          <a:noFill/>
          <a:ln/>
        </p:spPr>
        <p:txBody>
          <a:bodyPr wrap="square" lIns="0" tIns="0" rIns="0" bIns="0" rtlCol="0" anchor="t">
            <a:normAutofit/>
          </a:bodyPr>
          <a:lstStyle/>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ROUTINE</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PRIVATE</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OFFLINE</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LOW-LATENCY</a:t>
            </a:r>
            <a:endParaRPr lang="en-US" sz="2500" dirty="0"/>
          </a:p>
        </p:txBody>
      </p:sp>
      <p:sp>
        <p:nvSpPr>
          <p:cNvPr id="9" name="Shape 7"/>
          <p:cNvSpPr/>
          <p:nvPr/>
        </p:nvSpPr>
        <p:spPr>
          <a:xfrm>
            <a:off x="4773168" y="2057400"/>
            <a:ext cx="2615184" cy="2907792"/>
          </a:xfrm>
          <a:prstGeom prst="roundRect">
            <a:avLst>
              <a:gd name="adj" fmla="val 2797"/>
            </a:avLst>
          </a:prstGeom>
          <a:solidFill>
            <a:srgbClr val="090A10"/>
          </a:solidFill>
          <a:ln w="12700">
            <a:solidFill>
              <a:srgbClr val="090A10"/>
            </a:solidFill>
            <a:prstDash val="solid"/>
          </a:ln>
        </p:spPr>
      </p:sp>
      <p:sp>
        <p:nvSpPr>
          <p:cNvPr id="10" name="Text 8"/>
          <p:cNvSpPr txBox="1"/>
          <p:nvPr/>
        </p:nvSpPr>
        <p:spPr>
          <a:xfrm>
            <a:off x="5047488" y="2377440"/>
            <a:ext cx="109728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64C9A4"/>
                </a:solidFill>
                <a:latin typeface="Helvetica Neue" pitchFamily="34" charset="0"/>
                <a:ea typeface="Helvetica Neue" pitchFamily="34" charset="-122"/>
                <a:cs typeface="Helvetica Neue" pitchFamily="34" charset="-120"/>
              </a:rPr>
              <a:t>ROUTER</a:t>
            </a:r>
            <a:endParaRPr lang="en-US" sz="1050" dirty="0"/>
          </a:p>
        </p:txBody>
      </p:sp>
      <p:sp>
        <p:nvSpPr>
          <p:cNvPr id="11" name="Text 9"/>
          <p:cNvSpPr txBox="1"/>
          <p:nvPr/>
        </p:nvSpPr>
        <p:spPr>
          <a:xfrm>
            <a:off x="5047488" y="2880360"/>
            <a:ext cx="2066544" cy="1417320"/>
          </a:xfrm>
          <a:prstGeom prst="rect">
            <a:avLst/>
          </a:prstGeom>
          <a:noFill/>
          <a:ln/>
        </p:spPr>
        <p:txBody>
          <a:bodyPr wrap="square" lIns="0" tIns="0" rIns="0" bIns="0" rtlCol="0" anchor="t">
            <a:normAutofit/>
          </a:bodyPr>
          <a:lstStyle/>
          <a:p>
            <a:pPr algn="l" indent="0" marL="0">
              <a:lnSpc>
                <a:spcPct val="100000"/>
              </a:lnSpc>
              <a:buNone/>
            </a:pPr>
            <a:r>
              <a:rPr lang="en-US" sz="2050" b="1" dirty="0">
                <a:solidFill>
                  <a:srgbClr val="FFFFFF"/>
                </a:solidFill>
                <a:latin typeface="Helvetica Neue" pitchFamily="34" charset="0"/>
                <a:ea typeface="Helvetica Neue" pitchFamily="34" charset="-122"/>
                <a:cs typeface="Helvetica Neue" pitchFamily="34" charset="-120"/>
              </a:rPr>
              <a:t>SMALLEST</a:t>
            </a:r>
            <a:endParaRPr lang="en-US" sz="2050" dirty="0"/>
          </a:p>
          <a:p>
            <a:pPr algn="l" indent="0" marL="0">
              <a:lnSpc>
                <a:spcPct val="100000"/>
              </a:lnSpc>
              <a:buNone/>
            </a:pPr>
            <a:r>
              <a:rPr lang="en-US" sz="2050" b="1" dirty="0">
                <a:solidFill>
                  <a:srgbClr val="FFFFFF"/>
                </a:solidFill>
                <a:latin typeface="Helvetica Neue" pitchFamily="34" charset="0"/>
                <a:ea typeface="Helvetica Neue" pitchFamily="34" charset="-122"/>
                <a:cs typeface="Helvetica Neue" pitchFamily="34" charset="-120"/>
              </a:rPr>
              <a:t>MODEL THAT</a:t>
            </a:r>
            <a:endParaRPr lang="en-US" sz="2050" dirty="0"/>
          </a:p>
          <a:p>
            <a:pPr algn="l" indent="0" marL="0">
              <a:lnSpc>
                <a:spcPct val="100000"/>
              </a:lnSpc>
              <a:buNone/>
            </a:pPr>
            <a:r>
              <a:rPr lang="en-US" sz="2050" b="1" dirty="0">
                <a:solidFill>
                  <a:srgbClr val="FFFFFF"/>
                </a:solidFill>
                <a:latin typeface="Helvetica Neue" pitchFamily="34" charset="0"/>
                <a:ea typeface="Helvetica Neue" pitchFamily="34" charset="-122"/>
                <a:cs typeface="Helvetica Neue" pitchFamily="34" charset="-120"/>
              </a:rPr>
              <a:t>CLEARS THE</a:t>
            </a:r>
            <a:endParaRPr lang="en-US" sz="2050" dirty="0"/>
          </a:p>
          <a:p>
            <a:pPr algn="l" indent="0" marL="0">
              <a:lnSpc>
                <a:spcPct val="100000"/>
              </a:lnSpc>
              <a:buNone/>
            </a:pPr>
            <a:r>
              <a:rPr lang="en-US" sz="2050" b="1" dirty="0">
                <a:solidFill>
                  <a:srgbClr val="FFFFFF"/>
                </a:solidFill>
                <a:latin typeface="Helvetica Neue" pitchFamily="34" charset="0"/>
                <a:ea typeface="Helvetica Neue" pitchFamily="34" charset="-122"/>
                <a:cs typeface="Helvetica Neue" pitchFamily="34" charset="-120"/>
              </a:rPr>
              <a:t>QUALITY BAR</a:t>
            </a:r>
            <a:endParaRPr lang="en-US" sz="2050" dirty="0"/>
          </a:p>
        </p:txBody>
      </p:sp>
      <p:sp>
        <p:nvSpPr>
          <p:cNvPr id="12" name="Text 10"/>
          <p:cNvSpPr txBox="1"/>
          <p:nvPr/>
        </p:nvSpPr>
        <p:spPr>
          <a:xfrm>
            <a:off x="4279392" y="3154680"/>
            <a:ext cx="493776" cy="438912"/>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8E63FF"/>
                </a:solidFill>
                <a:latin typeface="Helvetica Neue" pitchFamily="34" charset="0"/>
                <a:ea typeface="Helvetica Neue" pitchFamily="34" charset="-122"/>
                <a:cs typeface="Helvetica Neue" pitchFamily="34" charset="-120"/>
              </a:rPr>
              <a:t>←</a:t>
            </a:r>
            <a:endParaRPr lang="en-US" sz="3000" dirty="0"/>
          </a:p>
        </p:txBody>
      </p:sp>
      <p:sp>
        <p:nvSpPr>
          <p:cNvPr id="13" name="Text 11"/>
          <p:cNvSpPr txBox="1"/>
          <p:nvPr/>
        </p:nvSpPr>
        <p:spPr>
          <a:xfrm>
            <a:off x="7388352" y="3154680"/>
            <a:ext cx="493776" cy="438912"/>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4777FF"/>
                </a:solidFill>
                <a:latin typeface="Helvetica Neue" pitchFamily="34" charset="0"/>
                <a:ea typeface="Helvetica Neue" pitchFamily="34" charset="-122"/>
                <a:cs typeface="Helvetica Neue" pitchFamily="34" charset="-120"/>
              </a:rPr>
              <a:t>→</a:t>
            </a:r>
            <a:endParaRPr lang="en-US" sz="3000" dirty="0"/>
          </a:p>
        </p:txBody>
      </p:sp>
      <p:sp>
        <p:nvSpPr>
          <p:cNvPr id="14" name="Shape 12"/>
          <p:cNvSpPr/>
          <p:nvPr/>
        </p:nvSpPr>
        <p:spPr>
          <a:xfrm>
            <a:off x="7882128" y="1408176"/>
            <a:ext cx="3858768" cy="4425696"/>
          </a:xfrm>
          <a:prstGeom prst="roundRect">
            <a:avLst>
              <a:gd name="adj" fmla="val 1896"/>
            </a:avLst>
          </a:prstGeom>
          <a:solidFill>
            <a:srgbClr val="E8EEFF"/>
          </a:solidFill>
          <a:ln w="12700">
            <a:solidFill>
              <a:srgbClr val="BECDF8"/>
            </a:solidFill>
            <a:prstDash val="solid"/>
          </a:ln>
        </p:spPr>
      </p:sp>
      <p:sp>
        <p:nvSpPr>
          <p:cNvPr id="15" name="Text 13"/>
          <p:cNvSpPr txBox="1"/>
          <p:nvPr/>
        </p:nvSpPr>
        <p:spPr>
          <a:xfrm>
            <a:off x="8174736" y="1737360"/>
            <a:ext cx="242316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4777FF"/>
                </a:solidFill>
                <a:latin typeface="Helvetica Neue" pitchFamily="34" charset="0"/>
                <a:ea typeface="Helvetica Neue" pitchFamily="34" charset="-122"/>
                <a:cs typeface="Helvetica Neue" pitchFamily="34" charset="-120"/>
              </a:rPr>
              <a:t>CLOUD ESCALATION</a:t>
            </a:r>
            <a:endParaRPr lang="en-US" sz="1050" dirty="0"/>
          </a:p>
        </p:txBody>
      </p:sp>
      <p:sp>
        <p:nvSpPr>
          <p:cNvPr id="16" name="Text 14"/>
          <p:cNvSpPr txBox="1"/>
          <p:nvPr/>
        </p:nvSpPr>
        <p:spPr>
          <a:xfrm>
            <a:off x="8174736" y="2286000"/>
            <a:ext cx="3090672" cy="1920240"/>
          </a:xfrm>
          <a:prstGeom prst="rect">
            <a:avLst/>
          </a:prstGeom>
          <a:noFill/>
          <a:ln/>
        </p:spPr>
        <p:txBody>
          <a:bodyPr wrap="square" lIns="0" tIns="0" rIns="0" bIns="0" rtlCol="0" anchor="t">
            <a:normAutofit/>
          </a:bodyPr>
          <a:lstStyle/>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HARDEST</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FRESHEST</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LARGEST</a:t>
            </a:r>
            <a:endParaRPr lang="en-US" sz="2500" dirty="0"/>
          </a:p>
          <a:p>
            <a:pPr algn="l" indent="0" marL="0">
              <a:lnSpc>
                <a:spcPct val="100000"/>
              </a:lnSpc>
              <a:buNone/>
            </a:pPr>
            <a:r>
              <a:rPr lang="en-US" sz="2500" b="1" dirty="0">
                <a:solidFill>
                  <a:srgbClr val="090A10"/>
                </a:solidFill>
                <a:latin typeface="Helvetica Neue" pitchFamily="34" charset="0"/>
                <a:ea typeface="Helvetica Neue" pitchFamily="34" charset="-122"/>
                <a:cs typeface="Helvetica Neue" pitchFamily="34" charset="-120"/>
              </a:rPr>
              <a:t>COLLABORATIVE</a:t>
            </a:r>
            <a:endParaRPr lang="en-US" sz="2500" dirty="0"/>
          </a:p>
        </p:txBody>
      </p:sp>
      <p:sp>
        <p:nvSpPr>
          <p:cNvPr id="17" name="Text 15"/>
          <p:cNvSpPr txBox="1"/>
          <p:nvPr/>
        </p:nvSpPr>
        <p:spPr>
          <a:xfrm>
            <a:off x="402336" y="6464808"/>
            <a:ext cx="11292840" cy="182880"/>
          </a:xfrm>
          <a:prstGeom prst="rect">
            <a:avLst/>
          </a:prstGeom>
          <a:noFill/>
          <a:ln/>
        </p:spPr>
        <p:txBody>
          <a:bodyPr wrap="square" lIns="0" tIns="0" rIns="0" bIns="0" rtlCol="0" anchor="ctr">
            <a:normAutofit/>
          </a:bodyPr>
          <a:lstStyle/>
          <a:p>
            <a:pPr algn="l" indent="0" marL="0">
              <a:lnSpc>
                <a:spcPct val="100000"/>
              </a:lnSpc>
              <a:buNone/>
            </a:pPr>
            <a:r>
              <a:rPr lang="en-US" sz="950" b="1" dirty="0">
                <a:solidFill>
                  <a:srgbClr val="6F6F7A"/>
                </a:solidFill>
                <a:latin typeface="Helvetica Neue" pitchFamily="34" charset="0"/>
                <a:ea typeface="Helvetica Neue" pitchFamily="34" charset="-122"/>
                <a:cs typeface="Helvetica Neue" pitchFamily="34" charset="-120"/>
              </a:rPr>
              <a:t>The user may stop caring where the answer ran—as long as the policy is clear.</a:t>
            </a:r>
            <a:endParaRPr lang="en-US" sz="9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156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182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indefinite"/>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26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52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par>
                    <p:cTn id="47" fill="hold">
                      <p:stCondLst>
                        <p:cond delay="78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220"/>
                                  <p:tgtEl>
                                    <p:spTgt spid="13"/>
                                  </p:tgtEl>
                                </p:cBhvr>
                              </p:animEffect>
                            </p:childTnLst>
                          </p:cTn>
                        </p:par>
                      </p:childTnLst>
                    </p:cTn>
                  </p:par>
                  <p:par>
                    <p:cTn id="51" fill="hold">
                      <p:stCondLst>
                        <p:cond delay="10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20"/>
                                  <p:tgtEl>
                                    <p:spTgt spid="14"/>
                                  </p:tgtEl>
                                </p:cBhvr>
                              </p:animEffect>
                            </p:childTnLst>
                          </p:cTn>
                        </p:par>
                      </p:childTnLst>
                    </p:cTn>
                  </p:par>
                  <p:par>
                    <p:cTn id="55" fill="hold">
                      <p:stCondLst>
                        <p:cond delay="130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20"/>
                                  <p:tgtEl>
                                    <p:spTgt spid="15"/>
                                  </p:tgtEl>
                                </p:cBhvr>
                              </p:animEffect>
                            </p:childTnLst>
                          </p:cTn>
                        </p:par>
                      </p:childTnLst>
                    </p:cTn>
                  </p:par>
                  <p:par>
                    <p:cTn id="59" fill="hold">
                      <p:stCondLst>
                        <p:cond delay="156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220"/>
                                  <p:tgtEl>
                                    <p:spTgt spid="16"/>
                                  </p:tgtEl>
                                </p:cBhvr>
                              </p:animEffect>
                            </p:childTnLst>
                          </p:cTn>
                        </p:par>
                      </p:childTnLst>
                    </p:cTn>
                  </p:par>
                  <p:par>
                    <p:cTn id="63" fill="hold">
                      <p:stCondLst>
                        <p:cond delay="182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22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24.xml><?xml version="1.0" encoding="utf-8"?>
<p:sld xmlns:a="http://schemas.openxmlformats.org/drawingml/2006/main" xmlns:p="http://schemas.openxmlformats.org/presentationml/2006/main" xmlns:p14="http://schemas.microsoft.com/office/powerpoint/2010/main">
  <p:cSld name="Slide 24">
    <p:bg>
      <p:bgPr>
        <a:solidFill>
          <a:srgbClr val="090A10"/>
        </a:solidFill>
      </p:bgPr>
    </p:bg>
    <p:spTree>
      <p:nvGrpSpPr>
        <p:cNvPr id="1" name=""/>
        <p:cNvGrpSpPr/>
        <p:nvPr/>
      </p:nvGrpSpPr>
      <p:grpSpPr>
        <a:xfrm>
          <a:off x="0" y="0"/>
          <a:ext cx="0" cy="0"/>
          <a:chOff x="0" y="0"/>
          <a:chExt cx="0" cy="0"/>
        </a:xfrm>
      </p:grpSpPr>
      <p:sp>
        <p:nvSpPr>
          <p:cNvPr id="2" name="Text 0"/>
          <p:cNvSpPr txBox="1"/>
          <p:nvPr/>
        </p:nvSpPr>
        <p:spPr>
          <a:xfrm>
            <a:off x="438912" y="457200"/>
            <a:ext cx="182880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BCA7FF"/>
                </a:solidFill>
                <a:latin typeface="Helvetica Neue" pitchFamily="34" charset="0"/>
                <a:ea typeface="Helvetica Neue" pitchFamily="34" charset="-122"/>
                <a:cs typeface="Helvetica Neue" pitchFamily="34" charset="-120"/>
              </a:rPr>
              <a:t>THE VERDICT</a:t>
            </a:r>
            <a:endParaRPr lang="en-US" sz="1050" dirty="0"/>
          </a:p>
        </p:txBody>
      </p:sp>
      <p:sp>
        <p:nvSpPr>
          <p:cNvPr id="3" name="Text 1"/>
          <p:cNvSpPr txBox="1"/>
          <p:nvPr/>
        </p:nvSpPr>
        <p:spPr>
          <a:xfrm>
            <a:off x="11192256" y="457200"/>
            <a:ext cx="530352" cy="201168"/>
          </a:xfrm>
          <a:prstGeom prst="rect">
            <a:avLst/>
          </a:prstGeom>
          <a:noFill/>
          <a:ln/>
        </p:spPr>
        <p:txBody>
          <a:bodyPr wrap="square" lIns="0" tIns="0" rIns="0" bIns="0" rtlCol="0" anchor="ctr">
            <a:normAutofit/>
          </a:bodyPr>
          <a:lstStyle/>
          <a:p>
            <a:pPr algn="r" indent="0" marL="0">
              <a:lnSpc>
                <a:spcPct val="100000"/>
              </a:lnSpc>
              <a:buNone/>
            </a:pPr>
            <a:r>
              <a:rPr lang="en-US" sz="1000" dirty="0">
                <a:solidFill>
                  <a:srgbClr val="A8A7B3"/>
                </a:solidFill>
                <a:latin typeface="Helvetica Neue" pitchFamily="34" charset="0"/>
                <a:ea typeface="Helvetica Neue" pitchFamily="34" charset="-122"/>
                <a:cs typeface="Helvetica Neue" pitchFamily="34" charset="-120"/>
              </a:rPr>
              <a:t>24</a:t>
            </a:r>
            <a:endParaRPr lang="en-US" sz="1000" dirty="0"/>
          </a:p>
        </p:txBody>
      </p:sp>
      <p:sp>
        <p:nvSpPr>
          <p:cNvPr id="4" name="Text 2"/>
          <p:cNvSpPr txBox="1"/>
          <p:nvPr/>
        </p:nvSpPr>
        <p:spPr>
          <a:xfrm>
            <a:off x="438912" y="1060704"/>
            <a:ext cx="4846320" cy="1152144"/>
          </a:xfrm>
          <a:prstGeom prst="rect">
            <a:avLst/>
          </a:prstGeom>
          <a:noFill/>
          <a:ln/>
        </p:spPr>
        <p:txBody>
          <a:bodyPr wrap="square" lIns="0" tIns="0" rIns="0" bIns="0" rtlCol="0" anchor="t">
            <a:normAutofit/>
          </a:bodyPr>
          <a:lstStyle/>
          <a:p>
            <a:pPr algn="l" indent="0" marL="0">
              <a:lnSpc>
                <a:spcPct val="100000"/>
              </a:lnSpc>
              <a:buNone/>
            </a:pPr>
            <a:r>
              <a:rPr lang="en-US" sz="3600" b="1" dirty="0">
                <a:solidFill>
                  <a:srgbClr val="FFFFFF"/>
                </a:solidFill>
                <a:latin typeface="Helvetica Neue" pitchFamily="34" charset="0"/>
                <a:ea typeface="Helvetica Neue" pitchFamily="34" charset="-122"/>
                <a:cs typeface="Helvetica Neue" pitchFamily="34" charset="-120"/>
              </a:rPr>
              <a:t>SO, WILL AI</a:t>
            </a:r>
            <a:endParaRPr lang="en-US" sz="3600" dirty="0"/>
          </a:p>
          <a:p>
            <a:pPr algn="l" indent="0" marL="0">
              <a:lnSpc>
                <a:spcPct val="100000"/>
              </a:lnSpc>
              <a:buNone/>
            </a:pPr>
            <a:r>
              <a:rPr lang="en-US" sz="3600" b="1" dirty="0">
                <a:solidFill>
                  <a:srgbClr val="FFFFFF"/>
                </a:solidFill>
                <a:latin typeface="Helvetica Neue" pitchFamily="34" charset="0"/>
                <a:ea typeface="Helvetica Neue" pitchFamily="34" charset="-122"/>
                <a:cs typeface="Helvetica Neue" pitchFamily="34" charset="-120"/>
              </a:rPr>
              <a:t>BE FREE?</a:t>
            </a:r>
            <a:endParaRPr lang="en-US" sz="3600" dirty="0"/>
          </a:p>
        </p:txBody>
      </p:sp>
      <p:sp>
        <p:nvSpPr>
          <p:cNvPr id="5" name="Text 3"/>
          <p:cNvSpPr txBox="1"/>
          <p:nvPr/>
        </p:nvSpPr>
        <p:spPr>
          <a:xfrm>
            <a:off x="438912" y="2578608"/>
            <a:ext cx="4572000" cy="822960"/>
          </a:xfrm>
          <a:prstGeom prst="rect">
            <a:avLst/>
          </a:prstGeom>
          <a:noFill/>
          <a:ln/>
        </p:spPr>
        <p:txBody>
          <a:bodyPr wrap="square" lIns="0" tIns="0" rIns="0" bIns="0" rtlCol="0" anchor="ctr">
            <a:normAutofit/>
          </a:bodyPr>
          <a:lstStyle/>
          <a:p>
            <a:pPr algn="l" indent="0" marL="0">
              <a:lnSpc>
                <a:spcPct val="100000"/>
              </a:lnSpc>
              <a:buNone/>
            </a:pPr>
            <a:r>
              <a:rPr lang="en-US" sz="4800" b="1" dirty="0">
                <a:solidFill>
                  <a:srgbClr val="BCA7FF"/>
                </a:solidFill>
                <a:latin typeface="Helvetica Neue" pitchFamily="34" charset="0"/>
                <a:ea typeface="Helvetica Neue" pitchFamily="34" charset="-122"/>
                <a:cs typeface="Helvetica Neue" pitchFamily="34" charset="-120"/>
              </a:rPr>
              <a:t>ALMOST.</a:t>
            </a:r>
            <a:endParaRPr lang="en-US" sz="4800" dirty="0"/>
          </a:p>
        </p:txBody>
      </p:sp>
      <p:sp>
        <p:nvSpPr>
          <p:cNvPr id="6" name="Shape 4"/>
          <p:cNvSpPr/>
          <p:nvPr/>
        </p:nvSpPr>
        <p:spPr>
          <a:xfrm>
            <a:off x="5632704" y="713232"/>
            <a:ext cx="0" cy="5413248"/>
          </a:xfrm>
          <a:prstGeom prst="line">
            <a:avLst/>
          </a:prstGeom>
          <a:noFill/>
          <a:ln w="12700">
            <a:solidFill>
              <a:srgbClr val="2A2B38"/>
            </a:solidFill>
            <a:prstDash val="solid"/>
          </a:ln>
        </p:spPr>
      </p:sp>
      <p:sp>
        <p:nvSpPr>
          <p:cNvPr id="7" name="Text 5"/>
          <p:cNvSpPr txBox="1"/>
          <p:nvPr/>
        </p:nvSpPr>
        <p:spPr>
          <a:xfrm>
            <a:off x="6053328" y="950976"/>
            <a:ext cx="219456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64C9A4"/>
                </a:solidFill>
                <a:latin typeface="Helvetica Neue" pitchFamily="34" charset="0"/>
                <a:ea typeface="Helvetica Neue" pitchFamily="34" charset="-122"/>
                <a:cs typeface="Helvetica Neue" pitchFamily="34" charset="-120"/>
              </a:rPr>
              <a:t>MAY FEEL FREE</a:t>
            </a:r>
            <a:endParaRPr lang="en-US" sz="1050" dirty="0"/>
          </a:p>
        </p:txBody>
      </p:sp>
      <p:sp>
        <p:nvSpPr>
          <p:cNvPr id="8" name="Text 6"/>
          <p:cNvSpPr txBox="1"/>
          <p:nvPr/>
        </p:nvSpPr>
        <p:spPr>
          <a:xfrm>
            <a:off x="6053328" y="1417320"/>
            <a:ext cx="5230368" cy="142646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ROUTINE CALLS</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ON OWNED HARDWARE</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WITHOUT A TOKEN METER</a:t>
            </a:r>
            <a:endParaRPr lang="en-US" sz="2300" dirty="0"/>
          </a:p>
        </p:txBody>
      </p:sp>
      <p:sp>
        <p:nvSpPr>
          <p:cNvPr id="9" name="Text 7"/>
          <p:cNvSpPr txBox="1"/>
          <p:nvPr/>
        </p:nvSpPr>
        <p:spPr>
          <a:xfrm>
            <a:off x="6053328" y="3337560"/>
            <a:ext cx="2606040" cy="219456"/>
          </a:xfrm>
          <a:prstGeom prst="rect">
            <a:avLst/>
          </a:prstGeom>
          <a:noFill/>
          <a:ln/>
        </p:spPr>
        <p:txBody>
          <a:bodyPr wrap="square" lIns="0" tIns="0" rIns="0" bIns="0" rtlCol="0" anchor="ctr">
            <a:normAutofit/>
          </a:bodyPr>
          <a:lstStyle/>
          <a:p>
            <a:pPr algn="l" indent="0" marL="0">
              <a:lnSpc>
                <a:spcPct val="100000"/>
              </a:lnSpc>
              <a:buNone/>
            </a:pPr>
            <a:r>
              <a:rPr lang="en-US" sz="1050" b="1" spc="110" kern="0" dirty="0">
                <a:solidFill>
                  <a:srgbClr val="D88752"/>
                </a:solidFill>
                <a:latin typeface="Helvetica Neue" pitchFamily="34" charset="0"/>
                <a:ea typeface="Helvetica Neue" pitchFamily="34" charset="-122"/>
                <a:cs typeface="Helvetica Neue" pitchFamily="34" charset="-120"/>
              </a:rPr>
              <a:t>WILL NEVER BE FREE</a:t>
            </a:r>
            <a:endParaRPr lang="en-US" sz="1050" dirty="0"/>
          </a:p>
        </p:txBody>
      </p:sp>
      <p:sp>
        <p:nvSpPr>
          <p:cNvPr id="10" name="Text 8"/>
          <p:cNvSpPr txBox="1"/>
          <p:nvPr/>
        </p:nvSpPr>
        <p:spPr>
          <a:xfrm>
            <a:off x="6053328" y="3785616"/>
            <a:ext cx="5230368" cy="1755648"/>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BUILDING</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POWERING</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MAINTAINING</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SECURING</a:t>
            </a:r>
            <a:endParaRPr lang="en-US" sz="2300" dirty="0"/>
          </a:p>
          <a:p>
            <a:pPr algn="l" indent="0" marL="0">
              <a:lnSpc>
                <a:spcPct val="100000"/>
              </a:lnSpc>
              <a:buNone/>
            </a:pPr>
            <a:r>
              <a:rPr lang="en-US" sz="2300" b="1" dirty="0">
                <a:solidFill>
                  <a:srgbClr val="FFFFFF"/>
                </a:solidFill>
                <a:latin typeface="Helvetica Neue" pitchFamily="34" charset="0"/>
                <a:ea typeface="Helvetica Neue" pitchFamily="34" charset="-122"/>
                <a:cs typeface="Helvetica Neue" pitchFamily="34" charset="-120"/>
              </a:rPr>
              <a:t>GOVERNING</a:t>
            </a:r>
            <a:endParaRPr lang="en-US" sz="2300" dirty="0"/>
          </a:p>
        </p:txBody>
      </p:sp>
      <p:sp>
        <p:nvSpPr>
          <p:cNvPr id="11" name="Shape 9"/>
          <p:cNvSpPr/>
          <p:nvPr/>
        </p:nvSpPr>
        <p:spPr>
          <a:xfrm>
            <a:off x="438912" y="5925312"/>
            <a:ext cx="11301984" cy="512064"/>
          </a:xfrm>
          <a:prstGeom prst="roundRect">
            <a:avLst>
              <a:gd name="adj" fmla="val 8929"/>
            </a:avLst>
          </a:prstGeom>
          <a:solidFill>
            <a:srgbClr val="14151F"/>
          </a:solidFill>
          <a:ln w="12700">
            <a:solidFill>
              <a:srgbClr val="14151F"/>
            </a:solidFill>
            <a:prstDash val="solid"/>
          </a:ln>
        </p:spPr>
      </p:sp>
      <p:sp>
        <p:nvSpPr>
          <p:cNvPr id="12" name="Text 10"/>
          <p:cNvSpPr txBox="1"/>
          <p:nvPr/>
        </p:nvSpPr>
        <p:spPr>
          <a:xfrm>
            <a:off x="713232" y="6016752"/>
            <a:ext cx="10753344" cy="301752"/>
          </a:xfrm>
          <a:prstGeom prst="rect">
            <a:avLst/>
          </a:prstGeom>
          <a:noFill/>
          <a:ln/>
        </p:spPr>
        <p:txBody>
          <a:bodyPr wrap="square" lIns="0" tIns="0" rIns="0" bIns="0" rtlCol="0" anchor="ctr">
            <a:normAutofit/>
          </a:bodyPr>
          <a:lstStyle/>
          <a:p>
            <a:pPr algn="ctr" indent="0" marL="0">
              <a:lnSpc>
                <a:spcPct val="100000"/>
              </a:lnSpc>
              <a:buNone/>
            </a:pPr>
            <a:r>
              <a:rPr lang="en-US" sz="1750" b="1" dirty="0">
                <a:solidFill>
                  <a:srgbClr val="D88752"/>
                </a:solidFill>
                <a:latin typeface="Helvetica Neue" pitchFamily="34" charset="0"/>
                <a:ea typeface="Helvetica Neue" pitchFamily="34" charset="-122"/>
                <a:cs typeface="Helvetica Neue" pitchFamily="34" charset="-120"/>
              </a:rPr>
              <a:t>AI BECOMES A UTILITY—NOT ZERO-COST MAGIC.</a:t>
            </a:r>
            <a:endParaRPr lang="en-US" sz="1750" dirty="0"/>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nodeType="click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20"/>
                                  <p:tgtEl>
                                    <p:spTgt spid="2"/>
                                  </p:tgtEl>
                                </p:cBhvr>
                              </p:animEffect>
                            </p:childTnLst>
                          </p:cTn>
                        </p:par>
                      </p:childTnLst>
                    </p:cTn>
                  </p:par>
                  <p:par>
                    <p:cTn id="7" fill="hold">
                      <p:stCondLst>
                        <p:cond delay="26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20"/>
                                  <p:tgtEl>
                                    <p:spTgt spid="3"/>
                                  </p:tgtEl>
                                </p:cBhvr>
                              </p:animEffect>
                            </p:childTnLst>
                          </p:cTn>
                        </p:par>
                      </p:childTnLst>
                    </p:cTn>
                  </p:par>
                  <p:par>
                    <p:cTn id="11" fill="hold">
                      <p:stCondLst>
                        <p:cond delay="52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220"/>
                                  <p:tgtEl>
                                    <p:spTgt spid="4"/>
                                  </p:tgtEl>
                                </p:cBhvr>
                              </p:animEffect>
                            </p:childTnLst>
                          </p:cTn>
                        </p:par>
                      </p:childTnLst>
                    </p:cTn>
                  </p:par>
                  <p:par>
                    <p:cTn id="15" fill="hold">
                      <p:stCondLst>
                        <p:cond delay="78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220"/>
                                  <p:tgtEl>
                                    <p:spTgt spid="5"/>
                                  </p:tgtEl>
                                </p:cBhvr>
                              </p:animEffect>
                            </p:childTnLst>
                          </p:cTn>
                        </p:par>
                      </p:childTnLst>
                    </p:cTn>
                  </p:par>
                  <p:par>
                    <p:cTn id="19" fill="hold">
                      <p:stCondLst>
                        <p:cond delay="104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20"/>
                                  <p:tgtEl>
                                    <p:spTgt spid="6"/>
                                  </p:tgtEl>
                                </p:cBhvr>
                              </p:animEffect>
                            </p:childTnLst>
                          </p:cTn>
                        </p:par>
                      </p:childTnLst>
                    </p:cTn>
                  </p:par>
                  <p:par>
                    <p:cTn id="23" fill="hold">
                      <p:stCondLst>
                        <p:cond delay="13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20"/>
                                  <p:tgtEl>
                                    <p:spTgt spid="7"/>
                                  </p:tgtEl>
                                </p:cBhvr>
                              </p:animEffect>
                            </p:childTnLst>
                          </p:cTn>
                        </p:par>
                      </p:childTnLst>
                    </p:cTn>
                  </p:par>
                  <p:par>
                    <p:cTn id="27" fill="hold">
                      <p:stCondLst>
                        <p:cond delay="indefinite"/>
                      </p:stCondLst>
                      <p:childTnLst>
                        <p:par>
                          <p:cTn id="28" presetID="10"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20"/>
                                  <p:tgtEl>
                                    <p:spTgt spid="8"/>
                                  </p:tgtEl>
                                </p:cBhvr>
                              </p:animEffect>
                            </p:childTnLst>
                          </p:cTn>
                        </p:par>
                      </p:childTnLst>
                    </p:cTn>
                  </p:par>
                  <p:par>
                    <p:cTn id="31" fill="hold">
                      <p:stCondLst>
                        <p:cond delay="26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20"/>
                                  <p:tgtEl>
                                    <p:spTgt spid="9"/>
                                  </p:tgtEl>
                                </p:cBhvr>
                              </p:animEffect>
                            </p:childTnLst>
                          </p:cTn>
                        </p:par>
                      </p:childTnLst>
                    </p:cTn>
                  </p:par>
                  <p:par>
                    <p:cTn id="35" fill="hold">
                      <p:stCondLst>
                        <p:cond delay="52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20"/>
                                  <p:tgtEl>
                                    <p:spTgt spid="10"/>
                                  </p:tgtEl>
                                </p:cBhvr>
                              </p:animEffect>
                            </p:childTnLst>
                          </p:cTn>
                        </p:par>
                      </p:childTnLst>
                    </p:cTn>
                  </p:par>
                  <p:par>
                    <p:cTn id="39" fill="hold">
                      <p:stCondLst>
                        <p:cond delay="7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220"/>
                                  <p:tgtEl>
                                    <p:spTgt spid="11"/>
                                  </p:tgtEl>
                                </p:cBhvr>
                              </p:animEffect>
                            </p:childTnLst>
                          </p:cTn>
                        </p:par>
                      </p:childTnLst>
                    </p:cTn>
                  </p:par>
                  <p:par>
                    <p:cTn id="43" fill="hold">
                      <p:stCondLst>
                        <p:cond delay="104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2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AI Be Completely Free? (Soon)</dc:title>
  <dc:subject>Local LLMs, economics, trade-offs, and the future of AI access</dc:subject>
  <dc:creator>OpenAI Codex</dc:creator>
  <cp:lastModifiedBy>OpenAI Codex</cp:lastModifiedBy>
  <cp:revision>1</cp:revision>
  <dcterms:created xsi:type="dcterms:W3CDTF">2026-09-07T23:33:19Z</dcterms:created>
  <dcterms:modified xsi:type="dcterms:W3CDTF">2026-09-07T23:33:19Z</dcterms:modified>
</cp:coreProperties>
</file>